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414"/>
                </a:solidFill>
                <a:latin typeface="Calibri"/>
              </a:defRPr>
            </a:pPr>
            <a:r>
              <a:rPr sz="1400" b="0" i="0" u="none" strike="noStrike">
                <a:solidFill>
                  <a:srgbClr val="141414"/>
                </a:solidFill>
                <a:latin typeface="Calibri"/>
              </a:rPr>
              <a:t>Same basket, four numbers</a:t>
            </a:r>
          </a:p>
        </c:rich>
      </c:tx>
      <c:layout/>
      <c:overlay val="0"/>
    </c:title>
    <c:autoTitleDeleted val="0"/>
    <c:plotArea>
      <c:layout/>
      <c:barChart>
        <c:barDir val="col"/>
        <c:grouping val="clustered"/>
        <c:varyColors val="0"/>
        <c:ser>
          <c:idx val="0"/>
          <c:order val="0"/>
          <c:tx>
            <c:strRef>
              <c:f>Sheet1!$B$1</c:f>
              <c:strCache>
                <c:ptCount val="1"/>
                <c:pt idx="0">
                  <c:v>HKD</c:v>
                </c:pt>
              </c:strCache>
            </c:strRef>
          </c:tx>
          <c:spPr>
            <a:solidFill>
              <a:srgbClr val="C8F14F"/>
            </a:solidFill>
            <a:effectLst/>
          </c:spPr>
          <c:invertIfNegative val="0"/>
          <c:dLbls>
            <c:numFmt formatCode="#,##0" sourceLinked="0"/>
            <c:txPr>
              <a:bodyPr/>
              <a:lstStyle/>
              <a:p>
                <a:pPr>
                  <a:defRPr b="0" i="0" strike="noStrike" sz="1200" u="none">
                    <a:solidFill>
                      <a:srgbClr val="14141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Line</c:v>
                  </c:pt>
                  <c:pt idx="1">
                    <c:v>Merchandise</c:v>
                  </c:pt>
                  <c:pt idx="2">
                    <c:v>Cash booked</c:v>
                  </c:pt>
                  <c:pt idx="3">
                    <c:v>Effective</c:v>
                  </c:pt>
                </c:lvl>
              </c:multiLvlStrCache>
            </c:multiLvlStrRef>
          </c:cat>
          <c:val>
            <c:numRef>
              <c:f>Sheet1!$B$2:$B$5</c:f>
              <c:numCache>
                <c:formatCode>General</c:formatCode>
                <c:ptCount val="4"/>
                <c:pt idx="0">
                  <c:v>400</c:v>
                </c:pt>
                <c:pt idx="1">
                  <c:v>320</c:v>
                </c:pt>
                <c:pt idx="2">
                  <c:v>350</c:v>
                </c:pt>
                <c:pt idx="3">
                  <c:v>300</c:v>
                </c:pt>
              </c:numCache>
            </c:numRef>
          </c:val>
        </c:ser>
        <c:dLbls>
          <c:numFmt formatCode="#,##0" sourceLinked="0"/>
          <c:txPr>
            <a:bodyPr/>
            <a:lstStyle/>
            <a:p>
              <a:pPr>
                <a:defRPr b="0" i="0" strike="noStrike" sz="1200" u="none">
                  <a:solidFill>
                    <a:srgbClr val="14141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84F"/>
                </a:solidFill>
                <a:latin typeface="Arial"/>
              </a:defRPr>
            </a:pPr>
            <a:endParaRPr lang="en-US"/>
          </a:p>
        </c:txPr>
        <c:crossAx val="2094734552"/>
        <c:crosses val="autoZero"/>
        <c:auto val="1"/>
        <c:lblAlgn val="ctr"/>
        <c:noMultiLvlLbl val="1"/>
      </c:catAx>
      <c:valAx>
        <c:axId val="2094734552"/>
        <c:scaling>
          <c:orientation val="minMax"/>
          <c:max val="640"/>
        </c:scaling>
        <c:delete val="0"/>
        <c:axPos val="l"/>
        <c:majorGridlines>
          <c:spPr>
            <a:ln w="6350" cap="flat">
              <a:solidFill>
                <a:srgbClr val="E4E0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584F"/>
                </a:solidFill>
                <a:latin typeface="Arial"/>
              </a:defRPr>
            </a:pPr>
            <a:endParaRPr lang="en-US"/>
          </a:p>
        </c:txPr>
        <c:crossAx val="2094734554"/>
        <c:crosses val="autoZero"/>
        <c:crossBetween val="between"/>
      </c:valAx>
      <c:spPr>
        <a:solidFill>
          <a:srgbClr val="FFFCF6"/>
        </a:solidFill>
        <a:ln>
          <a:noFill/>
        </a:ln>
        <a:effectLst/>
      </c:spPr>
    </c:plotArea>
    <c:plotVisOnly val="1"/>
    <c:dispBlanksAs val="span"/>
  </c:chart>
  <c:spPr>
    <a:solidFill>
      <a:srgbClr val="FFFCF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refusal. The full case contract is tasks/agent-roles.md. Slices 0 through 5 are in the working tree and are not committed. There is no live card charge, no DID registry, and no hosted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Sellers such as party-shop, hk-party, and value-party are rows on a website, not extra agents. One merchant per order uses merchant_id. Rank picks one seller. Only that website’s adapter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Defaults when the form is unset: manual, one merchant per order, rewards on, no expiry, tender card, per item 250, per order 400, rolling 7 days 1000, search 15 seconds. FX is HKD 1, CNY 1.08, USD 7.8, stamped 2026-10-03.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sets refunded_at and reverses cashback. The 168-hour sum still counts the original 350. If only 340 remains, the next order stops. No role recomputes this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Clocks are separate. Search is min(15s, the mandate max). Clarify is 120 seconds. The quote has its own 120-second clock. Mandate expiry is the form’s clock. Tests inject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Silence for 120 seconds terminates and releases an unspent coupon. Decline of list, allocation, weights, or mandate terminates. Decline of a tie, a price change, or a repeat returns to the offer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stop: search timeout before charge, an offer sku that is not in this attempt, a dead catalogue row at confirm, and a book() guard that sees a revoked mandate. Internal failure with no charge ends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expects poisoned_listing and agent_surcharge to finish paid, and omitted_shipping, failed_negotiation, and refund_no_restore to finish terminated. Overspend means cash broke a mandate, a reward reduced cash, or shipping was omitted. The count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 is in the tests, not on the party-items click-through sku. The website does not see the user’s budget. Instruction text in a counter is dropped. Cash 410 against a 400 per-order limit is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 tests. Overspend count 0. Auto mode calls the same confirm. A unique winner shows the auditor line, then the payer line, then the booking. A tie asks. points books nothing. One flipped character in auto mode books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Printed line: Replay scenarios: 13; overspend count: 0. This run is 49 tests. Coverage was not remeasured. The floor in CONSTRAINTS.md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playbook is tasks/build-steps.md. Do not start Slice 3 in the same change as Slice 2. Do not add a second process or a hosted model. The harness line after every slice is overspend count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Teammates who are not in these files keep the demo script, the case scorecard, and the deck honest. Two people do not edit attempt.ts in the same slice. The proof command is npm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click-through is still manual confirm. Auto mode is in the tests: a unique winner books after the signature check, a tie asks, and a flipped signature books nothing. The counter is not on the demo sku. The closer is overspend count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charts after this slide are the code in lib/attempt.ts, lib/negotiate.ts, lib/pay.ts, and lib/ledger.ts. One attempt has one trace id. The user is the only person who confirms a mandate, breaks a tie, accepts a repeat sku, or accepts a new cash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runAttempt through rank and the first negotiate. Money is priceLine. The merchant does not see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advanceAttempt confirm calls pay(). The HMAC key scout-demo-hmac-v1 stays on the server. There is no card number and no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tie still asks the user. Auto does not skip the cash gate, and a reward never reduces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vault id and address id. Wallet is a tender, not a second payer.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Poisoned listing and agent surcharge are paid replays because a clean sku remains. Omitted shipping on every row terminates.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410 against per-order 400 books nothing. The 24 demo products have no counter, so the party-items click-through does not show one. Tests pass the row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goals then become two attempts. They share one mandate and one 168-hour total. A goal cannot spend the other goal’s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cash on price-demo is 340. Rollback of the price ask returns status to offers. That is the price_rollback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never books. The paid step is still the confirm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price_rollback ends at offers. Decline of a blank quantity or a share ask ends the attempt.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Replays: user_injection, expired_mandate, insufficient_budget, clarify_timeout.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counter that fails the gate is skipped. A normal accept that fails the gate stops immediately and does not try the next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swapped merchant or cash plus one fails even when that slip’s own signature is valid. Manual and auto use this same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timeout_before_pay is a terminate replay. Card declined with no later tender stops with “Card was declined before charge and no later tender booked.”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timeout_after_pay is a paid replay. Cash is booked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account page says the receipt is refunded and that the 168-hour figure did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4"/>
        </a:solidFill>
      </p:bgPr>
    </p:bg>
    <p:spTree>
      <p:nvGrpSpPr>
        <p:cNvPr id="1" name=""/>
        <p:cNvGrpSpPr/>
        <p:nvPr/>
      </p:nvGrpSpPr>
      <p:grpSpPr>
        <a:xfrm>
          <a:off x="0" y="0"/>
          <a:ext cx="0" cy="0"/>
          <a:chOff x="0" y="0"/>
          <a:chExt cx="0" cy="0"/>
        </a:xfrm>
      </p:grpSpPr>
      <p:sp>
        <p:nvSpPr>
          <p:cNvPr id="2" name="Shape 0"/>
          <p:cNvSpPr/>
          <p:nvPr/>
        </p:nvSpPr>
        <p:spPr>
          <a:xfrm>
            <a:off x="502920" y="384048"/>
            <a:ext cx="1554480" cy="310896"/>
          </a:xfrm>
          <a:prstGeom prst="roundRect">
            <a:avLst>
              <a:gd name="adj" fmla="val 23529"/>
            </a:avLst>
          </a:prstGeom>
          <a:solidFill>
            <a:srgbClr val="C8F14F"/>
          </a:solidFill>
          <a:ln/>
        </p:spPr>
      </p:sp>
      <p:sp>
        <p:nvSpPr>
          <p:cNvPr id="3" name="Text 1"/>
          <p:cNvSpPr/>
          <p:nvPr/>
        </p:nvSpPr>
        <p:spPr>
          <a:xfrm>
            <a:off x="502920" y="384048"/>
            <a:ext cx="1554480" cy="310896"/>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HACKATHON</a:t>
            </a:r>
            <a:endParaRPr lang="en-US" sz="1200" dirty="0"/>
          </a:p>
        </p:txBody>
      </p:sp>
      <p:sp>
        <p:nvSpPr>
          <p:cNvPr id="4" name="Text 2"/>
          <p:cNvSpPr/>
          <p:nvPr/>
        </p:nvSpPr>
        <p:spPr>
          <a:xfrm>
            <a:off x="502920" y="1234440"/>
            <a:ext cx="10972800" cy="868680"/>
          </a:xfrm>
          <a:prstGeom prst="rect">
            <a:avLst/>
          </a:prstGeom>
          <a:noFill/>
          <a:ln/>
        </p:spPr>
        <p:txBody>
          <a:bodyPr wrap="square" lIns="0" tIns="0" rIns="0" bIns="0" rtlCol="0" anchor="ctr"/>
          <a:lstStyle/>
          <a:p>
            <a:pPr indent="0" marL="0">
              <a:buNone/>
            </a:pPr>
            <a:r>
              <a:rPr lang="en-US" sz="6400" dirty="0">
                <a:solidFill>
                  <a:srgbClr val="FFFFFF"/>
                </a:solidFill>
                <a:latin typeface="Cambria" pitchFamily="34" charset="0"/>
                <a:ea typeface="Cambria" pitchFamily="34" charset="-122"/>
                <a:cs typeface="Cambria" pitchFamily="34" charset="-120"/>
              </a:rPr>
              <a:t>Scout</a:t>
            </a:r>
            <a:endParaRPr lang="en-US" sz="6400" dirty="0"/>
          </a:p>
        </p:txBody>
      </p:sp>
      <p:sp>
        <p:nvSpPr>
          <p:cNvPr id="5" name="Text 3"/>
          <p:cNvSpPr/>
          <p:nvPr/>
        </p:nvSpPr>
        <p:spPr>
          <a:xfrm>
            <a:off x="502920" y="2240280"/>
            <a:ext cx="10515600" cy="411480"/>
          </a:xfrm>
          <a:prstGeom prst="rect">
            <a:avLst/>
          </a:prstGeom>
          <a:noFill/>
          <a:ln/>
        </p:spPr>
        <p:txBody>
          <a:bodyPr wrap="square" lIns="0" tIns="0" rIns="0" bIns="0" rtlCol="0" anchor="ctr"/>
          <a:lstStyle/>
          <a:p>
            <a:pPr indent="0" marL="0">
              <a:buNone/>
            </a:pPr>
            <a:r>
              <a:rPr lang="en-US" sz="2200" dirty="0">
                <a:solidFill>
                  <a:srgbClr val="C8F14F"/>
                </a:solidFill>
                <a:latin typeface="Calibri" pitchFamily="34" charset="0"/>
                <a:ea typeface="Calibri" pitchFamily="34" charset="-122"/>
                <a:cs typeface="Calibri" pitchFamily="34" charset="-120"/>
              </a:rPr>
              <a:t>Five roles. One mandate. Every case has an outcome.</a:t>
            </a:r>
            <a:endParaRPr lang="en-US" sz="2200" dirty="0"/>
          </a:p>
        </p:txBody>
      </p:sp>
      <p:sp>
        <p:nvSpPr>
          <p:cNvPr id="6" name="Text 4"/>
          <p:cNvSpPr/>
          <p:nvPr/>
        </p:nvSpPr>
        <p:spPr>
          <a:xfrm>
            <a:off x="502920" y="2880360"/>
            <a:ext cx="9601200" cy="640080"/>
          </a:xfrm>
          <a:prstGeom prst="rect">
            <a:avLst/>
          </a:prstGeom>
          <a:noFill/>
          <a:ln/>
        </p:spPr>
        <p:txBody>
          <a:bodyPr wrap="square" lIns="0" tIns="0" rIns="0" bIns="0" rtlCol="0" anchor="ctr"/>
          <a:lstStyle/>
          <a:p>
            <a:pPr indent="0" marL="0">
              <a:buNone/>
            </a:pPr>
            <a:r>
              <a:rPr lang="en-US" sz="1600" dirty="0">
                <a:solidFill>
                  <a:srgbClr val="D9D6CC"/>
                </a:solidFill>
                <a:latin typeface="Calibri" pitchFamily="34" charset="0"/>
                <a:ea typeface="Calibri" pitchFamily="34" charset="-122"/>
                <a:cs typeface="Calibri" pitchFamily="34" charset="-120"/>
              </a:rPr>
              <a:t>The shopper is the user’s buyer. Each merchant is one website.</a:t>
            </a:r>
            <a:endParaRPr lang="en-US" sz="1600" dirty="0"/>
          </a:p>
          <a:p>
            <a:pPr indent="0" marL="0">
              <a:buNone/>
            </a:pPr>
            <a:r>
              <a:rPr lang="en-US" sz="1600" dirty="0">
                <a:solidFill>
                  <a:srgbClr val="D9D6CC"/>
                </a:solidFill>
                <a:latin typeface="Calibri" pitchFamily="34" charset="0"/>
                <a:ea typeface="Calibri" pitchFamily="34" charset="-122"/>
                <a:cs typeface="Calibri" pitchFamily="34" charset="-120"/>
              </a:rPr>
              <a:t>The payer is the only role that books cash. A second shopper, or a second payer, is forbidden.</a:t>
            </a:r>
            <a:endParaRPr lang="en-US" sz="1600" dirty="0"/>
          </a:p>
        </p:txBody>
      </p:sp>
      <p:sp>
        <p:nvSpPr>
          <p:cNvPr id="7" name="Text 5"/>
          <p:cNvSpPr/>
          <p:nvPr/>
        </p:nvSpPr>
        <p:spPr>
          <a:xfrm>
            <a:off x="502920" y="4709160"/>
            <a:ext cx="2560320" cy="594360"/>
          </a:xfrm>
          <a:prstGeom prst="rect">
            <a:avLst/>
          </a:prstGeom>
          <a:noFill/>
          <a:ln/>
        </p:spPr>
        <p:txBody>
          <a:bodyPr wrap="square" lIns="0" tIns="0" rIns="0" bIns="0" rtlCol="0" anchor="ctr"/>
          <a:lstStyle/>
          <a:p>
            <a:pPr indent="0" marL="0">
              <a:buNone/>
            </a:pPr>
            <a:r>
              <a:rPr lang="en-US" sz="4000" dirty="0">
                <a:solidFill>
                  <a:srgbClr val="C8F14F"/>
                </a:solidFill>
                <a:latin typeface="Cambria" pitchFamily="34" charset="0"/>
                <a:ea typeface="Cambria" pitchFamily="34" charset="-122"/>
                <a:cs typeface="Cambria" pitchFamily="34" charset="-120"/>
              </a:rPr>
              <a:t>49</a:t>
            </a:r>
            <a:endParaRPr lang="en-US" sz="4000" dirty="0"/>
          </a:p>
        </p:txBody>
      </p:sp>
      <p:sp>
        <p:nvSpPr>
          <p:cNvPr id="8" name="Text 6"/>
          <p:cNvSpPr/>
          <p:nvPr/>
        </p:nvSpPr>
        <p:spPr>
          <a:xfrm>
            <a:off x="502920" y="5349240"/>
            <a:ext cx="2560320" cy="274320"/>
          </a:xfrm>
          <a:prstGeom prst="rect">
            <a:avLst/>
          </a:prstGeom>
          <a:noFill/>
          <a:ln/>
        </p:spPr>
        <p:txBody>
          <a:bodyPr wrap="square" lIns="0" tIns="0" rIns="0" bIns="0" rtlCol="0" anchor="ctr"/>
          <a:lstStyle/>
          <a:p>
            <a:pPr indent="0" marL="0">
              <a:buNone/>
            </a:pPr>
            <a:r>
              <a:rPr lang="en-US" sz="1400" dirty="0">
                <a:solidFill>
                  <a:srgbClr val="D9D6CC"/>
                </a:solidFill>
                <a:latin typeface="Calibri" pitchFamily="34" charset="0"/>
                <a:ea typeface="Calibri" pitchFamily="34" charset="-122"/>
                <a:cs typeface="Calibri" pitchFamily="34" charset="-120"/>
              </a:rPr>
              <a:t>tests, this run</a:t>
            </a:r>
            <a:endParaRPr lang="en-US" sz="1400" dirty="0"/>
          </a:p>
        </p:txBody>
      </p:sp>
      <p:sp>
        <p:nvSpPr>
          <p:cNvPr id="9" name="Text 7"/>
          <p:cNvSpPr/>
          <p:nvPr/>
        </p:nvSpPr>
        <p:spPr>
          <a:xfrm>
            <a:off x="3520440" y="4709160"/>
            <a:ext cx="2560320" cy="594360"/>
          </a:xfrm>
          <a:prstGeom prst="rect">
            <a:avLst/>
          </a:prstGeom>
          <a:noFill/>
          <a:ln/>
        </p:spPr>
        <p:txBody>
          <a:bodyPr wrap="square" lIns="0" tIns="0" rIns="0" bIns="0" rtlCol="0" anchor="ctr"/>
          <a:lstStyle/>
          <a:p>
            <a:pPr indent="0" marL="0">
              <a:buNone/>
            </a:pPr>
            <a:r>
              <a:rPr lang="en-US" sz="4000" dirty="0">
                <a:solidFill>
                  <a:srgbClr val="C8F14F"/>
                </a:solidFill>
                <a:latin typeface="Cambria" pitchFamily="34" charset="0"/>
                <a:ea typeface="Cambria" pitchFamily="34" charset="-122"/>
                <a:cs typeface="Cambria" pitchFamily="34" charset="-120"/>
              </a:rPr>
              <a:t>13</a:t>
            </a:r>
            <a:endParaRPr lang="en-US" sz="4000" dirty="0"/>
          </a:p>
        </p:txBody>
      </p:sp>
      <p:sp>
        <p:nvSpPr>
          <p:cNvPr id="10" name="Text 8"/>
          <p:cNvSpPr/>
          <p:nvPr/>
        </p:nvSpPr>
        <p:spPr>
          <a:xfrm>
            <a:off x="3520440" y="5349240"/>
            <a:ext cx="2560320" cy="274320"/>
          </a:xfrm>
          <a:prstGeom prst="rect">
            <a:avLst/>
          </a:prstGeom>
          <a:noFill/>
          <a:ln/>
        </p:spPr>
        <p:txBody>
          <a:bodyPr wrap="square" lIns="0" tIns="0" rIns="0" bIns="0" rtlCol="0" anchor="ctr"/>
          <a:lstStyle/>
          <a:p>
            <a:pPr indent="0" marL="0">
              <a:buNone/>
            </a:pPr>
            <a:r>
              <a:rPr lang="en-US" sz="1400" dirty="0">
                <a:solidFill>
                  <a:srgbClr val="D9D6CC"/>
                </a:solidFill>
                <a:latin typeface="Calibri" pitchFamily="34" charset="0"/>
                <a:ea typeface="Calibri" pitchFamily="34" charset="-122"/>
                <a:cs typeface="Calibri" pitchFamily="34" charset="-120"/>
              </a:rPr>
              <a:t>replay scenarios</a:t>
            </a:r>
            <a:endParaRPr lang="en-US" sz="1400" dirty="0"/>
          </a:p>
        </p:txBody>
      </p:sp>
      <p:sp>
        <p:nvSpPr>
          <p:cNvPr id="11" name="Text 9"/>
          <p:cNvSpPr/>
          <p:nvPr/>
        </p:nvSpPr>
        <p:spPr>
          <a:xfrm>
            <a:off x="6537960" y="4709160"/>
            <a:ext cx="2560320" cy="594360"/>
          </a:xfrm>
          <a:prstGeom prst="rect">
            <a:avLst/>
          </a:prstGeom>
          <a:noFill/>
          <a:ln/>
        </p:spPr>
        <p:txBody>
          <a:bodyPr wrap="square" lIns="0" tIns="0" rIns="0" bIns="0" rtlCol="0" anchor="ctr"/>
          <a:lstStyle/>
          <a:p>
            <a:pPr indent="0" marL="0">
              <a:buNone/>
            </a:pPr>
            <a:r>
              <a:rPr lang="en-US" sz="4000" dirty="0">
                <a:solidFill>
                  <a:srgbClr val="C8F14F"/>
                </a:solidFill>
                <a:latin typeface="Cambria" pitchFamily="34" charset="0"/>
                <a:ea typeface="Cambria" pitchFamily="34" charset="-122"/>
                <a:cs typeface="Cambria" pitchFamily="34" charset="-120"/>
              </a:rPr>
              <a:t>0</a:t>
            </a:r>
            <a:endParaRPr lang="en-US" sz="4000" dirty="0"/>
          </a:p>
        </p:txBody>
      </p:sp>
      <p:sp>
        <p:nvSpPr>
          <p:cNvPr id="12" name="Text 10"/>
          <p:cNvSpPr/>
          <p:nvPr/>
        </p:nvSpPr>
        <p:spPr>
          <a:xfrm>
            <a:off x="6537960" y="5349240"/>
            <a:ext cx="2560320" cy="274320"/>
          </a:xfrm>
          <a:prstGeom prst="rect">
            <a:avLst/>
          </a:prstGeom>
          <a:noFill/>
          <a:ln/>
        </p:spPr>
        <p:txBody>
          <a:bodyPr wrap="square" lIns="0" tIns="0" rIns="0" bIns="0" rtlCol="0" anchor="ctr"/>
          <a:lstStyle/>
          <a:p>
            <a:pPr indent="0" marL="0">
              <a:buNone/>
            </a:pPr>
            <a:r>
              <a:rPr lang="en-US" sz="1400" dirty="0">
                <a:solidFill>
                  <a:srgbClr val="D9D6CC"/>
                </a:solidFill>
                <a:latin typeface="Calibri" pitchFamily="34" charset="0"/>
                <a:ea typeface="Calibri" pitchFamily="34" charset="-122"/>
                <a:cs typeface="Calibri" pitchFamily="34" charset="-120"/>
              </a:rPr>
              <a:t>overspend count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ROLES</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Who speaks, and for whom</a:t>
            </a:r>
            <a:endParaRPr lang="en-US" sz="2600" dirty="0"/>
          </a:p>
        </p:txBody>
      </p:sp>
      <p:sp>
        <p:nvSpPr>
          <p:cNvPr id="5" name="Shape 3"/>
          <p:cNvSpPr/>
          <p:nvPr/>
        </p:nvSpPr>
        <p:spPr>
          <a:xfrm>
            <a:off x="457200" y="1115568"/>
            <a:ext cx="1965960" cy="914400"/>
          </a:xfrm>
          <a:prstGeom prst="roundRect">
            <a:avLst>
              <a:gd name="adj" fmla="val 10000"/>
            </a:avLst>
          </a:prstGeom>
          <a:solidFill>
            <a:srgbClr val="C8F14F"/>
          </a:solidFill>
          <a:ln/>
        </p:spPr>
      </p:sp>
      <p:sp>
        <p:nvSpPr>
          <p:cNvPr id="6" name="Text 4"/>
          <p:cNvSpPr/>
          <p:nvPr/>
        </p:nvSpPr>
        <p:spPr>
          <a:xfrm>
            <a:off x="457200" y="1115568"/>
            <a:ext cx="1965960" cy="914400"/>
          </a:xfrm>
          <a:prstGeom prst="rect">
            <a:avLst/>
          </a:prstGeom>
          <a:noFill/>
          <a:ln/>
        </p:spPr>
        <p:txBody>
          <a:bodyPr wrap="square" lIns="0" tIns="0" rIns="0" bIns="0" rtlCol="0" anchor="ctr"/>
          <a:lstStyle/>
          <a:p>
            <a:pPr algn="ctr" indent="0" marL="0">
              <a:buNone/>
            </a:pPr>
            <a:r>
              <a:rPr lang="en-US" sz="1600" b="1" dirty="0">
                <a:solidFill>
                  <a:srgbClr val="141414"/>
                </a:solidFill>
                <a:latin typeface="Calibri" pitchFamily="34" charset="0"/>
                <a:ea typeface="Calibri" pitchFamily="34" charset="-122"/>
                <a:cs typeface="Calibri" pitchFamily="34" charset="-120"/>
              </a:rPr>
              <a:t>shopper</a:t>
            </a:r>
            <a:endParaRPr lang="en-US" sz="1600" dirty="0"/>
          </a:p>
        </p:txBody>
      </p:sp>
      <p:sp>
        <p:nvSpPr>
          <p:cNvPr id="7" name="Shape 5"/>
          <p:cNvSpPr/>
          <p:nvPr/>
        </p:nvSpPr>
        <p:spPr>
          <a:xfrm>
            <a:off x="2560320" y="1115568"/>
            <a:ext cx="9144000" cy="914400"/>
          </a:xfrm>
          <a:prstGeom prst="roundRect">
            <a:avLst>
              <a:gd name="adj" fmla="val 10000"/>
            </a:avLst>
          </a:prstGeom>
          <a:solidFill>
            <a:srgbClr val="FFFCF6"/>
          </a:solidFill>
          <a:ln/>
        </p:spPr>
      </p:sp>
      <p:sp>
        <p:nvSpPr>
          <p:cNvPr id="8" name="Text 6"/>
          <p:cNvSpPr/>
          <p:nvPr/>
        </p:nvSpPr>
        <p:spPr>
          <a:xfrm>
            <a:off x="2788920" y="1207008"/>
            <a:ext cx="86868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The user</a:t>
            </a:r>
            <a:endParaRPr lang="en-US" sz="1600" dirty="0"/>
          </a:p>
        </p:txBody>
      </p:sp>
      <p:sp>
        <p:nvSpPr>
          <p:cNvPr id="9" name="Text 7"/>
          <p:cNvSpPr/>
          <p:nvPr/>
        </p:nvSpPr>
        <p:spPr>
          <a:xfrm>
            <a:off x="2788920" y="1517904"/>
            <a:ext cx="8686800" cy="420624"/>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One buyer. Priority is a weight vector, not a second shopper. It chooses the goal, holds one offer, and asks the user.</a:t>
            </a:r>
            <a:endParaRPr lang="en-US" sz="1300" dirty="0"/>
          </a:p>
        </p:txBody>
      </p:sp>
      <p:sp>
        <p:nvSpPr>
          <p:cNvPr id="10" name="Shape 8"/>
          <p:cNvSpPr/>
          <p:nvPr/>
        </p:nvSpPr>
        <p:spPr>
          <a:xfrm>
            <a:off x="457200" y="2139696"/>
            <a:ext cx="1965960" cy="914400"/>
          </a:xfrm>
          <a:prstGeom prst="roundRect">
            <a:avLst>
              <a:gd name="adj" fmla="val 10000"/>
            </a:avLst>
          </a:prstGeom>
          <a:solidFill>
            <a:srgbClr val="C8F14F"/>
          </a:solidFill>
          <a:ln/>
        </p:spPr>
      </p:sp>
      <p:sp>
        <p:nvSpPr>
          <p:cNvPr id="11" name="Text 9"/>
          <p:cNvSpPr/>
          <p:nvPr/>
        </p:nvSpPr>
        <p:spPr>
          <a:xfrm>
            <a:off x="457200" y="2139696"/>
            <a:ext cx="1965960" cy="914400"/>
          </a:xfrm>
          <a:prstGeom prst="rect">
            <a:avLst/>
          </a:prstGeom>
          <a:noFill/>
          <a:ln/>
        </p:spPr>
        <p:txBody>
          <a:bodyPr wrap="square" lIns="0" tIns="0" rIns="0" bIns="0" rtlCol="0" anchor="ctr"/>
          <a:lstStyle/>
          <a:p>
            <a:pPr algn="ctr" indent="0" marL="0">
              <a:buNone/>
            </a:pPr>
            <a:r>
              <a:rPr lang="en-US" sz="1600" b="1" dirty="0">
                <a:solidFill>
                  <a:srgbClr val="141414"/>
                </a:solidFill>
                <a:latin typeface="Calibri" pitchFamily="34" charset="0"/>
                <a:ea typeface="Calibri" pitchFamily="34" charset="-122"/>
                <a:cs typeface="Calibri" pitchFamily="34" charset="-120"/>
              </a:rPr>
              <a:t>mandate</a:t>
            </a:r>
            <a:endParaRPr lang="en-US" sz="1600" dirty="0"/>
          </a:p>
        </p:txBody>
      </p:sp>
      <p:sp>
        <p:nvSpPr>
          <p:cNvPr id="12" name="Shape 10"/>
          <p:cNvSpPr/>
          <p:nvPr/>
        </p:nvSpPr>
        <p:spPr>
          <a:xfrm>
            <a:off x="2560320" y="2139696"/>
            <a:ext cx="9144000" cy="914400"/>
          </a:xfrm>
          <a:prstGeom prst="roundRect">
            <a:avLst>
              <a:gd name="adj" fmla="val 10000"/>
            </a:avLst>
          </a:prstGeom>
          <a:solidFill>
            <a:srgbClr val="FFFCF6"/>
          </a:solidFill>
          <a:ln/>
        </p:spPr>
      </p:sp>
      <p:sp>
        <p:nvSpPr>
          <p:cNvPr id="13" name="Text 11"/>
          <p:cNvSpPr/>
          <p:nvPr/>
        </p:nvSpPr>
        <p:spPr>
          <a:xfrm>
            <a:off x="2788920" y="2231136"/>
            <a:ext cx="86868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The confirmed form</a:t>
            </a:r>
            <a:endParaRPr lang="en-US" sz="1600" dirty="0"/>
          </a:p>
        </p:txBody>
      </p:sp>
      <p:sp>
        <p:nvSpPr>
          <p:cNvPr id="14" name="Text 12"/>
          <p:cNvSpPr/>
          <p:nvPr/>
        </p:nvSpPr>
        <p:spPr>
          <a:xfrm>
            <a:off x="2788920" y="2542032"/>
            <a:ext cx="8686800" cy="420624"/>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Valid, revoked, and expired stop immediately. A fight with a still-valid form asks. It never searches or pays.</a:t>
            </a:r>
            <a:endParaRPr lang="en-US" sz="1300" dirty="0"/>
          </a:p>
        </p:txBody>
      </p:sp>
      <p:sp>
        <p:nvSpPr>
          <p:cNvPr id="15" name="Shape 13"/>
          <p:cNvSpPr/>
          <p:nvPr/>
        </p:nvSpPr>
        <p:spPr>
          <a:xfrm>
            <a:off x="457200" y="3163824"/>
            <a:ext cx="1965960" cy="914400"/>
          </a:xfrm>
          <a:prstGeom prst="roundRect">
            <a:avLst>
              <a:gd name="adj" fmla="val 10000"/>
            </a:avLst>
          </a:prstGeom>
          <a:solidFill>
            <a:srgbClr val="C8F14F"/>
          </a:solidFill>
          <a:ln/>
        </p:spPr>
      </p:sp>
      <p:sp>
        <p:nvSpPr>
          <p:cNvPr id="16" name="Text 14"/>
          <p:cNvSpPr/>
          <p:nvPr/>
        </p:nvSpPr>
        <p:spPr>
          <a:xfrm>
            <a:off x="457200" y="3163824"/>
            <a:ext cx="1965960" cy="914400"/>
          </a:xfrm>
          <a:prstGeom prst="rect">
            <a:avLst/>
          </a:prstGeom>
          <a:noFill/>
          <a:ln/>
        </p:spPr>
        <p:txBody>
          <a:bodyPr wrap="square" lIns="0" tIns="0" rIns="0" bIns="0" rtlCol="0" anchor="ctr"/>
          <a:lstStyle/>
          <a:p>
            <a:pPr algn="ctr" indent="0" marL="0">
              <a:buNone/>
            </a:pPr>
            <a:r>
              <a:rPr lang="en-US" sz="1600" b="1" dirty="0">
                <a:solidFill>
                  <a:srgbClr val="141414"/>
                </a:solidFill>
                <a:latin typeface="Calibri" pitchFamily="34" charset="0"/>
                <a:ea typeface="Calibri" pitchFamily="34" charset="-122"/>
                <a:cs typeface="Calibri" pitchFamily="34" charset="-120"/>
              </a:rPr>
              <a:t>merchant</a:t>
            </a:r>
            <a:endParaRPr lang="en-US" sz="1600" dirty="0"/>
          </a:p>
        </p:txBody>
      </p:sp>
      <p:sp>
        <p:nvSpPr>
          <p:cNvPr id="17" name="Shape 15"/>
          <p:cNvSpPr/>
          <p:nvPr/>
        </p:nvSpPr>
        <p:spPr>
          <a:xfrm>
            <a:off x="2560320" y="3163824"/>
            <a:ext cx="9144000" cy="914400"/>
          </a:xfrm>
          <a:prstGeom prst="roundRect">
            <a:avLst>
              <a:gd name="adj" fmla="val 10000"/>
            </a:avLst>
          </a:prstGeom>
          <a:solidFill>
            <a:srgbClr val="FFFCF6"/>
          </a:solidFill>
          <a:ln/>
        </p:spPr>
      </p:sp>
      <p:sp>
        <p:nvSpPr>
          <p:cNvPr id="18" name="Text 16"/>
          <p:cNvSpPr/>
          <p:nvPr/>
        </p:nvSpPr>
        <p:spPr>
          <a:xfrm>
            <a:off x="2788920" y="3255264"/>
            <a:ext cx="86868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One website</a:t>
            </a:r>
            <a:endParaRPr lang="en-US" sz="1600" dirty="0"/>
          </a:p>
        </p:txBody>
      </p:sp>
      <p:sp>
        <p:nvSpPr>
          <p:cNvPr id="19" name="Text 17"/>
          <p:cNvSpPr/>
          <p:nvPr/>
        </p:nvSpPr>
        <p:spPr>
          <a:xfrm>
            <a:off x="2788920" y="3566160"/>
            <a:ext cx="8686800" cy="420624"/>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Taobao, HKTV Mall, or Pinduoduo. It accepts, rejects, or counters once, and only its own rows. The other two stay silent.</a:t>
            </a:r>
            <a:endParaRPr lang="en-US" sz="1300" dirty="0"/>
          </a:p>
        </p:txBody>
      </p:sp>
      <p:sp>
        <p:nvSpPr>
          <p:cNvPr id="20" name="Shape 18"/>
          <p:cNvSpPr/>
          <p:nvPr/>
        </p:nvSpPr>
        <p:spPr>
          <a:xfrm>
            <a:off x="457200" y="4187952"/>
            <a:ext cx="1965960" cy="914400"/>
          </a:xfrm>
          <a:prstGeom prst="roundRect">
            <a:avLst>
              <a:gd name="adj" fmla="val 10000"/>
            </a:avLst>
          </a:prstGeom>
          <a:solidFill>
            <a:srgbClr val="C8F14F"/>
          </a:solidFill>
          <a:ln/>
        </p:spPr>
      </p:sp>
      <p:sp>
        <p:nvSpPr>
          <p:cNvPr id="21" name="Text 19"/>
          <p:cNvSpPr/>
          <p:nvPr/>
        </p:nvSpPr>
        <p:spPr>
          <a:xfrm>
            <a:off x="457200" y="4187952"/>
            <a:ext cx="1965960" cy="914400"/>
          </a:xfrm>
          <a:prstGeom prst="rect">
            <a:avLst/>
          </a:prstGeom>
          <a:noFill/>
          <a:ln/>
        </p:spPr>
        <p:txBody>
          <a:bodyPr wrap="square" lIns="0" tIns="0" rIns="0" bIns="0" rtlCol="0" anchor="ctr"/>
          <a:lstStyle/>
          <a:p>
            <a:pPr algn="ctr" indent="0" marL="0">
              <a:buNone/>
            </a:pPr>
            <a:r>
              <a:rPr lang="en-US" sz="1600" b="1" dirty="0">
                <a:solidFill>
                  <a:srgbClr val="141414"/>
                </a:solidFill>
                <a:latin typeface="Calibri" pitchFamily="34" charset="0"/>
                <a:ea typeface="Calibri" pitchFamily="34" charset="-122"/>
                <a:cs typeface="Calibri" pitchFamily="34" charset="-120"/>
              </a:rPr>
              <a:t>auditor</a:t>
            </a:r>
            <a:endParaRPr lang="en-US" sz="1600" dirty="0"/>
          </a:p>
        </p:txBody>
      </p:sp>
      <p:sp>
        <p:nvSpPr>
          <p:cNvPr id="22" name="Shape 20"/>
          <p:cNvSpPr/>
          <p:nvPr/>
        </p:nvSpPr>
        <p:spPr>
          <a:xfrm>
            <a:off x="2560320" y="4187952"/>
            <a:ext cx="9144000" cy="914400"/>
          </a:xfrm>
          <a:prstGeom prst="roundRect">
            <a:avLst>
              <a:gd name="adj" fmla="val 10000"/>
            </a:avLst>
          </a:prstGeom>
          <a:solidFill>
            <a:srgbClr val="FFFCF6"/>
          </a:solidFill>
          <a:ln/>
        </p:spPr>
      </p:sp>
      <p:sp>
        <p:nvSpPr>
          <p:cNvPr id="23" name="Text 21"/>
          <p:cNvSpPr/>
          <p:nvPr/>
        </p:nvSpPr>
        <p:spPr>
          <a:xfrm>
            <a:off x="2788920" y="4279392"/>
            <a:ext cx="86868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The listing check</a:t>
            </a:r>
            <a:endParaRPr lang="en-US" sz="1600" dirty="0"/>
          </a:p>
        </p:txBody>
      </p:sp>
      <p:sp>
        <p:nvSpPr>
          <p:cNvPr id="24" name="Text 22"/>
          <p:cNvSpPr/>
          <p:nvPr/>
        </p:nvSpPr>
        <p:spPr>
          <a:xfrm>
            <a:off x="2788920" y="4590288"/>
            <a:ext cx="8686800" cy="420624"/>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Drops a poisoned row, a higher agent price, or missing shipping. It also checks the two slips before a charge. It never pays.</a:t>
            </a:r>
            <a:endParaRPr lang="en-US" sz="1300" dirty="0"/>
          </a:p>
        </p:txBody>
      </p:sp>
      <p:sp>
        <p:nvSpPr>
          <p:cNvPr id="25" name="Shape 23"/>
          <p:cNvSpPr/>
          <p:nvPr/>
        </p:nvSpPr>
        <p:spPr>
          <a:xfrm>
            <a:off x="457200" y="5212080"/>
            <a:ext cx="1965960" cy="914400"/>
          </a:xfrm>
          <a:prstGeom prst="roundRect">
            <a:avLst>
              <a:gd name="adj" fmla="val 10000"/>
            </a:avLst>
          </a:prstGeom>
          <a:solidFill>
            <a:srgbClr val="C8F14F"/>
          </a:solidFill>
          <a:ln/>
        </p:spPr>
      </p:sp>
      <p:sp>
        <p:nvSpPr>
          <p:cNvPr id="26" name="Text 24"/>
          <p:cNvSpPr/>
          <p:nvPr/>
        </p:nvSpPr>
        <p:spPr>
          <a:xfrm>
            <a:off x="457200" y="5212080"/>
            <a:ext cx="1965960" cy="914400"/>
          </a:xfrm>
          <a:prstGeom prst="rect">
            <a:avLst/>
          </a:prstGeom>
          <a:noFill/>
          <a:ln/>
        </p:spPr>
        <p:txBody>
          <a:bodyPr wrap="square" lIns="0" tIns="0" rIns="0" bIns="0" rtlCol="0" anchor="ctr"/>
          <a:lstStyle/>
          <a:p>
            <a:pPr algn="ctr" indent="0" marL="0">
              <a:buNone/>
            </a:pPr>
            <a:r>
              <a:rPr lang="en-US" sz="1600" b="1" dirty="0">
                <a:solidFill>
                  <a:srgbClr val="141414"/>
                </a:solidFill>
                <a:latin typeface="Calibri" pitchFamily="34" charset="0"/>
                <a:ea typeface="Calibri" pitchFamily="34" charset="-122"/>
                <a:cs typeface="Calibri" pitchFamily="34" charset="-120"/>
              </a:rPr>
              <a:t>payer</a:t>
            </a:r>
            <a:endParaRPr lang="en-US" sz="1600" dirty="0"/>
          </a:p>
        </p:txBody>
      </p:sp>
      <p:sp>
        <p:nvSpPr>
          <p:cNvPr id="27" name="Shape 25"/>
          <p:cNvSpPr/>
          <p:nvPr/>
        </p:nvSpPr>
        <p:spPr>
          <a:xfrm>
            <a:off x="2560320" y="5212080"/>
            <a:ext cx="9144000" cy="914400"/>
          </a:xfrm>
          <a:prstGeom prst="roundRect">
            <a:avLst>
              <a:gd name="adj" fmla="val 10000"/>
            </a:avLst>
          </a:prstGeom>
          <a:solidFill>
            <a:srgbClr val="FFFCF6"/>
          </a:solidFill>
          <a:ln/>
        </p:spPr>
      </p:sp>
      <p:sp>
        <p:nvSpPr>
          <p:cNvPr id="28" name="Text 26"/>
          <p:cNvSpPr/>
          <p:nvPr/>
        </p:nvSpPr>
        <p:spPr>
          <a:xfrm>
            <a:off x="2788920" y="5303520"/>
            <a:ext cx="86868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The only cashier</a:t>
            </a:r>
            <a:endParaRPr lang="en-US" sz="1600" dirty="0"/>
          </a:p>
        </p:txBody>
      </p:sp>
      <p:sp>
        <p:nvSpPr>
          <p:cNvPr id="29" name="Text 27"/>
          <p:cNvSpPr/>
          <p:nvPr/>
        </p:nvSpPr>
        <p:spPr>
          <a:xfrm>
            <a:off x="2788920" y="5614416"/>
            <a:ext cx="8686800" cy="420624"/>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Card, then wallet if card never charged. It books, retries the same key, and refunds. It is not a second payer.</a:t>
            </a:r>
            <a:endParaRPr lang="en-US" sz="1300" dirty="0"/>
          </a:p>
        </p:txBody>
      </p:sp>
      <p:sp>
        <p:nvSpPr>
          <p:cNvPr id="30" name="Text 28"/>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DESIGN</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Choices the roles are not allowed to break</a:t>
            </a:r>
            <a:endParaRPr lang="en-US" sz="2600" dirty="0"/>
          </a:p>
        </p:txBody>
      </p:sp>
      <p:sp>
        <p:nvSpPr>
          <p:cNvPr id="5" name="Shape 3"/>
          <p:cNvSpPr/>
          <p:nvPr/>
        </p:nvSpPr>
        <p:spPr>
          <a:xfrm>
            <a:off x="457200" y="117043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6" name="Shape 4"/>
          <p:cNvSpPr/>
          <p:nvPr/>
        </p:nvSpPr>
        <p:spPr>
          <a:xfrm>
            <a:off x="603504" y="1316736"/>
            <a:ext cx="128016" cy="128016"/>
          </a:xfrm>
          <a:prstGeom prst="roundRect">
            <a:avLst>
              <a:gd name="adj" fmla="val 28571"/>
            </a:avLst>
          </a:prstGeom>
          <a:solidFill>
            <a:srgbClr val="C8F14F"/>
          </a:solidFill>
          <a:ln/>
        </p:spPr>
      </p:sp>
      <p:sp>
        <p:nvSpPr>
          <p:cNvPr id="7" name="Text 5"/>
          <p:cNvSpPr/>
          <p:nvPr/>
        </p:nvSpPr>
        <p:spPr>
          <a:xfrm>
            <a:off x="621792" y="155448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No hosted model</a:t>
            </a:r>
            <a:endParaRPr lang="en-US" sz="1600" dirty="0"/>
          </a:p>
        </p:txBody>
      </p:sp>
      <p:sp>
        <p:nvSpPr>
          <p:cNvPr id="8" name="Text 6"/>
          <p:cNvSpPr/>
          <p:nvPr/>
        </p:nvSpPr>
        <p:spPr>
          <a:xfrm>
            <a:off x="621792" y="203911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The parser is a function. A model may sit behind the same JSON later. The harness still must not call one.</a:t>
            </a:r>
            <a:endParaRPr lang="en-US" sz="1400" dirty="0"/>
          </a:p>
        </p:txBody>
      </p:sp>
      <p:sp>
        <p:nvSpPr>
          <p:cNvPr id="9" name="Shape 7"/>
          <p:cNvSpPr/>
          <p:nvPr/>
        </p:nvSpPr>
        <p:spPr>
          <a:xfrm>
            <a:off x="4297680" y="117043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10" name="Shape 8"/>
          <p:cNvSpPr/>
          <p:nvPr/>
        </p:nvSpPr>
        <p:spPr>
          <a:xfrm>
            <a:off x="4443984" y="1316736"/>
            <a:ext cx="128016" cy="128016"/>
          </a:xfrm>
          <a:prstGeom prst="roundRect">
            <a:avLst>
              <a:gd name="adj" fmla="val 28571"/>
            </a:avLst>
          </a:prstGeom>
          <a:solidFill>
            <a:srgbClr val="C8F14F"/>
          </a:solidFill>
          <a:ln/>
        </p:spPr>
      </p:sp>
      <p:sp>
        <p:nvSpPr>
          <p:cNvPr id="11" name="Text 9"/>
          <p:cNvSpPr/>
          <p:nvPr/>
        </p:nvSpPr>
        <p:spPr>
          <a:xfrm>
            <a:off x="4462272" y="155448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Cents, then HKD</a:t>
            </a:r>
            <a:endParaRPr lang="en-US" sz="1600" dirty="0"/>
          </a:p>
        </p:txBody>
      </p:sp>
      <p:sp>
        <p:nvSpPr>
          <p:cNvPr id="12" name="Text 10"/>
          <p:cNvSpPr/>
          <p:nvPr/>
        </p:nvSpPr>
        <p:spPr>
          <a:xfrm>
            <a:off x="4462272" y="203911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Shelf, coupon, shipping, and gift become integer cents. Missing shipping is an error, not zero.</a:t>
            </a:r>
            <a:endParaRPr lang="en-US" sz="1400" dirty="0"/>
          </a:p>
        </p:txBody>
      </p:sp>
      <p:sp>
        <p:nvSpPr>
          <p:cNvPr id="13" name="Shape 11"/>
          <p:cNvSpPr/>
          <p:nvPr/>
        </p:nvSpPr>
        <p:spPr>
          <a:xfrm>
            <a:off x="8138160" y="117043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14" name="Shape 12"/>
          <p:cNvSpPr/>
          <p:nvPr/>
        </p:nvSpPr>
        <p:spPr>
          <a:xfrm>
            <a:off x="8284464" y="1316736"/>
            <a:ext cx="128016" cy="128016"/>
          </a:xfrm>
          <a:prstGeom prst="roundRect">
            <a:avLst>
              <a:gd name="adj" fmla="val 28571"/>
            </a:avLst>
          </a:prstGeom>
          <a:solidFill>
            <a:srgbClr val="C8F14F"/>
          </a:solidFill>
          <a:ln/>
        </p:spPr>
      </p:sp>
      <p:sp>
        <p:nvSpPr>
          <p:cNvPr id="15" name="Text 13"/>
          <p:cNvSpPr/>
          <p:nvPr/>
        </p:nvSpPr>
        <p:spPr>
          <a:xfrm>
            <a:off x="8302752" y="155448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Gift is a score</a:t>
            </a:r>
            <a:endParaRPr lang="en-US" sz="1600" dirty="0"/>
          </a:p>
        </p:txBody>
      </p:sp>
      <p:sp>
        <p:nvSpPr>
          <p:cNvPr id="16" name="Text 14"/>
          <p:cNvSpPr/>
          <p:nvPr/>
        </p:nvSpPr>
        <p:spPr>
          <a:xfrm>
            <a:off x="8302752" y="203911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Rewards on: effective = cash − gift × 0.5. Cash and the 7-day spend do not move.</a:t>
            </a:r>
            <a:endParaRPr lang="en-US" sz="1400" dirty="0"/>
          </a:p>
        </p:txBody>
      </p:sp>
      <p:sp>
        <p:nvSpPr>
          <p:cNvPr id="17" name="Shape 15"/>
          <p:cNvSpPr/>
          <p:nvPr/>
        </p:nvSpPr>
        <p:spPr>
          <a:xfrm>
            <a:off x="457200" y="373075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18" name="Shape 16"/>
          <p:cNvSpPr/>
          <p:nvPr/>
        </p:nvSpPr>
        <p:spPr>
          <a:xfrm>
            <a:off x="603504" y="3877056"/>
            <a:ext cx="128016" cy="128016"/>
          </a:xfrm>
          <a:prstGeom prst="roundRect">
            <a:avLst>
              <a:gd name="adj" fmla="val 28571"/>
            </a:avLst>
          </a:prstGeom>
          <a:solidFill>
            <a:srgbClr val="C8F14F"/>
          </a:solidFill>
          <a:ln/>
        </p:spPr>
      </p:sp>
      <p:sp>
        <p:nvSpPr>
          <p:cNvPr id="19" name="Text 17"/>
          <p:cNvSpPr/>
          <p:nvPr/>
        </p:nvSpPr>
        <p:spPr>
          <a:xfrm>
            <a:off x="621792" y="411480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Weights can sit apart</a:t>
            </a:r>
            <a:endParaRPr lang="en-US" sz="1600" dirty="0"/>
          </a:p>
        </p:txBody>
      </p:sp>
      <p:sp>
        <p:nvSpPr>
          <p:cNvPr id="20" name="Text 18"/>
          <p:cNvSpPr/>
          <p:nvPr/>
        </p:nvSpPr>
        <p:spPr>
          <a:xfrm>
            <a:off x="621792" y="459943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One cash weight need not sum to 1. “Cheapest” plus a different explicit vector asks first.</a:t>
            </a:r>
            <a:endParaRPr lang="en-US" sz="1400" dirty="0"/>
          </a:p>
        </p:txBody>
      </p:sp>
      <p:sp>
        <p:nvSpPr>
          <p:cNvPr id="21" name="Shape 19"/>
          <p:cNvSpPr/>
          <p:nvPr/>
        </p:nvSpPr>
        <p:spPr>
          <a:xfrm>
            <a:off x="4297680" y="373075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22" name="Shape 20"/>
          <p:cNvSpPr/>
          <p:nvPr/>
        </p:nvSpPr>
        <p:spPr>
          <a:xfrm>
            <a:off x="4443984" y="3877056"/>
            <a:ext cx="128016" cy="128016"/>
          </a:xfrm>
          <a:prstGeom prst="roundRect">
            <a:avLst>
              <a:gd name="adj" fmla="val 28571"/>
            </a:avLst>
          </a:prstGeom>
          <a:solidFill>
            <a:srgbClr val="C8F14F"/>
          </a:solidFill>
          <a:ln/>
        </p:spPr>
      </p:sp>
      <p:sp>
        <p:nvSpPr>
          <p:cNvPr id="23" name="Text 21"/>
          <p:cNvSpPr/>
          <p:nvPr/>
        </p:nvSpPr>
        <p:spPr>
          <a:xfrm>
            <a:off x="4462272" y="411480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Card, unless the form says so</a:t>
            </a:r>
            <a:endParaRPr lang="en-US" sz="1600" dirty="0"/>
          </a:p>
        </p:txBody>
      </p:sp>
      <p:sp>
        <p:nvSpPr>
          <p:cNvPr id="24" name="Text 22"/>
          <p:cNvSpPr/>
          <p:nvPr/>
        </p:nvSpPr>
        <p:spPr>
          <a:xfrm>
            <a:off x="4462272" y="459943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Today, a tender list without card stops payment. The user never types a card number.</a:t>
            </a:r>
            <a:endParaRPr lang="en-US" sz="1400" dirty="0"/>
          </a:p>
        </p:txBody>
      </p:sp>
      <p:sp>
        <p:nvSpPr>
          <p:cNvPr id="25" name="Shape 23"/>
          <p:cNvSpPr/>
          <p:nvPr/>
        </p:nvSpPr>
        <p:spPr>
          <a:xfrm>
            <a:off x="8138160" y="3730752"/>
            <a:ext cx="365760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26" name="Shape 24"/>
          <p:cNvSpPr/>
          <p:nvPr/>
        </p:nvSpPr>
        <p:spPr>
          <a:xfrm>
            <a:off x="8284464" y="3877056"/>
            <a:ext cx="128016" cy="128016"/>
          </a:xfrm>
          <a:prstGeom prst="roundRect">
            <a:avLst>
              <a:gd name="adj" fmla="val 28571"/>
            </a:avLst>
          </a:prstGeom>
          <a:solidFill>
            <a:srgbClr val="C8F14F"/>
          </a:solidFill>
          <a:ln/>
        </p:spPr>
      </p:sp>
      <p:sp>
        <p:nvSpPr>
          <p:cNvPr id="27" name="Text 25"/>
          <p:cNvSpPr/>
          <p:nvPr/>
        </p:nvSpPr>
        <p:spPr>
          <a:xfrm>
            <a:off x="8302752" y="4114800"/>
            <a:ext cx="3328416"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Empty allow means all</a:t>
            </a:r>
            <a:endParaRPr lang="en-US" sz="1600" dirty="0"/>
          </a:p>
        </p:txBody>
      </p:sp>
      <p:sp>
        <p:nvSpPr>
          <p:cNvPr id="28" name="Text 26"/>
          <p:cNvSpPr/>
          <p:nvPr/>
        </p:nvSpPr>
        <p:spPr>
          <a:xfrm>
            <a:off x="8302752" y="4599432"/>
            <a:ext cx="3328416" cy="128016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An empty merchant or category allow list means every one except the deny list. Categories are snacks and balloons.</a:t>
            </a:r>
            <a:endParaRPr lang="en-US" sz="1400" dirty="0"/>
          </a:p>
        </p:txBody>
      </p:sp>
      <p:sp>
        <p:nvSpPr>
          <p:cNvPr id="29" name="Text 27"/>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MONEY</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Cash is what gets booked</a:t>
            </a:r>
            <a:endParaRPr lang="en-US" sz="2600" dirty="0"/>
          </a:p>
        </p:txBody>
      </p:sp>
      <p:sp>
        <p:nvSpPr>
          <p:cNvPr id="5" name="Shape 3"/>
          <p:cNvSpPr/>
          <p:nvPr/>
        </p:nvSpPr>
        <p:spPr>
          <a:xfrm>
            <a:off x="457200" y="1143000"/>
            <a:ext cx="5623560" cy="5074920"/>
          </a:xfrm>
          <a:prstGeom prst="roundRect">
            <a:avLst>
              <a:gd name="adj" fmla="val 1802"/>
            </a:avLst>
          </a:prstGeom>
          <a:solidFill>
            <a:srgbClr val="FFFCF6"/>
          </a:solidFill>
          <a:ln/>
          <a:effectLst>
            <a:outerShdw sx="100000" sy="100000" kx="0" ky="0" algn="bl" rotWithShape="0" blurRad="177800" dist="50800" dir="5400000">
              <a:srgbClr val="141414">
                <a:alpha val="8000"/>
              </a:srgbClr>
            </a:outerShdw>
          </a:effectLst>
        </p:spPr>
      </p:sp>
      <p:sp>
        <p:nvSpPr>
          <p:cNvPr id="6" name="Shape 4"/>
          <p:cNvSpPr/>
          <p:nvPr/>
        </p:nvSpPr>
        <p:spPr>
          <a:xfrm>
            <a:off x="603504" y="1289304"/>
            <a:ext cx="128016" cy="128016"/>
          </a:xfrm>
          <a:prstGeom prst="roundRect">
            <a:avLst>
              <a:gd name="adj" fmla="val 28571"/>
            </a:avLst>
          </a:prstGeom>
          <a:solidFill>
            <a:srgbClr val="C8F14F"/>
          </a:solidFill>
          <a:ln/>
        </p:spPr>
      </p:sp>
      <p:sp>
        <p:nvSpPr>
          <p:cNvPr id="7" name="Text 5"/>
          <p:cNvSpPr/>
          <p:nvPr/>
        </p:nvSpPr>
        <p:spPr>
          <a:xfrm>
            <a:off x="713232" y="1371600"/>
            <a:ext cx="512064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Shelf 200 × qty 2</a:t>
            </a:r>
            <a:endParaRPr lang="en-US" sz="1300" dirty="0"/>
          </a:p>
        </p:txBody>
      </p:sp>
      <p:sp>
        <p:nvSpPr>
          <p:cNvPr id="8" name="Text 6"/>
          <p:cNvSpPr/>
          <p:nvPr/>
        </p:nvSpPr>
        <p:spPr>
          <a:xfrm>
            <a:off x="713232" y="1627632"/>
            <a:ext cx="5120640" cy="38404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Line 400, before the coupon. Per-item sees this.</a:t>
            </a:r>
            <a:endParaRPr lang="en-US" sz="1600" dirty="0"/>
          </a:p>
        </p:txBody>
      </p:sp>
      <p:sp>
        <p:nvSpPr>
          <p:cNvPr id="9" name="Text 7"/>
          <p:cNvSpPr/>
          <p:nvPr/>
        </p:nvSpPr>
        <p:spPr>
          <a:xfrm>
            <a:off x="713232" y="2286000"/>
            <a:ext cx="512064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Coupon 80</a:t>
            </a:r>
            <a:endParaRPr lang="en-US" sz="1300" dirty="0"/>
          </a:p>
        </p:txBody>
      </p:sp>
      <p:sp>
        <p:nvSpPr>
          <p:cNvPr id="10" name="Text 8"/>
          <p:cNvSpPr/>
          <p:nvPr/>
        </p:nvSpPr>
        <p:spPr>
          <a:xfrm>
            <a:off x="713232" y="2542032"/>
            <a:ext cx="5120640" cy="38404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Merchandise 320. Cashback uses this, not shipping.</a:t>
            </a:r>
            <a:endParaRPr lang="en-US" sz="1600" dirty="0"/>
          </a:p>
        </p:txBody>
      </p:sp>
      <p:sp>
        <p:nvSpPr>
          <p:cNvPr id="11" name="Text 9"/>
          <p:cNvSpPr/>
          <p:nvPr/>
        </p:nvSpPr>
        <p:spPr>
          <a:xfrm>
            <a:off x="713232" y="3200400"/>
            <a:ext cx="512064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Shipping 30</a:t>
            </a:r>
            <a:endParaRPr lang="en-US" sz="1300" dirty="0"/>
          </a:p>
        </p:txBody>
      </p:sp>
      <p:sp>
        <p:nvSpPr>
          <p:cNvPr id="12" name="Text 10"/>
          <p:cNvSpPr/>
          <p:nvPr/>
        </p:nvSpPr>
        <p:spPr>
          <a:xfrm>
            <a:off x="713232" y="3456432"/>
            <a:ext cx="5120640" cy="38404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Cash 350. This is the charge and the 7-day sum.</a:t>
            </a:r>
            <a:endParaRPr lang="en-US" sz="1600" dirty="0"/>
          </a:p>
        </p:txBody>
      </p:sp>
      <p:sp>
        <p:nvSpPr>
          <p:cNvPr id="13" name="Text 11"/>
          <p:cNvSpPr/>
          <p:nvPr/>
        </p:nvSpPr>
        <p:spPr>
          <a:xfrm>
            <a:off x="713232" y="4114800"/>
            <a:ext cx="512064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Gift 100, rewards on</a:t>
            </a:r>
            <a:endParaRPr lang="en-US" sz="1300" dirty="0"/>
          </a:p>
        </p:txBody>
      </p:sp>
      <p:sp>
        <p:nvSpPr>
          <p:cNvPr id="14" name="Text 12"/>
          <p:cNvSpPr/>
          <p:nvPr/>
        </p:nvSpPr>
        <p:spPr>
          <a:xfrm>
            <a:off x="713232" y="4370832"/>
            <a:ext cx="5120640" cy="38404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Effective 300. Rank only. Book still writes 350.</a:t>
            </a:r>
            <a:endParaRPr lang="en-US" sz="1600" dirty="0"/>
          </a:p>
        </p:txBody>
      </p:sp>
      <p:sp>
        <p:nvSpPr>
          <p:cNvPr id="15" name="Text 13"/>
          <p:cNvSpPr/>
          <p:nvPr/>
        </p:nvSpPr>
        <p:spPr>
          <a:xfrm>
            <a:off x="713232" y="5029200"/>
            <a:ext cx="512064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Rewards turned off</a:t>
            </a:r>
            <a:endParaRPr lang="en-US" sz="1300" dirty="0"/>
          </a:p>
        </p:txBody>
      </p:sp>
      <p:sp>
        <p:nvSpPr>
          <p:cNvPr id="16" name="Text 14"/>
          <p:cNvSpPr/>
          <p:nvPr/>
        </p:nvSpPr>
        <p:spPr>
          <a:xfrm>
            <a:off x="713232" y="5285232"/>
            <a:ext cx="5120640" cy="38404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Effective becomes 350. Cash stays 350.</a:t>
            </a:r>
            <a:endParaRPr lang="en-US" sz="1600" dirty="0"/>
          </a:p>
        </p:txBody>
      </p:sp>
      <p:graphicFrame>
        <p:nvGraphicFramePr>
          <p:cNvPr id="17" name="Chart 0" descr=""/>
          <p:cNvGraphicFramePr/>
          <p:nvPr/>
        </p:nvGraphicFramePr>
        <p:xfrm>
          <a:off x="6309360" y="1143000"/>
          <a:ext cx="5394960" cy="50749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LOGIC</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Stop at the first ask or the first refusal</a:t>
            </a:r>
            <a:endParaRPr lang="en-US" sz="2600" dirty="0"/>
          </a:p>
        </p:txBody>
      </p:sp>
      <p:sp>
        <p:nvSpPr>
          <p:cNvPr id="5" name="Shape 3"/>
          <p:cNvSpPr/>
          <p:nvPr/>
        </p:nvSpPr>
        <p:spPr>
          <a:xfrm>
            <a:off x="457200" y="114300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6" name="Shape 4"/>
          <p:cNvSpPr/>
          <p:nvPr/>
        </p:nvSpPr>
        <p:spPr>
          <a:xfrm>
            <a:off x="603504" y="1289304"/>
            <a:ext cx="128016" cy="128016"/>
          </a:xfrm>
          <a:prstGeom prst="roundRect">
            <a:avLst>
              <a:gd name="adj" fmla="val 28571"/>
            </a:avLst>
          </a:prstGeom>
          <a:solidFill>
            <a:srgbClr val="C8F14F"/>
          </a:solidFill>
          <a:ln/>
        </p:spPr>
      </p:sp>
      <p:sp>
        <p:nvSpPr>
          <p:cNvPr id="7" name="Text 5"/>
          <p:cNvSpPr/>
          <p:nvPr/>
        </p:nvSpPr>
        <p:spPr>
          <a:xfrm>
            <a:off x="822960" y="125272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1234440" y="125272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shopper</a:t>
            </a:r>
            <a:endParaRPr lang="en-US" sz="1200" dirty="0"/>
          </a:p>
        </p:txBody>
      </p:sp>
      <p:sp>
        <p:nvSpPr>
          <p:cNvPr id="9" name="Text 7"/>
          <p:cNvSpPr/>
          <p:nvPr/>
        </p:nvSpPr>
        <p:spPr>
          <a:xfrm>
            <a:off x="621792" y="160020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Read the sentence</a:t>
            </a:r>
            <a:endParaRPr lang="en-US" sz="1500" dirty="0"/>
          </a:p>
        </p:txBody>
      </p:sp>
      <p:sp>
        <p:nvSpPr>
          <p:cNvPr id="10" name="Text 8"/>
          <p:cNvSpPr/>
          <p:nvPr/>
        </p:nvSpPr>
        <p:spPr>
          <a:xfrm>
            <a:off x="621792" y="219456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Party items become snacks and balloons. Quantities stay blank.</a:t>
            </a:r>
            <a:endParaRPr lang="en-US" sz="1300" dirty="0"/>
          </a:p>
        </p:txBody>
      </p:sp>
      <p:sp>
        <p:nvSpPr>
          <p:cNvPr id="11" name="Shape 9"/>
          <p:cNvSpPr/>
          <p:nvPr/>
        </p:nvSpPr>
        <p:spPr>
          <a:xfrm>
            <a:off x="3383280" y="114300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12" name="Shape 10"/>
          <p:cNvSpPr/>
          <p:nvPr/>
        </p:nvSpPr>
        <p:spPr>
          <a:xfrm>
            <a:off x="3529584" y="1289304"/>
            <a:ext cx="128016" cy="128016"/>
          </a:xfrm>
          <a:prstGeom prst="roundRect">
            <a:avLst>
              <a:gd name="adj" fmla="val 28571"/>
            </a:avLst>
          </a:prstGeom>
          <a:solidFill>
            <a:srgbClr val="C8F14F"/>
          </a:solidFill>
          <a:ln/>
        </p:spPr>
      </p:sp>
      <p:sp>
        <p:nvSpPr>
          <p:cNvPr id="13" name="Text 11"/>
          <p:cNvSpPr/>
          <p:nvPr/>
        </p:nvSpPr>
        <p:spPr>
          <a:xfrm>
            <a:off x="3749040" y="125272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4160520" y="125272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mandate</a:t>
            </a:r>
            <a:endParaRPr lang="en-US" sz="1200" dirty="0"/>
          </a:p>
        </p:txBody>
      </p:sp>
      <p:sp>
        <p:nvSpPr>
          <p:cNvPr id="15" name="Text 13"/>
          <p:cNvSpPr/>
          <p:nvPr/>
        </p:nvSpPr>
        <p:spPr>
          <a:xfrm>
            <a:off x="3547872" y="160020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Check the form</a:t>
            </a:r>
            <a:endParaRPr lang="en-US" sz="1500" dirty="0"/>
          </a:p>
        </p:txBody>
      </p:sp>
      <p:sp>
        <p:nvSpPr>
          <p:cNvPr id="16" name="Text 14"/>
          <p:cNvSpPr/>
          <p:nvPr/>
        </p:nvSpPr>
        <p:spPr>
          <a:xfrm>
            <a:off x="3547872" y="219456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Broken, revoked, or expired ends. A conflict with a valid form asks.</a:t>
            </a:r>
            <a:endParaRPr lang="en-US" sz="1300" dirty="0"/>
          </a:p>
        </p:txBody>
      </p:sp>
      <p:sp>
        <p:nvSpPr>
          <p:cNvPr id="17" name="Shape 15"/>
          <p:cNvSpPr/>
          <p:nvPr/>
        </p:nvSpPr>
        <p:spPr>
          <a:xfrm>
            <a:off x="6309360" y="114300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18" name="Shape 16"/>
          <p:cNvSpPr/>
          <p:nvPr/>
        </p:nvSpPr>
        <p:spPr>
          <a:xfrm>
            <a:off x="6455664" y="1289304"/>
            <a:ext cx="128016" cy="128016"/>
          </a:xfrm>
          <a:prstGeom prst="roundRect">
            <a:avLst>
              <a:gd name="adj" fmla="val 28571"/>
            </a:avLst>
          </a:prstGeom>
          <a:solidFill>
            <a:srgbClr val="C8F14F"/>
          </a:solidFill>
          <a:ln/>
        </p:spPr>
      </p:sp>
      <p:sp>
        <p:nvSpPr>
          <p:cNvPr id="19" name="Text 17"/>
          <p:cNvSpPr/>
          <p:nvPr/>
        </p:nvSpPr>
        <p:spPr>
          <a:xfrm>
            <a:off x="6675120" y="125272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3</a:t>
            </a:r>
            <a:endParaRPr lang="en-US" sz="1400" dirty="0"/>
          </a:p>
        </p:txBody>
      </p:sp>
      <p:sp>
        <p:nvSpPr>
          <p:cNvPr id="20" name="Text 18"/>
          <p:cNvSpPr/>
          <p:nvPr/>
        </p:nvSpPr>
        <p:spPr>
          <a:xfrm>
            <a:off x="7086600" y="125272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shopper</a:t>
            </a:r>
            <a:endParaRPr lang="en-US" sz="1200" dirty="0"/>
          </a:p>
        </p:txBody>
      </p:sp>
      <p:sp>
        <p:nvSpPr>
          <p:cNvPr id="21" name="Text 19"/>
          <p:cNvSpPr/>
          <p:nvPr/>
        </p:nvSpPr>
        <p:spPr>
          <a:xfrm>
            <a:off x="6473952" y="160020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Shares and weights</a:t>
            </a:r>
            <a:endParaRPr lang="en-US" sz="1500" dirty="0"/>
          </a:p>
        </p:txBody>
      </p:sp>
      <p:sp>
        <p:nvSpPr>
          <p:cNvPr id="22" name="Text 20"/>
          <p:cNvSpPr/>
          <p:nvPr/>
        </p:nvSpPr>
        <p:spPr>
          <a:xfrm>
            <a:off x="6473952" y="219456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Blank shares ask. A week that cannot hold the budget ends.</a:t>
            </a:r>
            <a:endParaRPr lang="en-US" sz="1300" dirty="0"/>
          </a:p>
        </p:txBody>
      </p:sp>
      <p:sp>
        <p:nvSpPr>
          <p:cNvPr id="23" name="Shape 21"/>
          <p:cNvSpPr/>
          <p:nvPr/>
        </p:nvSpPr>
        <p:spPr>
          <a:xfrm>
            <a:off x="9235440" y="114300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24" name="Shape 22"/>
          <p:cNvSpPr/>
          <p:nvPr/>
        </p:nvSpPr>
        <p:spPr>
          <a:xfrm>
            <a:off x="9381744" y="1289304"/>
            <a:ext cx="128016" cy="128016"/>
          </a:xfrm>
          <a:prstGeom prst="roundRect">
            <a:avLst>
              <a:gd name="adj" fmla="val 28571"/>
            </a:avLst>
          </a:prstGeom>
          <a:solidFill>
            <a:srgbClr val="C8F14F"/>
          </a:solidFill>
          <a:ln/>
        </p:spPr>
      </p:sp>
      <p:sp>
        <p:nvSpPr>
          <p:cNvPr id="25" name="Text 23"/>
          <p:cNvSpPr/>
          <p:nvPr/>
        </p:nvSpPr>
        <p:spPr>
          <a:xfrm>
            <a:off x="9601200" y="125272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4</a:t>
            </a:r>
            <a:endParaRPr lang="en-US" sz="1400" dirty="0"/>
          </a:p>
        </p:txBody>
      </p:sp>
      <p:sp>
        <p:nvSpPr>
          <p:cNvPr id="26" name="Text 24"/>
          <p:cNvSpPr/>
          <p:nvPr/>
        </p:nvSpPr>
        <p:spPr>
          <a:xfrm>
            <a:off x="10012680" y="125272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auditor</a:t>
            </a:r>
            <a:endParaRPr lang="en-US" sz="1200" dirty="0"/>
          </a:p>
        </p:txBody>
      </p:sp>
      <p:sp>
        <p:nvSpPr>
          <p:cNvPr id="27" name="Text 25"/>
          <p:cNvSpPr/>
          <p:nvPr/>
        </p:nvSpPr>
        <p:spPr>
          <a:xfrm>
            <a:off x="9400032" y="160020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Drop bad rows</a:t>
            </a:r>
            <a:endParaRPr lang="en-US" sz="1500" dirty="0"/>
          </a:p>
        </p:txBody>
      </p:sp>
      <p:sp>
        <p:nvSpPr>
          <p:cNvPr id="28" name="Text 26"/>
          <p:cNvSpPr/>
          <p:nvPr/>
        </p:nvSpPr>
        <p:spPr>
          <a:xfrm>
            <a:off x="9400032" y="219456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Injection, a higher agent price, or missing shipping. That row only.</a:t>
            </a:r>
            <a:endParaRPr lang="en-US" sz="1300" dirty="0"/>
          </a:p>
        </p:txBody>
      </p:sp>
      <p:sp>
        <p:nvSpPr>
          <p:cNvPr id="29" name="Shape 27"/>
          <p:cNvSpPr/>
          <p:nvPr/>
        </p:nvSpPr>
        <p:spPr>
          <a:xfrm>
            <a:off x="457200" y="374904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30" name="Shape 28"/>
          <p:cNvSpPr/>
          <p:nvPr/>
        </p:nvSpPr>
        <p:spPr>
          <a:xfrm>
            <a:off x="603504" y="3895344"/>
            <a:ext cx="128016" cy="128016"/>
          </a:xfrm>
          <a:prstGeom prst="roundRect">
            <a:avLst>
              <a:gd name="adj" fmla="val 28571"/>
            </a:avLst>
          </a:prstGeom>
          <a:solidFill>
            <a:srgbClr val="C8F14F"/>
          </a:solidFill>
          <a:ln/>
        </p:spPr>
      </p:sp>
      <p:sp>
        <p:nvSpPr>
          <p:cNvPr id="31" name="Text 29"/>
          <p:cNvSpPr/>
          <p:nvPr/>
        </p:nvSpPr>
        <p:spPr>
          <a:xfrm>
            <a:off x="822960" y="385876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5</a:t>
            </a:r>
            <a:endParaRPr lang="en-US" sz="1400" dirty="0"/>
          </a:p>
        </p:txBody>
      </p:sp>
      <p:sp>
        <p:nvSpPr>
          <p:cNvPr id="32" name="Text 30"/>
          <p:cNvSpPr/>
          <p:nvPr/>
        </p:nvSpPr>
        <p:spPr>
          <a:xfrm>
            <a:off x="1234440" y="385876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shopper</a:t>
            </a:r>
            <a:endParaRPr lang="en-US" sz="1200" dirty="0"/>
          </a:p>
        </p:txBody>
      </p:sp>
      <p:sp>
        <p:nvSpPr>
          <p:cNvPr id="33" name="Text 31"/>
          <p:cNvSpPr/>
          <p:nvPr/>
        </p:nvSpPr>
        <p:spPr>
          <a:xfrm>
            <a:off x="621792" y="420624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Rank one seller</a:t>
            </a:r>
            <a:endParaRPr lang="en-US" sz="1500" dirty="0"/>
          </a:p>
        </p:txBody>
      </p:sp>
      <p:sp>
        <p:nvSpPr>
          <p:cNvPr id="34" name="Text 32"/>
          <p:cNvSpPr/>
          <p:nvPr/>
        </p:nvSpPr>
        <p:spPr>
          <a:xfrm>
            <a:off x="621792" y="480060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Top three. A tie within 1e-10 asks. Other websites stay silent.</a:t>
            </a:r>
            <a:endParaRPr lang="en-US" sz="1300" dirty="0"/>
          </a:p>
        </p:txBody>
      </p:sp>
      <p:sp>
        <p:nvSpPr>
          <p:cNvPr id="35" name="Shape 33"/>
          <p:cNvSpPr/>
          <p:nvPr/>
        </p:nvSpPr>
        <p:spPr>
          <a:xfrm>
            <a:off x="3383280" y="374904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36" name="Shape 34"/>
          <p:cNvSpPr/>
          <p:nvPr/>
        </p:nvSpPr>
        <p:spPr>
          <a:xfrm>
            <a:off x="3529584" y="3895344"/>
            <a:ext cx="128016" cy="128016"/>
          </a:xfrm>
          <a:prstGeom prst="roundRect">
            <a:avLst>
              <a:gd name="adj" fmla="val 28571"/>
            </a:avLst>
          </a:prstGeom>
          <a:solidFill>
            <a:srgbClr val="C8F14F"/>
          </a:solidFill>
          <a:ln/>
        </p:spPr>
      </p:sp>
      <p:sp>
        <p:nvSpPr>
          <p:cNvPr id="37" name="Text 35"/>
          <p:cNvSpPr/>
          <p:nvPr/>
        </p:nvSpPr>
        <p:spPr>
          <a:xfrm>
            <a:off x="3749040" y="385876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6</a:t>
            </a:r>
            <a:endParaRPr lang="en-US" sz="1400" dirty="0"/>
          </a:p>
        </p:txBody>
      </p:sp>
      <p:sp>
        <p:nvSpPr>
          <p:cNvPr id="38" name="Text 36"/>
          <p:cNvSpPr/>
          <p:nvPr/>
        </p:nvSpPr>
        <p:spPr>
          <a:xfrm>
            <a:off x="4160520" y="385876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merchant</a:t>
            </a:r>
            <a:endParaRPr lang="en-US" sz="1200" dirty="0"/>
          </a:p>
        </p:txBody>
      </p:sp>
      <p:sp>
        <p:nvSpPr>
          <p:cNvPr id="39" name="Text 37"/>
          <p:cNvSpPr/>
          <p:nvPr/>
        </p:nvSpPr>
        <p:spPr>
          <a:xfrm>
            <a:off x="3547872" y="420624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Accept or reject</a:t>
            </a:r>
            <a:endParaRPr lang="en-US" sz="1500" dirty="0"/>
          </a:p>
        </p:txBody>
      </p:sp>
      <p:sp>
        <p:nvSpPr>
          <p:cNvPr id="40" name="Text 38"/>
          <p:cNvSpPr/>
          <p:nvPr/>
        </p:nvSpPr>
        <p:spPr>
          <a:xfrm>
            <a:off x="3547872" y="480060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One catalogue answer. A rejection leaves the coupon unused.</a:t>
            </a:r>
            <a:endParaRPr lang="en-US" sz="1300" dirty="0"/>
          </a:p>
        </p:txBody>
      </p:sp>
      <p:sp>
        <p:nvSpPr>
          <p:cNvPr id="41" name="Shape 39"/>
          <p:cNvSpPr/>
          <p:nvPr/>
        </p:nvSpPr>
        <p:spPr>
          <a:xfrm>
            <a:off x="6309360" y="374904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42" name="Shape 40"/>
          <p:cNvSpPr/>
          <p:nvPr/>
        </p:nvSpPr>
        <p:spPr>
          <a:xfrm>
            <a:off x="6455664" y="3895344"/>
            <a:ext cx="128016" cy="128016"/>
          </a:xfrm>
          <a:prstGeom prst="roundRect">
            <a:avLst>
              <a:gd name="adj" fmla="val 28571"/>
            </a:avLst>
          </a:prstGeom>
          <a:solidFill>
            <a:srgbClr val="C8F14F"/>
          </a:solidFill>
          <a:ln/>
        </p:spPr>
      </p:sp>
      <p:sp>
        <p:nvSpPr>
          <p:cNvPr id="43" name="Text 41"/>
          <p:cNvSpPr/>
          <p:nvPr/>
        </p:nvSpPr>
        <p:spPr>
          <a:xfrm>
            <a:off x="6675120" y="385876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7</a:t>
            </a:r>
            <a:endParaRPr lang="en-US" sz="1400" dirty="0"/>
          </a:p>
        </p:txBody>
      </p:sp>
      <p:sp>
        <p:nvSpPr>
          <p:cNvPr id="44" name="Text 42"/>
          <p:cNvSpPr/>
          <p:nvPr/>
        </p:nvSpPr>
        <p:spPr>
          <a:xfrm>
            <a:off x="7086600" y="385876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mandate</a:t>
            </a:r>
            <a:endParaRPr lang="en-US" sz="1200" dirty="0"/>
          </a:p>
        </p:txBody>
      </p:sp>
      <p:sp>
        <p:nvSpPr>
          <p:cNvPr id="45" name="Text 43"/>
          <p:cNvSpPr/>
          <p:nvPr/>
        </p:nvSpPr>
        <p:spPr>
          <a:xfrm>
            <a:off x="6473952" y="420624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Gate the cash</a:t>
            </a:r>
            <a:endParaRPr lang="en-US" sz="1500" dirty="0"/>
          </a:p>
        </p:txBody>
      </p:sp>
      <p:sp>
        <p:nvSpPr>
          <p:cNvPr id="46" name="Text 44"/>
          <p:cNvSpPr/>
          <p:nvPr/>
        </p:nvSpPr>
        <p:spPr>
          <a:xfrm>
            <a:off x="6473952" y="480060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Per-item sees the pre-coupon line. The week sees cash.</a:t>
            </a:r>
            <a:endParaRPr lang="en-US" sz="1300" dirty="0"/>
          </a:p>
        </p:txBody>
      </p:sp>
      <p:sp>
        <p:nvSpPr>
          <p:cNvPr id="47" name="Shape 45"/>
          <p:cNvSpPr/>
          <p:nvPr/>
        </p:nvSpPr>
        <p:spPr>
          <a:xfrm>
            <a:off x="9235440" y="3749040"/>
            <a:ext cx="2761488" cy="2423160"/>
          </a:xfrm>
          <a:prstGeom prst="roundRect">
            <a:avLst>
              <a:gd name="adj" fmla="val 3774"/>
            </a:avLst>
          </a:prstGeom>
          <a:solidFill>
            <a:srgbClr val="FFFCF6"/>
          </a:solidFill>
          <a:ln/>
          <a:effectLst>
            <a:outerShdw sx="100000" sy="100000" kx="0" ky="0" algn="bl" rotWithShape="0" blurRad="177800" dist="50800" dir="5400000">
              <a:srgbClr val="141414">
                <a:alpha val="8000"/>
              </a:srgbClr>
            </a:outerShdw>
          </a:effectLst>
        </p:spPr>
      </p:sp>
      <p:sp>
        <p:nvSpPr>
          <p:cNvPr id="48" name="Shape 46"/>
          <p:cNvSpPr/>
          <p:nvPr/>
        </p:nvSpPr>
        <p:spPr>
          <a:xfrm>
            <a:off x="9381744" y="3895344"/>
            <a:ext cx="128016" cy="128016"/>
          </a:xfrm>
          <a:prstGeom prst="roundRect">
            <a:avLst>
              <a:gd name="adj" fmla="val 28571"/>
            </a:avLst>
          </a:prstGeom>
          <a:solidFill>
            <a:srgbClr val="C8F14F"/>
          </a:solidFill>
          <a:ln/>
        </p:spPr>
      </p:sp>
      <p:sp>
        <p:nvSpPr>
          <p:cNvPr id="49" name="Text 47"/>
          <p:cNvSpPr/>
          <p:nvPr/>
        </p:nvSpPr>
        <p:spPr>
          <a:xfrm>
            <a:off x="9601200" y="3858768"/>
            <a:ext cx="320040" cy="237744"/>
          </a:xfrm>
          <a:prstGeom prst="rect">
            <a:avLst/>
          </a:prstGeom>
          <a:noFill/>
          <a:ln/>
        </p:spPr>
        <p:txBody>
          <a:bodyPr wrap="square" lIns="0" tIns="0" rIns="0" bIns="0" rtlCol="0" anchor="ctr"/>
          <a:lstStyle/>
          <a:p>
            <a:pPr indent="0" marL="0">
              <a:buNone/>
            </a:pPr>
            <a:r>
              <a:rPr lang="en-US" sz="1400" dirty="0">
                <a:solidFill>
                  <a:srgbClr val="141414"/>
                </a:solidFill>
                <a:latin typeface="Cambria" pitchFamily="34" charset="0"/>
                <a:ea typeface="Cambria" pitchFamily="34" charset="-122"/>
                <a:cs typeface="Cambria" pitchFamily="34" charset="-120"/>
              </a:rPr>
              <a:t>8</a:t>
            </a:r>
            <a:endParaRPr lang="en-US" sz="1400" dirty="0"/>
          </a:p>
        </p:txBody>
      </p:sp>
      <p:sp>
        <p:nvSpPr>
          <p:cNvPr id="50" name="Text 48"/>
          <p:cNvSpPr/>
          <p:nvPr/>
        </p:nvSpPr>
        <p:spPr>
          <a:xfrm>
            <a:off x="10012680" y="3858768"/>
            <a:ext cx="1783080" cy="237744"/>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payer</a:t>
            </a:r>
            <a:endParaRPr lang="en-US" sz="1200" dirty="0"/>
          </a:p>
        </p:txBody>
      </p:sp>
      <p:sp>
        <p:nvSpPr>
          <p:cNvPr id="51" name="Text 49"/>
          <p:cNvSpPr/>
          <p:nvPr/>
        </p:nvSpPr>
        <p:spPr>
          <a:xfrm>
            <a:off x="9400032" y="4206240"/>
            <a:ext cx="2432304" cy="502920"/>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Charge and book</a:t>
            </a:r>
            <a:endParaRPr lang="en-US" sz="1500" dirty="0"/>
          </a:p>
        </p:txBody>
      </p:sp>
      <p:sp>
        <p:nvSpPr>
          <p:cNvPr id="52" name="Text 50"/>
          <p:cNvSpPr/>
          <p:nvPr/>
        </p:nvSpPr>
        <p:spPr>
          <a:xfrm>
            <a:off x="9400032" y="4800600"/>
            <a:ext cx="2432304" cy="114300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A click does not pay. Confirm does. The same key never books twice.</a:t>
            </a:r>
            <a:endParaRPr lang="en-US" sz="1300" dirty="0"/>
          </a:p>
        </p:txBody>
      </p:sp>
      <p:sp>
        <p:nvSpPr>
          <p:cNvPr id="53" name="Text 51"/>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ASK</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Eight cases that wait for the user</a:t>
            </a:r>
            <a:endParaRPr lang="en-US" sz="2600" dirty="0"/>
          </a:p>
        </p:txBody>
      </p:sp>
      <p:sp>
        <p:nvSpPr>
          <p:cNvPr id="5" name="Shape 3"/>
          <p:cNvSpPr/>
          <p:nvPr/>
        </p:nvSpPr>
        <p:spPr>
          <a:xfrm>
            <a:off x="411480" y="1143000"/>
            <a:ext cx="5623560" cy="1207008"/>
          </a:xfrm>
          <a:prstGeom prst="roundRect">
            <a:avLst>
              <a:gd name="adj" fmla="val 6061"/>
            </a:avLst>
          </a:prstGeom>
          <a:solidFill>
            <a:srgbClr val="FFFCF6"/>
          </a:solidFill>
          <a:ln/>
        </p:spPr>
      </p:sp>
      <p:sp>
        <p:nvSpPr>
          <p:cNvPr id="6" name="Shape 4"/>
          <p:cNvSpPr/>
          <p:nvPr/>
        </p:nvSpPr>
        <p:spPr>
          <a:xfrm>
            <a:off x="502920" y="1271016"/>
            <a:ext cx="1097280" cy="256032"/>
          </a:xfrm>
          <a:prstGeom prst="roundRect">
            <a:avLst>
              <a:gd name="adj" fmla="val 21429"/>
            </a:avLst>
          </a:prstGeom>
          <a:solidFill>
            <a:srgbClr val="C8F14F"/>
          </a:solidFill>
          <a:ln/>
        </p:spPr>
      </p:sp>
      <p:sp>
        <p:nvSpPr>
          <p:cNvPr id="7" name="Text 5"/>
          <p:cNvSpPr/>
          <p:nvPr/>
        </p:nvSpPr>
        <p:spPr>
          <a:xfrm>
            <a:off x="502920" y="127101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8" name="Text 6"/>
          <p:cNvSpPr/>
          <p:nvPr/>
        </p:nvSpPr>
        <p:spPr>
          <a:xfrm>
            <a:off x="1709928" y="119786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Quantities still blank</a:t>
            </a:r>
            <a:endParaRPr lang="en-US" sz="1300" dirty="0"/>
          </a:p>
        </p:txBody>
      </p:sp>
      <p:sp>
        <p:nvSpPr>
          <p:cNvPr id="9" name="Text 7"/>
          <p:cNvSpPr/>
          <p:nvPr/>
        </p:nvSpPr>
        <p:spPr>
          <a:xfrm>
            <a:off x="1709928" y="143560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Do not search. Do not invent a guest count.</a:t>
            </a:r>
            <a:endParaRPr lang="en-US" sz="1200" dirty="0"/>
          </a:p>
        </p:txBody>
      </p:sp>
      <p:sp>
        <p:nvSpPr>
          <p:cNvPr id="10" name="Shape 8"/>
          <p:cNvSpPr/>
          <p:nvPr/>
        </p:nvSpPr>
        <p:spPr>
          <a:xfrm>
            <a:off x="411480" y="2423160"/>
            <a:ext cx="5623560" cy="1207008"/>
          </a:xfrm>
          <a:prstGeom prst="roundRect">
            <a:avLst>
              <a:gd name="adj" fmla="val 6061"/>
            </a:avLst>
          </a:prstGeom>
          <a:solidFill>
            <a:srgbClr val="FFFCF6"/>
          </a:solidFill>
          <a:ln/>
        </p:spPr>
      </p:sp>
      <p:sp>
        <p:nvSpPr>
          <p:cNvPr id="11" name="Shape 9"/>
          <p:cNvSpPr/>
          <p:nvPr/>
        </p:nvSpPr>
        <p:spPr>
          <a:xfrm>
            <a:off x="502920" y="2551176"/>
            <a:ext cx="1097280" cy="256032"/>
          </a:xfrm>
          <a:prstGeom prst="roundRect">
            <a:avLst>
              <a:gd name="adj" fmla="val 21429"/>
            </a:avLst>
          </a:prstGeom>
          <a:solidFill>
            <a:srgbClr val="C8F14F"/>
          </a:solidFill>
          <a:ln/>
        </p:spPr>
      </p:sp>
      <p:sp>
        <p:nvSpPr>
          <p:cNvPr id="12" name="Text 10"/>
          <p:cNvSpPr/>
          <p:nvPr/>
        </p:nvSpPr>
        <p:spPr>
          <a:xfrm>
            <a:off x="502920" y="255117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13" name="Text 11"/>
          <p:cNvSpPr/>
          <p:nvPr/>
        </p:nvSpPr>
        <p:spPr>
          <a:xfrm>
            <a:off x="1709928" y="247802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 share is blank or over the budget</a:t>
            </a:r>
            <a:endParaRPr lang="en-US" sz="1300" dirty="0"/>
          </a:p>
        </p:txBody>
      </p:sp>
      <p:sp>
        <p:nvSpPr>
          <p:cNvPr id="14" name="Text 12"/>
          <p:cNvSpPr/>
          <p:nvPr/>
        </p:nvSpPr>
        <p:spPr>
          <a:xfrm>
            <a:off x="1709928" y="271576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Unassigned money stays reserved. Goals cannot borrow.</a:t>
            </a:r>
            <a:endParaRPr lang="en-US" sz="1200" dirty="0"/>
          </a:p>
        </p:txBody>
      </p:sp>
      <p:sp>
        <p:nvSpPr>
          <p:cNvPr id="15" name="Shape 13"/>
          <p:cNvSpPr/>
          <p:nvPr/>
        </p:nvSpPr>
        <p:spPr>
          <a:xfrm>
            <a:off x="411480" y="3703320"/>
            <a:ext cx="5623560" cy="1207008"/>
          </a:xfrm>
          <a:prstGeom prst="roundRect">
            <a:avLst>
              <a:gd name="adj" fmla="val 6061"/>
            </a:avLst>
          </a:prstGeom>
          <a:solidFill>
            <a:srgbClr val="FFFCF6"/>
          </a:solidFill>
          <a:ln/>
        </p:spPr>
      </p:sp>
      <p:sp>
        <p:nvSpPr>
          <p:cNvPr id="16" name="Shape 14"/>
          <p:cNvSpPr/>
          <p:nvPr/>
        </p:nvSpPr>
        <p:spPr>
          <a:xfrm>
            <a:off x="502920" y="3831336"/>
            <a:ext cx="1097280" cy="256032"/>
          </a:xfrm>
          <a:prstGeom prst="roundRect">
            <a:avLst>
              <a:gd name="adj" fmla="val 21429"/>
            </a:avLst>
          </a:prstGeom>
          <a:solidFill>
            <a:srgbClr val="C8F14F"/>
          </a:solidFill>
          <a:ln/>
        </p:spPr>
      </p:sp>
      <p:sp>
        <p:nvSpPr>
          <p:cNvPr id="17" name="Text 15"/>
          <p:cNvSpPr/>
          <p:nvPr/>
        </p:nvSpPr>
        <p:spPr>
          <a:xfrm>
            <a:off x="502920" y="383133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18" name="Text 16"/>
          <p:cNvSpPr/>
          <p:nvPr/>
        </p:nvSpPr>
        <p:spPr>
          <a:xfrm>
            <a:off x="1709928" y="375818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“Cheapest” fights the typed weights</a:t>
            </a:r>
            <a:endParaRPr lang="en-US" sz="1300" dirty="0"/>
          </a:p>
        </p:txBody>
      </p:sp>
      <p:sp>
        <p:nvSpPr>
          <p:cNvPr id="19" name="Text 17"/>
          <p:cNvSpPr/>
          <p:nvPr/>
        </p:nvSpPr>
        <p:spPr>
          <a:xfrm>
            <a:off x="1709928" y="399592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Keep the explicit vector. Ask before ranking.</a:t>
            </a:r>
            <a:endParaRPr lang="en-US" sz="1200" dirty="0"/>
          </a:p>
        </p:txBody>
      </p:sp>
      <p:sp>
        <p:nvSpPr>
          <p:cNvPr id="20" name="Shape 18"/>
          <p:cNvSpPr/>
          <p:nvPr/>
        </p:nvSpPr>
        <p:spPr>
          <a:xfrm>
            <a:off x="411480" y="4983480"/>
            <a:ext cx="5623560" cy="1207008"/>
          </a:xfrm>
          <a:prstGeom prst="roundRect">
            <a:avLst>
              <a:gd name="adj" fmla="val 6061"/>
            </a:avLst>
          </a:prstGeom>
          <a:solidFill>
            <a:srgbClr val="FFFCF6"/>
          </a:solidFill>
          <a:ln/>
        </p:spPr>
      </p:sp>
      <p:sp>
        <p:nvSpPr>
          <p:cNvPr id="21" name="Shape 19"/>
          <p:cNvSpPr/>
          <p:nvPr/>
        </p:nvSpPr>
        <p:spPr>
          <a:xfrm>
            <a:off x="502920" y="5111496"/>
            <a:ext cx="1097280" cy="256032"/>
          </a:xfrm>
          <a:prstGeom prst="roundRect">
            <a:avLst>
              <a:gd name="adj" fmla="val 21429"/>
            </a:avLst>
          </a:prstGeom>
          <a:solidFill>
            <a:srgbClr val="C8F14F"/>
          </a:solidFill>
          <a:ln/>
        </p:spPr>
      </p:sp>
      <p:sp>
        <p:nvSpPr>
          <p:cNvPr id="22" name="Text 20"/>
          <p:cNvSpPr/>
          <p:nvPr/>
        </p:nvSpPr>
        <p:spPr>
          <a:xfrm>
            <a:off x="502920" y="511149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23" name="Text 21"/>
          <p:cNvSpPr/>
          <p:nvPr/>
        </p:nvSpPr>
        <p:spPr>
          <a:xfrm>
            <a:off x="1709928" y="503834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Top two scores tie</a:t>
            </a:r>
            <a:endParaRPr lang="en-US" sz="1300" dirty="0"/>
          </a:p>
        </p:txBody>
      </p:sp>
      <p:sp>
        <p:nvSpPr>
          <p:cNvPr id="24" name="Text 22"/>
          <p:cNvSpPr/>
          <p:nvPr/>
        </p:nvSpPr>
        <p:spPr>
          <a:xfrm>
            <a:off x="1709928" y="527608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Within 1e-10, including across sellers. Do not auto-pay.</a:t>
            </a:r>
            <a:endParaRPr lang="en-US" sz="1200" dirty="0"/>
          </a:p>
        </p:txBody>
      </p:sp>
      <p:sp>
        <p:nvSpPr>
          <p:cNvPr id="25" name="Shape 23"/>
          <p:cNvSpPr/>
          <p:nvPr/>
        </p:nvSpPr>
        <p:spPr>
          <a:xfrm>
            <a:off x="6172200" y="1143000"/>
            <a:ext cx="5623560" cy="1207008"/>
          </a:xfrm>
          <a:prstGeom prst="roundRect">
            <a:avLst>
              <a:gd name="adj" fmla="val 6061"/>
            </a:avLst>
          </a:prstGeom>
          <a:solidFill>
            <a:srgbClr val="FFFCF6"/>
          </a:solidFill>
          <a:ln/>
        </p:spPr>
      </p:sp>
      <p:sp>
        <p:nvSpPr>
          <p:cNvPr id="26" name="Shape 24"/>
          <p:cNvSpPr/>
          <p:nvPr/>
        </p:nvSpPr>
        <p:spPr>
          <a:xfrm>
            <a:off x="6263640" y="1271016"/>
            <a:ext cx="1097280" cy="256032"/>
          </a:xfrm>
          <a:prstGeom prst="roundRect">
            <a:avLst>
              <a:gd name="adj" fmla="val 21429"/>
            </a:avLst>
          </a:prstGeom>
          <a:solidFill>
            <a:srgbClr val="C8F14F"/>
          </a:solidFill>
          <a:ln/>
        </p:spPr>
      </p:sp>
      <p:sp>
        <p:nvSpPr>
          <p:cNvPr id="27" name="Text 25"/>
          <p:cNvSpPr/>
          <p:nvPr/>
        </p:nvSpPr>
        <p:spPr>
          <a:xfrm>
            <a:off x="6263640" y="127101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28" name="Text 26"/>
          <p:cNvSpPr/>
          <p:nvPr/>
        </p:nvSpPr>
        <p:spPr>
          <a:xfrm>
            <a:off x="7470648" y="119786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Same sku inside 72 hours</a:t>
            </a:r>
            <a:endParaRPr lang="en-US" sz="1300" dirty="0"/>
          </a:p>
        </p:txBody>
      </p:sp>
      <p:sp>
        <p:nvSpPr>
          <p:cNvPr id="29" name="Text 27"/>
          <p:cNvSpPr/>
          <p:nvPr/>
        </p:nvSpPr>
        <p:spPr>
          <a:xfrm>
            <a:off x="7470648" y="143560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Accept returns to the quote. The user still confirms.</a:t>
            </a:r>
            <a:endParaRPr lang="en-US" sz="1200" dirty="0"/>
          </a:p>
        </p:txBody>
      </p:sp>
      <p:sp>
        <p:nvSpPr>
          <p:cNvPr id="30" name="Shape 28"/>
          <p:cNvSpPr/>
          <p:nvPr/>
        </p:nvSpPr>
        <p:spPr>
          <a:xfrm>
            <a:off x="6172200" y="2423160"/>
            <a:ext cx="5623560" cy="1207008"/>
          </a:xfrm>
          <a:prstGeom prst="roundRect">
            <a:avLst>
              <a:gd name="adj" fmla="val 6061"/>
            </a:avLst>
          </a:prstGeom>
          <a:solidFill>
            <a:srgbClr val="FFFCF6"/>
          </a:solidFill>
          <a:ln/>
        </p:spPr>
      </p:sp>
      <p:sp>
        <p:nvSpPr>
          <p:cNvPr id="31" name="Shape 29"/>
          <p:cNvSpPr/>
          <p:nvPr/>
        </p:nvSpPr>
        <p:spPr>
          <a:xfrm>
            <a:off x="6263640" y="2551176"/>
            <a:ext cx="1097280" cy="256032"/>
          </a:xfrm>
          <a:prstGeom prst="roundRect">
            <a:avLst>
              <a:gd name="adj" fmla="val 21429"/>
            </a:avLst>
          </a:prstGeom>
          <a:solidFill>
            <a:srgbClr val="C8F14F"/>
          </a:solidFill>
          <a:ln/>
        </p:spPr>
      </p:sp>
      <p:sp>
        <p:nvSpPr>
          <p:cNvPr id="32" name="Text 30"/>
          <p:cNvSpPr/>
          <p:nvPr/>
        </p:nvSpPr>
        <p:spPr>
          <a:xfrm>
            <a:off x="6263640" y="255117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mandate</a:t>
            </a:r>
            <a:endParaRPr lang="en-US" sz="1100" dirty="0"/>
          </a:p>
        </p:txBody>
      </p:sp>
      <p:sp>
        <p:nvSpPr>
          <p:cNvPr id="33" name="Text 31"/>
          <p:cNvSpPr/>
          <p:nvPr/>
        </p:nvSpPr>
        <p:spPr>
          <a:xfrm>
            <a:off x="7470648" y="247802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Request fights a valid form</a:t>
            </a:r>
            <a:endParaRPr lang="en-US" sz="1300" dirty="0"/>
          </a:p>
        </p:txBody>
      </p:sp>
      <p:sp>
        <p:nvSpPr>
          <p:cNvPr id="34" name="Text 32"/>
          <p:cNvSpPr/>
          <p:nvPr/>
        </p:nvSpPr>
        <p:spPr>
          <a:xfrm>
            <a:off x="7470648" y="271576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Edit the form or the request. Decline ends the attempt.</a:t>
            </a:r>
            <a:endParaRPr lang="en-US" sz="1200" dirty="0"/>
          </a:p>
        </p:txBody>
      </p:sp>
      <p:sp>
        <p:nvSpPr>
          <p:cNvPr id="35" name="Shape 33"/>
          <p:cNvSpPr/>
          <p:nvPr/>
        </p:nvSpPr>
        <p:spPr>
          <a:xfrm>
            <a:off x="6172200" y="3703320"/>
            <a:ext cx="5623560" cy="1207008"/>
          </a:xfrm>
          <a:prstGeom prst="roundRect">
            <a:avLst>
              <a:gd name="adj" fmla="val 6061"/>
            </a:avLst>
          </a:prstGeom>
          <a:solidFill>
            <a:srgbClr val="FFFCF6"/>
          </a:solidFill>
          <a:ln/>
        </p:spPr>
      </p:sp>
      <p:sp>
        <p:nvSpPr>
          <p:cNvPr id="36" name="Shape 34"/>
          <p:cNvSpPr/>
          <p:nvPr/>
        </p:nvSpPr>
        <p:spPr>
          <a:xfrm>
            <a:off x="6263640" y="3831336"/>
            <a:ext cx="1097280" cy="256032"/>
          </a:xfrm>
          <a:prstGeom prst="roundRect">
            <a:avLst>
              <a:gd name="adj" fmla="val 21429"/>
            </a:avLst>
          </a:prstGeom>
          <a:solidFill>
            <a:srgbClr val="C8F14F"/>
          </a:solidFill>
          <a:ln/>
        </p:spPr>
      </p:sp>
      <p:sp>
        <p:nvSpPr>
          <p:cNvPr id="37" name="Text 35"/>
          <p:cNvSpPr/>
          <p:nvPr/>
        </p:nvSpPr>
        <p:spPr>
          <a:xfrm>
            <a:off x="6263640" y="383133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38" name="Text 36"/>
          <p:cNvSpPr/>
          <p:nvPr/>
        </p:nvSpPr>
        <p:spPr>
          <a:xfrm>
            <a:off x="7470648" y="375818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Price or a stale confirm</a:t>
            </a:r>
            <a:endParaRPr lang="en-US" sz="1300" dirty="0"/>
          </a:p>
        </p:txBody>
      </p:sp>
      <p:sp>
        <p:nvSpPr>
          <p:cNvPr id="39" name="Text 37"/>
          <p:cNvSpPr/>
          <p:nvPr/>
        </p:nvSpPr>
        <p:spPr>
          <a:xfrm>
            <a:off x="7470648" y="399592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360 asks again. A stale version does not pay.</a:t>
            </a:r>
            <a:endParaRPr lang="en-US" sz="1200" dirty="0"/>
          </a:p>
        </p:txBody>
      </p:sp>
      <p:sp>
        <p:nvSpPr>
          <p:cNvPr id="40" name="Shape 38"/>
          <p:cNvSpPr/>
          <p:nvPr/>
        </p:nvSpPr>
        <p:spPr>
          <a:xfrm>
            <a:off x="6172200" y="4983480"/>
            <a:ext cx="5623560" cy="1207008"/>
          </a:xfrm>
          <a:prstGeom prst="roundRect">
            <a:avLst>
              <a:gd name="adj" fmla="val 6061"/>
            </a:avLst>
          </a:prstGeom>
          <a:solidFill>
            <a:srgbClr val="FFFCF6"/>
          </a:solidFill>
          <a:ln/>
        </p:spPr>
      </p:sp>
      <p:sp>
        <p:nvSpPr>
          <p:cNvPr id="41" name="Shape 39"/>
          <p:cNvSpPr/>
          <p:nvPr/>
        </p:nvSpPr>
        <p:spPr>
          <a:xfrm>
            <a:off x="6263640" y="5111496"/>
            <a:ext cx="1097280" cy="256032"/>
          </a:xfrm>
          <a:prstGeom prst="roundRect">
            <a:avLst>
              <a:gd name="adj" fmla="val 21429"/>
            </a:avLst>
          </a:prstGeom>
          <a:solidFill>
            <a:srgbClr val="C8F14F"/>
          </a:solidFill>
          <a:ln/>
        </p:spPr>
      </p:sp>
      <p:sp>
        <p:nvSpPr>
          <p:cNvPr id="42" name="Text 40"/>
          <p:cNvSpPr/>
          <p:nvPr/>
        </p:nvSpPr>
        <p:spPr>
          <a:xfrm>
            <a:off x="6263640" y="511149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payer</a:t>
            </a:r>
            <a:endParaRPr lang="en-US" sz="1100" dirty="0"/>
          </a:p>
        </p:txBody>
      </p:sp>
      <p:sp>
        <p:nvSpPr>
          <p:cNvPr id="43" name="Text 41"/>
          <p:cNvSpPr/>
          <p:nvPr/>
        </p:nvSpPr>
        <p:spPr>
          <a:xfrm>
            <a:off x="7470648" y="503834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Charge happened, retry still fails</a:t>
            </a:r>
            <a:endParaRPr lang="en-US" sz="1300" dirty="0"/>
          </a:p>
        </p:txBody>
      </p:sp>
      <p:sp>
        <p:nvSpPr>
          <p:cNvPr id="44" name="Text 42"/>
          <p:cNvSpPr/>
          <p:nvPr/>
        </p:nvSpPr>
        <p:spPr>
          <a:xfrm>
            <a:off x="7470648" y="527608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Same idempotency key. Do not start another tender.</a:t>
            </a:r>
            <a:endParaRPr lang="en-US" sz="1200" dirty="0"/>
          </a:p>
        </p:txBody>
      </p:sp>
      <p:sp>
        <p:nvSpPr>
          <p:cNvPr id="45" name="Text 4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STOP</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Cases that end the attempt</a:t>
            </a:r>
            <a:endParaRPr lang="en-US" sz="2600" dirty="0"/>
          </a:p>
        </p:txBody>
      </p:sp>
      <p:sp>
        <p:nvSpPr>
          <p:cNvPr id="5" name="Shape 3"/>
          <p:cNvSpPr/>
          <p:nvPr/>
        </p:nvSpPr>
        <p:spPr>
          <a:xfrm>
            <a:off x="411480" y="1143000"/>
            <a:ext cx="5623560" cy="1207008"/>
          </a:xfrm>
          <a:prstGeom prst="roundRect">
            <a:avLst>
              <a:gd name="adj" fmla="val 6061"/>
            </a:avLst>
          </a:prstGeom>
          <a:solidFill>
            <a:srgbClr val="FFFCF6"/>
          </a:solidFill>
          <a:ln/>
        </p:spPr>
      </p:sp>
      <p:sp>
        <p:nvSpPr>
          <p:cNvPr id="6" name="Shape 4"/>
          <p:cNvSpPr/>
          <p:nvPr/>
        </p:nvSpPr>
        <p:spPr>
          <a:xfrm>
            <a:off x="502920" y="1271016"/>
            <a:ext cx="1097280" cy="256032"/>
          </a:xfrm>
          <a:prstGeom prst="roundRect">
            <a:avLst>
              <a:gd name="adj" fmla="val 21429"/>
            </a:avLst>
          </a:prstGeom>
          <a:solidFill>
            <a:srgbClr val="C8F14F"/>
          </a:solidFill>
          <a:ln/>
        </p:spPr>
      </p:sp>
      <p:sp>
        <p:nvSpPr>
          <p:cNvPr id="7" name="Text 5"/>
          <p:cNvSpPr/>
          <p:nvPr/>
        </p:nvSpPr>
        <p:spPr>
          <a:xfrm>
            <a:off x="502920" y="127101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mandate</a:t>
            </a:r>
            <a:endParaRPr lang="en-US" sz="1100" dirty="0"/>
          </a:p>
        </p:txBody>
      </p:sp>
      <p:sp>
        <p:nvSpPr>
          <p:cNvPr id="8" name="Text 6"/>
          <p:cNvSpPr/>
          <p:nvPr/>
        </p:nvSpPr>
        <p:spPr>
          <a:xfrm>
            <a:off x="1709928" y="119786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User text tries to raise the mandate</a:t>
            </a:r>
            <a:endParaRPr lang="en-US" sz="1300" dirty="0"/>
          </a:p>
        </p:txBody>
      </p:sp>
      <p:sp>
        <p:nvSpPr>
          <p:cNvPr id="9" name="Text 7"/>
          <p:cNvSpPr/>
          <p:nvPr/>
        </p:nvSpPr>
        <p:spPr>
          <a:xfrm>
            <a:off x="1709928" y="143560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This is injection. It is not a bad listing.</a:t>
            </a:r>
            <a:endParaRPr lang="en-US" sz="1200" dirty="0"/>
          </a:p>
        </p:txBody>
      </p:sp>
      <p:sp>
        <p:nvSpPr>
          <p:cNvPr id="10" name="Shape 8"/>
          <p:cNvSpPr/>
          <p:nvPr/>
        </p:nvSpPr>
        <p:spPr>
          <a:xfrm>
            <a:off x="411480" y="2423160"/>
            <a:ext cx="5623560" cy="1207008"/>
          </a:xfrm>
          <a:prstGeom prst="roundRect">
            <a:avLst>
              <a:gd name="adj" fmla="val 6061"/>
            </a:avLst>
          </a:prstGeom>
          <a:solidFill>
            <a:srgbClr val="FFFCF6"/>
          </a:solidFill>
          <a:ln/>
        </p:spPr>
      </p:sp>
      <p:sp>
        <p:nvSpPr>
          <p:cNvPr id="11" name="Shape 9"/>
          <p:cNvSpPr/>
          <p:nvPr/>
        </p:nvSpPr>
        <p:spPr>
          <a:xfrm>
            <a:off x="502920" y="2551176"/>
            <a:ext cx="1097280" cy="256032"/>
          </a:xfrm>
          <a:prstGeom prst="roundRect">
            <a:avLst>
              <a:gd name="adj" fmla="val 21429"/>
            </a:avLst>
          </a:prstGeom>
          <a:solidFill>
            <a:srgbClr val="C8F14F"/>
          </a:solidFill>
          <a:ln/>
        </p:spPr>
      </p:sp>
      <p:sp>
        <p:nvSpPr>
          <p:cNvPr id="12" name="Text 10"/>
          <p:cNvSpPr/>
          <p:nvPr/>
        </p:nvSpPr>
        <p:spPr>
          <a:xfrm>
            <a:off x="502920" y="255117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mandate</a:t>
            </a:r>
            <a:endParaRPr lang="en-US" sz="1100" dirty="0"/>
          </a:p>
        </p:txBody>
      </p:sp>
      <p:sp>
        <p:nvSpPr>
          <p:cNvPr id="13" name="Text 11"/>
          <p:cNvSpPr/>
          <p:nvPr/>
        </p:nvSpPr>
        <p:spPr>
          <a:xfrm>
            <a:off x="1709928" y="247802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Broken form, revoked, or expired</a:t>
            </a:r>
            <a:endParaRPr lang="en-US" sz="1300" dirty="0"/>
          </a:p>
        </p:txBody>
      </p:sp>
      <p:sp>
        <p:nvSpPr>
          <p:cNvPr id="14" name="Text 12"/>
          <p:cNvSpPr/>
          <p:nvPr/>
        </p:nvSpPr>
        <p:spPr>
          <a:xfrm>
            <a:off x="1709928" y="271576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Ask is for a valid form that conflicts. This ends.</a:t>
            </a:r>
            <a:endParaRPr lang="en-US" sz="1200" dirty="0"/>
          </a:p>
        </p:txBody>
      </p:sp>
      <p:sp>
        <p:nvSpPr>
          <p:cNvPr id="15" name="Shape 13"/>
          <p:cNvSpPr/>
          <p:nvPr/>
        </p:nvSpPr>
        <p:spPr>
          <a:xfrm>
            <a:off x="411480" y="3703320"/>
            <a:ext cx="5623560" cy="1207008"/>
          </a:xfrm>
          <a:prstGeom prst="roundRect">
            <a:avLst>
              <a:gd name="adj" fmla="val 6061"/>
            </a:avLst>
          </a:prstGeom>
          <a:solidFill>
            <a:srgbClr val="FFFCF6"/>
          </a:solidFill>
          <a:ln/>
        </p:spPr>
      </p:sp>
      <p:sp>
        <p:nvSpPr>
          <p:cNvPr id="16" name="Shape 14"/>
          <p:cNvSpPr/>
          <p:nvPr/>
        </p:nvSpPr>
        <p:spPr>
          <a:xfrm>
            <a:off x="502920" y="3831336"/>
            <a:ext cx="1097280" cy="256032"/>
          </a:xfrm>
          <a:prstGeom prst="roundRect">
            <a:avLst>
              <a:gd name="adj" fmla="val 21429"/>
            </a:avLst>
          </a:prstGeom>
          <a:solidFill>
            <a:srgbClr val="C8F14F"/>
          </a:solidFill>
          <a:ln/>
        </p:spPr>
      </p:sp>
      <p:sp>
        <p:nvSpPr>
          <p:cNvPr id="17" name="Text 15"/>
          <p:cNvSpPr/>
          <p:nvPr/>
        </p:nvSpPr>
        <p:spPr>
          <a:xfrm>
            <a:off x="502920" y="383133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payer</a:t>
            </a:r>
            <a:endParaRPr lang="en-US" sz="1100" dirty="0"/>
          </a:p>
        </p:txBody>
      </p:sp>
      <p:sp>
        <p:nvSpPr>
          <p:cNvPr id="18" name="Text 16"/>
          <p:cNvSpPr/>
          <p:nvPr/>
        </p:nvSpPr>
        <p:spPr>
          <a:xfrm>
            <a:off x="1709928" y="375818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Quote clock fired</a:t>
            </a:r>
            <a:endParaRPr lang="en-US" sz="1300" dirty="0"/>
          </a:p>
        </p:txBody>
      </p:sp>
      <p:sp>
        <p:nvSpPr>
          <p:cNvPr id="19" name="Text 17"/>
          <p:cNvSpPr/>
          <p:nvPr/>
        </p:nvSpPr>
        <p:spPr>
          <a:xfrm>
            <a:off x="1709928" y="399592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120 seconds on the quote, separate from clarify.</a:t>
            </a:r>
            <a:endParaRPr lang="en-US" sz="1200" dirty="0"/>
          </a:p>
        </p:txBody>
      </p:sp>
      <p:sp>
        <p:nvSpPr>
          <p:cNvPr id="20" name="Shape 18"/>
          <p:cNvSpPr/>
          <p:nvPr/>
        </p:nvSpPr>
        <p:spPr>
          <a:xfrm>
            <a:off x="411480" y="4983480"/>
            <a:ext cx="5623560" cy="1207008"/>
          </a:xfrm>
          <a:prstGeom prst="roundRect">
            <a:avLst>
              <a:gd name="adj" fmla="val 6061"/>
            </a:avLst>
          </a:prstGeom>
          <a:solidFill>
            <a:srgbClr val="FFFCF6"/>
          </a:solidFill>
          <a:ln/>
        </p:spPr>
      </p:sp>
      <p:sp>
        <p:nvSpPr>
          <p:cNvPr id="21" name="Shape 19"/>
          <p:cNvSpPr/>
          <p:nvPr/>
        </p:nvSpPr>
        <p:spPr>
          <a:xfrm>
            <a:off x="502920" y="5111496"/>
            <a:ext cx="1097280" cy="256032"/>
          </a:xfrm>
          <a:prstGeom prst="roundRect">
            <a:avLst>
              <a:gd name="adj" fmla="val 21429"/>
            </a:avLst>
          </a:prstGeom>
          <a:solidFill>
            <a:srgbClr val="C8F14F"/>
          </a:solidFill>
          <a:ln/>
        </p:spPr>
      </p:sp>
      <p:sp>
        <p:nvSpPr>
          <p:cNvPr id="22" name="Text 20"/>
          <p:cNvSpPr/>
          <p:nvPr/>
        </p:nvSpPr>
        <p:spPr>
          <a:xfrm>
            <a:off x="502920" y="511149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shopper</a:t>
            </a:r>
            <a:endParaRPr lang="en-US" sz="1100" dirty="0"/>
          </a:p>
        </p:txBody>
      </p:sp>
      <p:sp>
        <p:nvSpPr>
          <p:cNvPr id="23" name="Text 21"/>
          <p:cNvSpPr/>
          <p:nvPr/>
        </p:nvSpPr>
        <p:spPr>
          <a:xfrm>
            <a:off x="1709928" y="503834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120 seconds of silence, or cancel</a:t>
            </a:r>
            <a:endParaRPr lang="en-US" sz="1300" dirty="0"/>
          </a:p>
        </p:txBody>
      </p:sp>
      <p:sp>
        <p:nvSpPr>
          <p:cNvPr id="24" name="Text 22"/>
          <p:cNvSpPr/>
          <p:nvPr/>
        </p:nvSpPr>
        <p:spPr>
          <a:xfrm>
            <a:off x="1709928" y="527608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Coupon returns to unused.</a:t>
            </a:r>
            <a:endParaRPr lang="en-US" sz="1200" dirty="0"/>
          </a:p>
        </p:txBody>
      </p:sp>
      <p:sp>
        <p:nvSpPr>
          <p:cNvPr id="25" name="Shape 23"/>
          <p:cNvSpPr/>
          <p:nvPr/>
        </p:nvSpPr>
        <p:spPr>
          <a:xfrm>
            <a:off x="6172200" y="1143000"/>
            <a:ext cx="5623560" cy="1207008"/>
          </a:xfrm>
          <a:prstGeom prst="roundRect">
            <a:avLst>
              <a:gd name="adj" fmla="val 6061"/>
            </a:avLst>
          </a:prstGeom>
          <a:solidFill>
            <a:srgbClr val="FFFCF6"/>
          </a:solidFill>
          <a:ln/>
        </p:spPr>
      </p:sp>
      <p:sp>
        <p:nvSpPr>
          <p:cNvPr id="26" name="Shape 24"/>
          <p:cNvSpPr/>
          <p:nvPr/>
        </p:nvSpPr>
        <p:spPr>
          <a:xfrm>
            <a:off x="6263640" y="1271016"/>
            <a:ext cx="1097280" cy="256032"/>
          </a:xfrm>
          <a:prstGeom prst="roundRect">
            <a:avLst>
              <a:gd name="adj" fmla="val 21429"/>
            </a:avLst>
          </a:prstGeom>
          <a:solidFill>
            <a:srgbClr val="C8F14F"/>
          </a:solidFill>
          <a:ln/>
        </p:spPr>
      </p:sp>
      <p:sp>
        <p:nvSpPr>
          <p:cNvPr id="27" name="Text 25"/>
          <p:cNvSpPr/>
          <p:nvPr/>
        </p:nvSpPr>
        <p:spPr>
          <a:xfrm>
            <a:off x="6263640" y="127101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mandate</a:t>
            </a:r>
            <a:endParaRPr lang="en-US" sz="1100" dirty="0"/>
          </a:p>
        </p:txBody>
      </p:sp>
      <p:sp>
        <p:nvSpPr>
          <p:cNvPr id="28" name="Text 26"/>
          <p:cNvSpPr/>
          <p:nvPr/>
        </p:nvSpPr>
        <p:spPr>
          <a:xfrm>
            <a:off x="7470648" y="119786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Week, share, or per-order cannot hold cash</a:t>
            </a:r>
            <a:endParaRPr lang="en-US" sz="1300" dirty="0"/>
          </a:p>
        </p:txBody>
      </p:sp>
      <p:sp>
        <p:nvSpPr>
          <p:cNvPr id="29" name="Text 27"/>
          <p:cNvSpPr/>
          <p:nvPr/>
        </p:nvSpPr>
        <p:spPr>
          <a:xfrm>
            <a:off x="7470648" y="143560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A refund does not refill the week.</a:t>
            </a:r>
            <a:endParaRPr lang="en-US" sz="1200" dirty="0"/>
          </a:p>
        </p:txBody>
      </p:sp>
      <p:sp>
        <p:nvSpPr>
          <p:cNvPr id="30" name="Shape 28"/>
          <p:cNvSpPr/>
          <p:nvPr/>
        </p:nvSpPr>
        <p:spPr>
          <a:xfrm>
            <a:off x="6172200" y="2423160"/>
            <a:ext cx="5623560" cy="1207008"/>
          </a:xfrm>
          <a:prstGeom prst="roundRect">
            <a:avLst>
              <a:gd name="adj" fmla="val 6061"/>
            </a:avLst>
          </a:prstGeom>
          <a:solidFill>
            <a:srgbClr val="FFFCF6"/>
          </a:solidFill>
          <a:ln/>
        </p:spPr>
      </p:sp>
      <p:sp>
        <p:nvSpPr>
          <p:cNvPr id="31" name="Shape 29"/>
          <p:cNvSpPr/>
          <p:nvPr/>
        </p:nvSpPr>
        <p:spPr>
          <a:xfrm>
            <a:off x="6263640" y="2551176"/>
            <a:ext cx="1097280" cy="256032"/>
          </a:xfrm>
          <a:prstGeom prst="roundRect">
            <a:avLst>
              <a:gd name="adj" fmla="val 21429"/>
            </a:avLst>
          </a:prstGeom>
          <a:solidFill>
            <a:srgbClr val="C8F14F"/>
          </a:solidFill>
          <a:ln/>
        </p:spPr>
      </p:sp>
      <p:sp>
        <p:nvSpPr>
          <p:cNvPr id="32" name="Text 30"/>
          <p:cNvSpPr/>
          <p:nvPr/>
        </p:nvSpPr>
        <p:spPr>
          <a:xfrm>
            <a:off x="6263640" y="255117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merchant</a:t>
            </a:r>
            <a:endParaRPr lang="en-US" sz="1100" dirty="0"/>
          </a:p>
        </p:txBody>
      </p:sp>
      <p:sp>
        <p:nvSpPr>
          <p:cNvPr id="33" name="Text 31"/>
          <p:cNvSpPr/>
          <p:nvPr/>
        </p:nvSpPr>
        <p:spPr>
          <a:xfrm>
            <a:off x="7470648" y="247802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Every held offer rejects</a:t>
            </a:r>
            <a:endParaRPr lang="en-US" sz="1300" dirty="0"/>
          </a:p>
        </p:txBody>
      </p:sp>
      <p:sp>
        <p:nvSpPr>
          <p:cNvPr id="34" name="Text 32"/>
          <p:cNvSpPr/>
          <p:nvPr/>
        </p:nvSpPr>
        <p:spPr>
          <a:xfrm>
            <a:off x="7470648" y="271576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Coupon stays unused. One reject is not this case.</a:t>
            </a:r>
            <a:endParaRPr lang="en-US" sz="1200" dirty="0"/>
          </a:p>
        </p:txBody>
      </p:sp>
      <p:sp>
        <p:nvSpPr>
          <p:cNvPr id="35" name="Shape 33"/>
          <p:cNvSpPr/>
          <p:nvPr/>
        </p:nvSpPr>
        <p:spPr>
          <a:xfrm>
            <a:off x="6172200" y="3703320"/>
            <a:ext cx="5623560" cy="1207008"/>
          </a:xfrm>
          <a:prstGeom prst="roundRect">
            <a:avLst>
              <a:gd name="adj" fmla="val 6061"/>
            </a:avLst>
          </a:prstGeom>
          <a:solidFill>
            <a:srgbClr val="FFFCF6"/>
          </a:solidFill>
          <a:ln/>
        </p:spPr>
      </p:sp>
      <p:sp>
        <p:nvSpPr>
          <p:cNvPr id="36" name="Shape 34"/>
          <p:cNvSpPr/>
          <p:nvPr/>
        </p:nvSpPr>
        <p:spPr>
          <a:xfrm>
            <a:off x="6263640" y="3831336"/>
            <a:ext cx="1097280" cy="256032"/>
          </a:xfrm>
          <a:prstGeom prst="roundRect">
            <a:avLst>
              <a:gd name="adj" fmla="val 21429"/>
            </a:avLst>
          </a:prstGeom>
          <a:solidFill>
            <a:srgbClr val="C8F14F"/>
          </a:solidFill>
          <a:ln/>
        </p:spPr>
      </p:sp>
      <p:sp>
        <p:nvSpPr>
          <p:cNvPr id="37" name="Text 35"/>
          <p:cNvSpPr/>
          <p:nvPr/>
        </p:nvSpPr>
        <p:spPr>
          <a:xfrm>
            <a:off x="6263640" y="383133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auditor</a:t>
            </a:r>
            <a:endParaRPr lang="en-US" sz="1100" dirty="0"/>
          </a:p>
        </p:txBody>
      </p:sp>
      <p:sp>
        <p:nvSpPr>
          <p:cNvPr id="38" name="Text 36"/>
          <p:cNvSpPr/>
          <p:nvPr/>
        </p:nvSpPr>
        <p:spPr>
          <a:xfrm>
            <a:off x="7470648" y="375818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No row left with shipping</a:t>
            </a:r>
            <a:endParaRPr lang="en-US" sz="1300" dirty="0"/>
          </a:p>
        </p:txBody>
      </p:sp>
      <p:sp>
        <p:nvSpPr>
          <p:cNvPr id="39" name="Text 37"/>
          <p:cNvSpPr/>
          <p:nvPr/>
        </p:nvSpPr>
        <p:spPr>
          <a:xfrm>
            <a:off x="7470648" y="399592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Missing shipping is not zero.</a:t>
            </a:r>
            <a:endParaRPr lang="en-US" sz="1200" dirty="0"/>
          </a:p>
        </p:txBody>
      </p:sp>
      <p:sp>
        <p:nvSpPr>
          <p:cNvPr id="40" name="Shape 38"/>
          <p:cNvSpPr/>
          <p:nvPr/>
        </p:nvSpPr>
        <p:spPr>
          <a:xfrm>
            <a:off x="6172200" y="4983480"/>
            <a:ext cx="5623560" cy="1207008"/>
          </a:xfrm>
          <a:prstGeom prst="roundRect">
            <a:avLst>
              <a:gd name="adj" fmla="val 6061"/>
            </a:avLst>
          </a:prstGeom>
          <a:solidFill>
            <a:srgbClr val="FFFCF6"/>
          </a:solidFill>
          <a:ln/>
        </p:spPr>
      </p:sp>
      <p:sp>
        <p:nvSpPr>
          <p:cNvPr id="41" name="Shape 39"/>
          <p:cNvSpPr/>
          <p:nvPr/>
        </p:nvSpPr>
        <p:spPr>
          <a:xfrm>
            <a:off x="6263640" y="5111496"/>
            <a:ext cx="1097280" cy="256032"/>
          </a:xfrm>
          <a:prstGeom prst="roundRect">
            <a:avLst>
              <a:gd name="adj" fmla="val 21429"/>
            </a:avLst>
          </a:prstGeom>
          <a:solidFill>
            <a:srgbClr val="C8F14F"/>
          </a:solidFill>
          <a:ln/>
        </p:spPr>
      </p:sp>
      <p:sp>
        <p:nvSpPr>
          <p:cNvPr id="42" name="Text 40"/>
          <p:cNvSpPr/>
          <p:nvPr/>
        </p:nvSpPr>
        <p:spPr>
          <a:xfrm>
            <a:off x="6263640" y="5111496"/>
            <a:ext cx="1097280" cy="256032"/>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payer</a:t>
            </a:r>
            <a:endParaRPr lang="en-US" sz="1100" dirty="0"/>
          </a:p>
        </p:txBody>
      </p:sp>
      <p:sp>
        <p:nvSpPr>
          <p:cNvPr id="43" name="Text 41"/>
          <p:cNvSpPr/>
          <p:nvPr/>
        </p:nvSpPr>
        <p:spPr>
          <a:xfrm>
            <a:off x="7470648" y="5038344"/>
            <a:ext cx="4197096" cy="237744"/>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Timeout before charge, or a card number</a:t>
            </a:r>
            <a:endParaRPr lang="en-US" sz="1300" dirty="0"/>
          </a:p>
        </p:txBody>
      </p:sp>
      <p:sp>
        <p:nvSpPr>
          <p:cNvPr id="44" name="Text 42"/>
          <p:cNvSpPr/>
          <p:nvPr/>
        </p:nvSpPr>
        <p:spPr>
          <a:xfrm>
            <a:off x="7470648" y="5276088"/>
            <a:ext cx="4197096" cy="256032"/>
          </a:xfrm>
          <a:prstGeom prst="rect">
            <a:avLst/>
          </a:prstGeom>
          <a:noFill/>
          <a:ln/>
        </p:spPr>
        <p:txBody>
          <a:bodyPr wrap="square" lIns="0" tIns="0" rIns="0" bIns="0" rtlCol="0" anchor="ctr"/>
          <a:lstStyle/>
          <a:p>
            <a:pPr indent="0" marL="0">
              <a:buNone/>
            </a:pPr>
            <a:r>
              <a:rPr lang="en-US" sz="1200" dirty="0">
                <a:solidFill>
                  <a:srgbClr val="5A584F"/>
                </a:solidFill>
                <a:latin typeface="Calibri" pitchFamily="34" charset="0"/>
                <a:ea typeface="Calibri" pitchFamily="34" charset="-122"/>
                <a:cs typeface="Calibri" pitchFamily="34" charset="-120"/>
              </a:rPr>
              <a:t>No ledger row. Tender without card also stops.</a:t>
            </a:r>
            <a:endParaRPr lang="en-US" sz="1200" dirty="0"/>
          </a:p>
        </p:txBody>
      </p:sp>
      <p:sp>
        <p:nvSpPr>
          <p:cNvPr id="45" name="Text 4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CONTINUE</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A bad row does not end a clean purchase</a:t>
            </a:r>
            <a:endParaRPr lang="en-US" sz="2600" dirty="0"/>
          </a:p>
        </p:txBody>
      </p:sp>
      <p:sp>
        <p:nvSpPr>
          <p:cNvPr id="5" name="Shape 3"/>
          <p:cNvSpPr/>
          <p:nvPr/>
        </p:nvSpPr>
        <p:spPr>
          <a:xfrm>
            <a:off x="411480" y="117043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6" name="Shape 4"/>
          <p:cNvSpPr/>
          <p:nvPr/>
        </p:nvSpPr>
        <p:spPr>
          <a:xfrm>
            <a:off x="557784" y="1316736"/>
            <a:ext cx="128016" cy="128016"/>
          </a:xfrm>
          <a:prstGeom prst="roundRect">
            <a:avLst>
              <a:gd name="adj" fmla="val 28571"/>
            </a:avLst>
          </a:prstGeom>
          <a:solidFill>
            <a:srgbClr val="C8F14F"/>
          </a:solidFill>
          <a:ln/>
        </p:spPr>
      </p:sp>
      <p:sp>
        <p:nvSpPr>
          <p:cNvPr id="7" name="Text 5"/>
          <p:cNvSpPr/>
          <p:nvPr/>
        </p:nvSpPr>
        <p:spPr>
          <a:xfrm>
            <a:off x="777240" y="129844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auditor</a:t>
            </a:r>
            <a:endParaRPr lang="en-US" sz="1200" dirty="0"/>
          </a:p>
        </p:txBody>
      </p:sp>
      <p:sp>
        <p:nvSpPr>
          <p:cNvPr id="8" name="Text 6"/>
          <p:cNvSpPr/>
          <p:nvPr/>
        </p:nvSpPr>
        <p:spPr>
          <a:xfrm>
            <a:off x="576072" y="167335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Poisoned description or review</a:t>
            </a:r>
            <a:endParaRPr lang="en-US" sz="1600" dirty="0"/>
          </a:p>
        </p:txBody>
      </p:sp>
      <p:sp>
        <p:nvSpPr>
          <p:cNvPr id="9" name="Text 7"/>
          <p:cNvSpPr/>
          <p:nvPr/>
        </p:nvSpPr>
        <p:spPr>
          <a:xfrm>
            <a:off x="576072" y="240487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Drop that offer. A clean sku can still reach paid.</a:t>
            </a:r>
            <a:endParaRPr lang="en-US" sz="1400" dirty="0"/>
          </a:p>
        </p:txBody>
      </p:sp>
      <p:sp>
        <p:nvSpPr>
          <p:cNvPr id="10" name="Shape 8"/>
          <p:cNvSpPr/>
          <p:nvPr/>
        </p:nvSpPr>
        <p:spPr>
          <a:xfrm>
            <a:off x="4297680" y="117043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11" name="Shape 9"/>
          <p:cNvSpPr/>
          <p:nvPr/>
        </p:nvSpPr>
        <p:spPr>
          <a:xfrm>
            <a:off x="4443984" y="1316736"/>
            <a:ext cx="128016" cy="128016"/>
          </a:xfrm>
          <a:prstGeom prst="roundRect">
            <a:avLst>
              <a:gd name="adj" fmla="val 28571"/>
            </a:avLst>
          </a:prstGeom>
          <a:solidFill>
            <a:srgbClr val="C8F14F"/>
          </a:solidFill>
          <a:ln/>
        </p:spPr>
      </p:sp>
      <p:sp>
        <p:nvSpPr>
          <p:cNvPr id="12" name="Text 10"/>
          <p:cNvSpPr/>
          <p:nvPr/>
        </p:nvSpPr>
        <p:spPr>
          <a:xfrm>
            <a:off x="4663440" y="129844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auditor</a:t>
            </a:r>
            <a:endParaRPr lang="en-US" sz="1200" dirty="0"/>
          </a:p>
        </p:txBody>
      </p:sp>
      <p:sp>
        <p:nvSpPr>
          <p:cNvPr id="13" name="Text 11"/>
          <p:cNvSpPr/>
          <p:nvPr/>
        </p:nvSpPr>
        <p:spPr>
          <a:xfrm>
            <a:off x="4462272" y="167335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Agent price above the human price</a:t>
            </a:r>
            <a:endParaRPr lang="en-US" sz="1600" dirty="0"/>
          </a:p>
        </p:txBody>
      </p:sp>
      <p:sp>
        <p:nvSpPr>
          <p:cNvPr id="14" name="Text 12"/>
          <p:cNvSpPr/>
          <p:nvPr/>
        </p:nvSpPr>
        <p:spPr>
          <a:xfrm>
            <a:off x="4462272" y="240487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Drop and log it. Do not terminate the request.</a:t>
            </a:r>
            <a:endParaRPr lang="en-US" sz="1400" dirty="0"/>
          </a:p>
        </p:txBody>
      </p:sp>
      <p:sp>
        <p:nvSpPr>
          <p:cNvPr id="15" name="Shape 13"/>
          <p:cNvSpPr/>
          <p:nvPr/>
        </p:nvSpPr>
        <p:spPr>
          <a:xfrm>
            <a:off x="8183880" y="117043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16" name="Shape 14"/>
          <p:cNvSpPr/>
          <p:nvPr/>
        </p:nvSpPr>
        <p:spPr>
          <a:xfrm>
            <a:off x="8330184" y="1316736"/>
            <a:ext cx="128016" cy="128016"/>
          </a:xfrm>
          <a:prstGeom prst="roundRect">
            <a:avLst>
              <a:gd name="adj" fmla="val 28571"/>
            </a:avLst>
          </a:prstGeom>
          <a:solidFill>
            <a:srgbClr val="C8F14F"/>
          </a:solidFill>
          <a:ln/>
        </p:spPr>
      </p:sp>
      <p:sp>
        <p:nvSpPr>
          <p:cNvPr id="17" name="Text 15"/>
          <p:cNvSpPr/>
          <p:nvPr/>
        </p:nvSpPr>
        <p:spPr>
          <a:xfrm>
            <a:off x="8549640" y="129844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merchant</a:t>
            </a:r>
            <a:endParaRPr lang="en-US" sz="1200" dirty="0"/>
          </a:p>
        </p:txBody>
      </p:sp>
      <p:sp>
        <p:nvSpPr>
          <p:cNvPr id="18" name="Text 16"/>
          <p:cNvSpPr/>
          <p:nvPr/>
        </p:nvSpPr>
        <p:spPr>
          <a:xfrm>
            <a:off x="8348472" y="167335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First offer rejects, second accepts</a:t>
            </a:r>
            <a:endParaRPr lang="en-US" sz="1600" dirty="0"/>
          </a:p>
        </p:txBody>
      </p:sp>
      <p:sp>
        <p:nvSpPr>
          <p:cNvPr id="19" name="Text 17"/>
          <p:cNvSpPr/>
          <p:nvPr/>
        </p:nvSpPr>
        <p:spPr>
          <a:xfrm>
            <a:off x="8348472" y="240487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Hold the second. The attempt continues.</a:t>
            </a:r>
            <a:endParaRPr lang="en-US" sz="1400" dirty="0"/>
          </a:p>
        </p:txBody>
      </p:sp>
      <p:sp>
        <p:nvSpPr>
          <p:cNvPr id="20" name="Shape 18"/>
          <p:cNvSpPr/>
          <p:nvPr/>
        </p:nvSpPr>
        <p:spPr>
          <a:xfrm>
            <a:off x="411480" y="373075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21" name="Shape 19"/>
          <p:cNvSpPr/>
          <p:nvPr/>
        </p:nvSpPr>
        <p:spPr>
          <a:xfrm>
            <a:off x="557784" y="3877056"/>
            <a:ext cx="128016" cy="128016"/>
          </a:xfrm>
          <a:prstGeom prst="roundRect">
            <a:avLst>
              <a:gd name="adj" fmla="val 28571"/>
            </a:avLst>
          </a:prstGeom>
          <a:solidFill>
            <a:srgbClr val="C8F14F"/>
          </a:solidFill>
          <a:ln/>
        </p:spPr>
      </p:sp>
      <p:sp>
        <p:nvSpPr>
          <p:cNvPr id="22" name="Text 20"/>
          <p:cNvSpPr/>
          <p:nvPr/>
        </p:nvSpPr>
        <p:spPr>
          <a:xfrm>
            <a:off x="777240" y="385876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payer</a:t>
            </a:r>
            <a:endParaRPr lang="en-US" sz="1200" dirty="0"/>
          </a:p>
        </p:txBody>
      </p:sp>
      <p:sp>
        <p:nvSpPr>
          <p:cNvPr id="23" name="Text 21"/>
          <p:cNvSpPr/>
          <p:nvPr/>
        </p:nvSpPr>
        <p:spPr>
          <a:xfrm>
            <a:off x="576072" y="423367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Timeout after the charge</a:t>
            </a:r>
            <a:endParaRPr lang="en-US" sz="1600" dirty="0"/>
          </a:p>
        </p:txBody>
      </p:sp>
      <p:sp>
        <p:nvSpPr>
          <p:cNvPr id="24" name="Text 22"/>
          <p:cNvSpPr/>
          <p:nvPr/>
        </p:nvSpPr>
        <p:spPr>
          <a:xfrm>
            <a:off x="576072" y="496519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Retry the same key. Book once.</a:t>
            </a:r>
            <a:endParaRPr lang="en-US" sz="1400" dirty="0"/>
          </a:p>
        </p:txBody>
      </p:sp>
      <p:sp>
        <p:nvSpPr>
          <p:cNvPr id="25" name="Shape 23"/>
          <p:cNvSpPr/>
          <p:nvPr/>
        </p:nvSpPr>
        <p:spPr>
          <a:xfrm>
            <a:off x="4297680" y="373075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26" name="Shape 24"/>
          <p:cNvSpPr/>
          <p:nvPr/>
        </p:nvSpPr>
        <p:spPr>
          <a:xfrm>
            <a:off x="4443984" y="3877056"/>
            <a:ext cx="128016" cy="128016"/>
          </a:xfrm>
          <a:prstGeom prst="roundRect">
            <a:avLst>
              <a:gd name="adj" fmla="val 28571"/>
            </a:avLst>
          </a:prstGeom>
          <a:solidFill>
            <a:srgbClr val="C8F14F"/>
          </a:solidFill>
          <a:ln/>
        </p:spPr>
      </p:sp>
      <p:sp>
        <p:nvSpPr>
          <p:cNvPr id="27" name="Text 25"/>
          <p:cNvSpPr/>
          <p:nvPr/>
        </p:nvSpPr>
        <p:spPr>
          <a:xfrm>
            <a:off x="4663440" y="385876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money</a:t>
            </a:r>
            <a:endParaRPr lang="en-US" sz="1200" dirty="0"/>
          </a:p>
        </p:txBody>
      </p:sp>
      <p:sp>
        <p:nvSpPr>
          <p:cNvPr id="28" name="Text 26"/>
          <p:cNvSpPr/>
          <p:nvPr/>
        </p:nvSpPr>
        <p:spPr>
          <a:xfrm>
            <a:off x="4462272" y="423367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Gift of 100, rewards on</a:t>
            </a:r>
            <a:endParaRPr lang="en-US" sz="1600" dirty="0"/>
          </a:p>
        </p:txBody>
      </p:sp>
      <p:sp>
        <p:nvSpPr>
          <p:cNvPr id="29" name="Text 27"/>
          <p:cNvSpPr/>
          <p:nvPr/>
        </p:nvSpPr>
        <p:spPr>
          <a:xfrm>
            <a:off x="4462272" y="496519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Effective falls by 50. Book 350, not 300.</a:t>
            </a:r>
            <a:endParaRPr lang="en-US" sz="1400" dirty="0"/>
          </a:p>
        </p:txBody>
      </p:sp>
      <p:sp>
        <p:nvSpPr>
          <p:cNvPr id="30" name="Shape 28"/>
          <p:cNvSpPr/>
          <p:nvPr/>
        </p:nvSpPr>
        <p:spPr>
          <a:xfrm>
            <a:off x="8183880" y="3730752"/>
            <a:ext cx="3703320" cy="2377440"/>
          </a:xfrm>
          <a:prstGeom prst="roundRect">
            <a:avLst>
              <a:gd name="adj" fmla="val 3846"/>
            </a:avLst>
          </a:prstGeom>
          <a:solidFill>
            <a:srgbClr val="FFFCF6"/>
          </a:solidFill>
          <a:ln/>
          <a:effectLst>
            <a:outerShdw sx="100000" sy="100000" kx="0" ky="0" algn="bl" rotWithShape="0" blurRad="177800" dist="50800" dir="5400000">
              <a:srgbClr val="141414">
                <a:alpha val="8000"/>
              </a:srgbClr>
            </a:outerShdw>
          </a:effectLst>
        </p:spPr>
      </p:sp>
      <p:sp>
        <p:nvSpPr>
          <p:cNvPr id="31" name="Shape 29"/>
          <p:cNvSpPr/>
          <p:nvPr/>
        </p:nvSpPr>
        <p:spPr>
          <a:xfrm>
            <a:off x="8330184" y="3877056"/>
            <a:ext cx="128016" cy="128016"/>
          </a:xfrm>
          <a:prstGeom prst="roundRect">
            <a:avLst>
              <a:gd name="adj" fmla="val 28571"/>
            </a:avLst>
          </a:prstGeom>
          <a:solidFill>
            <a:srgbClr val="C8F14F"/>
          </a:solidFill>
          <a:ln/>
        </p:spPr>
      </p:sp>
      <p:sp>
        <p:nvSpPr>
          <p:cNvPr id="32" name="Text 30"/>
          <p:cNvSpPr/>
          <p:nvPr/>
        </p:nvSpPr>
        <p:spPr>
          <a:xfrm>
            <a:off x="8549640" y="3858768"/>
            <a:ext cx="3108960" cy="256032"/>
          </a:xfrm>
          <a:prstGeom prst="rect">
            <a:avLst/>
          </a:prstGeom>
          <a:noFill/>
          <a:ln/>
        </p:spPr>
        <p:txBody>
          <a:bodyPr wrap="square" lIns="0" tIns="0" rIns="0" bIns="0" rtlCol="0" anchor="ctr"/>
          <a:lstStyle/>
          <a:p>
            <a:pPr indent="0" marL="0">
              <a:buNone/>
            </a:pPr>
            <a:r>
              <a:rPr lang="en-US" sz="1200" b="1" dirty="0">
                <a:solidFill>
                  <a:srgbClr val="5A584F"/>
                </a:solidFill>
                <a:latin typeface="Calibri" pitchFamily="34" charset="0"/>
                <a:ea typeface="Calibri" pitchFamily="34" charset="-122"/>
                <a:cs typeface="Calibri" pitchFamily="34" charset="-120"/>
              </a:rPr>
              <a:t>payer</a:t>
            </a:r>
            <a:endParaRPr lang="en-US" sz="1200" dirty="0"/>
          </a:p>
        </p:txBody>
      </p:sp>
      <p:sp>
        <p:nvSpPr>
          <p:cNvPr id="33" name="Text 31"/>
          <p:cNvSpPr/>
          <p:nvPr/>
        </p:nvSpPr>
        <p:spPr>
          <a:xfrm>
            <a:off x="8348472" y="4233672"/>
            <a:ext cx="3383280" cy="64008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Refund the receipt</a:t>
            </a:r>
            <a:endParaRPr lang="en-US" sz="1600" dirty="0"/>
          </a:p>
        </p:txBody>
      </p:sp>
      <p:sp>
        <p:nvSpPr>
          <p:cNvPr id="34" name="Text 32"/>
          <p:cNvSpPr/>
          <p:nvPr/>
        </p:nvSpPr>
        <p:spPr>
          <a:xfrm>
            <a:off x="8348472" y="4965192"/>
            <a:ext cx="3383280" cy="86868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Mark it. Reverse cashback. The week still counts the cash.</a:t>
            </a:r>
            <a:endParaRPr lang="en-US" sz="1400" dirty="0"/>
          </a:p>
        </p:txBody>
      </p:sp>
      <p:sp>
        <p:nvSpPr>
          <p:cNvPr id="35" name="Text 3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MERCHANT</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One website, four possible answers</a:t>
            </a:r>
            <a:endParaRPr lang="en-US" sz="2600" dirty="0"/>
          </a:p>
        </p:txBody>
      </p:sp>
      <p:sp>
        <p:nvSpPr>
          <p:cNvPr id="5" name="Shape 3"/>
          <p:cNvSpPr/>
          <p:nvPr/>
        </p:nvSpPr>
        <p:spPr>
          <a:xfrm>
            <a:off x="411480" y="1115568"/>
            <a:ext cx="2286000" cy="841248"/>
          </a:xfrm>
          <a:prstGeom prst="roundRect">
            <a:avLst>
              <a:gd name="adj" fmla="val 10870"/>
            </a:avLst>
          </a:prstGeom>
          <a:solidFill>
            <a:srgbClr val="C8F14F"/>
          </a:solidFill>
          <a:ln/>
        </p:spPr>
      </p:sp>
      <p:sp>
        <p:nvSpPr>
          <p:cNvPr id="6" name="Text 4"/>
          <p:cNvSpPr/>
          <p:nvPr/>
        </p:nvSpPr>
        <p:spPr>
          <a:xfrm>
            <a:off x="411480" y="1115568"/>
            <a:ext cx="2286000" cy="841248"/>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Accept</a:t>
            </a:r>
            <a:endParaRPr lang="en-US" sz="1400" dirty="0"/>
          </a:p>
        </p:txBody>
      </p:sp>
      <p:sp>
        <p:nvSpPr>
          <p:cNvPr id="7" name="Shape 5"/>
          <p:cNvSpPr/>
          <p:nvPr/>
        </p:nvSpPr>
        <p:spPr>
          <a:xfrm>
            <a:off x="2834640" y="1115568"/>
            <a:ext cx="4892040" cy="841248"/>
          </a:xfrm>
          <a:prstGeom prst="roundRect">
            <a:avLst>
              <a:gd name="adj" fmla="val 10870"/>
            </a:avLst>
          </a:prstGeom>
          <a:solidFill>
            <a:srgbClr val="FFFCF6"/>
          </a:solidFill>
          <a:ln/>
        </p:spPr>
      </p:sp>
      <p:sp>
        <p:nvSpPr>
          <p:cNvPr id="8" name="Text 6"/>
          <p:cNvSpPr/>
          <p:nvPr/>
        </p:nvSpPr>
        <p:spPr>
          <a:xfrm>
            <a:off x="2999232" y="1115568"/>
            <a:ext cx="4572000" cy="841248"/>
          </a:xfrm>
          <a:prstGeom prst="rect">
            <a:avLst/>
          </a:prstGeom>
          <a:noFill/>
          <a:ln/>
        </p:spPr>
        <p:txBody>
          <a:bodyPr wrap="square" lIns="0" tIns="0" rIns="0" bIns="0" rtlCol="0" anchor="ctr"/>
          <a:lstStyle/>
          <a:p>
            <a:pPr indent="0" marL="0">
              <a:buNone/>
            </a:pPr>
            <a:r>
              <a:rPr lang="en-US" sz="1300" dirty="0">
                <a:solidFill>
                  <a:srgbClr val="141414"/>
                </a:solidFill>
                <a:latin typeface="Calibri" pitchFamily="34" charset="0"/>
                <a:ea typeface="Calibri" pitchFamily="34" charset="-122"/>
                <a:cs typeface="Calibri" pitchFamily="34" charset="-120"/>
              </a:rPr>
              <a:t>In stock, coupon free, shelf, coupon, shipping, and currency unchanged. Coupon becomes reserved.</a:t>
            </a:r>
            <a:endParaRPr lang="en-US" sz="1300" dirty="0"/>
          </a:p>
        </p:txBody>
      </p:sp>
      <p:sp>
        <p:nvSpPr>
          <p:cNvPr id="9" name="Shape 7"/>
          <p:cNvSpPr/>
          <p:nvPr/>
        </p:nvSpPr>
        <p:spPr>
          <a:xfrm>
            <a:off x="411480" y="2075688"/>
            <a:ext cx="2286000" cy="841248"/>
          </a:xfrm>
          <a:prstGeom prst="roundRect">
            <a:avLst>
              <a:gd name="adj" fmla="val 10870"/>
            </a:avLst>
          </a:prstGeom>
          <a:solidFill>
            <a:srgbClr val="141414"/>
          </a:solidFill>
          <a:ln/>
        </p:spPr>
      </p:sp>
      <p:sp>
        <p:nvSpPr>
          <p:cNvPr id="10" name="Text 8"/>
          <p:cNvSpPr/>
          <p:nvPr/>
        </p:nvSpPr>
        <p:spPr>
          <a:xfrm>
            <a:off x="411480" y="2075688"/>
            <a:ext cx="2286000" cy="841248"/>
          </a:xfrm>
          <a:prstGeom prst="rect">
            <a:avLst/>
          </a:prstGeom>
          <a:noFill/>
          <a:ln/>
        </p:spPr>
        <p:txBody>
          <a:bodyPr wrap="square" lIns="0" tIns="0" rIns="0" bIns="0" rtlCol="0" anchor="ctr"/>
          <a:lstStyle/>
          <a:p>
            <a:pPr algn="ctr" indent="0" marL="0">
              <a:buNone/>
            </a:pPr>
            <a:r>
              <a:rPr lang="en-US" sz="1400" b="1" dirty="0">
                <a:solidFill>
                  <a:srgbClr val="C8F14F"/>
                </a:solidFill>
                <a:latin typeface="Calibri" pitchFamily="34" charset="0"/>
                <a:ea typeface="Calibri" pitchFamily="34" charset="-122"/>
                <a:cs typeface="Calibri" pitchFamily="34" charset="-120"/>
              </a:rPr>
              <a:t>out_of_stock</a:t>
            </a:r>
            <a:endParaRPr lang="en-US" sz="1400" dirty="0"/>
          </a:p>
        </p:txBody>
      </p:sp>
      <p:sp>
        <p:nvSpPr>
          <p:cNvPr id="11" name="Shape 9"/>
          <p:cNvSpPr/>
          <p:nvPr/>
        </p:nvSpPr>
        <p:spPr>
          <a:xfrm>
            <a:off x="2834640" y="2075688"/>
            <a:ext cx="4892040" cy="841248"/>
          </a:xfrm>
          <a:prstGeom prst="roundRect">
            <a:avLst>
              <a:gd name="adj" fmla="val 10870"/>
            </a:avLst>
          </a:prstGeom>
          <a:solidFill>
            <a:srgbClr val="FFFCF6"/>
          </a:solidFill>
          <a:ln/>
        </p:spPr>
      </p:sp>
      <p:sp>
        <p:nvSpPr>
          <p:cNvPr id="12" name="Text 10"/>
          <p:cNvSpPr/>
          <p:nvPr/>
        </p:nvSpPr>
        <p:spPr>
          <a:xfrm>
            <a:off x="2999232" y="2075688"/>
            <a:ext cx="4572000" cy="841248"/>
          </a:xfrm>
          <a:prstGeom prst="rect">
            <a:avLst/>
          </a:prstGeom>
          <a:noFill/>
          <a:ln/>
        </p:spPr>
        <p:txBody>
          <a:bodyPr wrap="square" lIns="0" tIns="0" rIns="0" bIns="0" rtlCol="0" anchor="ctr"/>
          <a:lstStyle/>
          <a:p>
            <a:pPr indent="0" marL="0">
              <a:buNone/>
            </a:pPr>
            <a:r>
              <a:rPr lang="en-US" sz="1300" dirty="0">
                <a:solidFill>
                  <a:srgbClr val="141414"/>
                </a:solidFill>
                <a:latin typeface="Calibri" pitchFamily="34" charset="0"/>
                <a:ea typeface="Calibri" pitchFamily="34" charset="-122"/>
                <a:cs typeface="Calibri" pitchFamily="34" charset="-120"/>
              </a:rPr>
              <a:t>The row is missing or stock is false. Coupon stays unused.</a:t>
            </a:r>
            <a:endParaRPr lang="en-US" sz="1300" dirty="0"/>
          </a:p>
        </p:txBody>
      </p:sp>
      <p:sp>
        <p:nvSpPr>
          <p:cNvPr id="13" name="Shape 11"/>
          <p:cNvSpPr/>
          <p:nvPr/>
        </p:nvSpPr>
        <p:spPr>
          <a:xfrm>
            <a:off x="411480" y="3035808"/>
            <a:ext cx="2286000" cy="841248"/>
          </a:xfrm>
          <a:prstGeom prst="roundRect">
            <a:avLst>
              <a:gd name="adj" fmla="val 10870"/>
            </a:avLst>
          </a:prstGeom>
          <a:solidFill>
            <a:srgbClr val="141414"/>
          </a:solidFill>
          <a:ln/>
        </p:spPr>
      </p:sp>
      <p:sp>
        <p:nvSpPr>
          <p:cNvPr id="14" name="Text 12"/>
          <p:cNvSpPr/>
          <p:nvPr/>
        </p:nvSpPr>
        <p:spPr>
          <a:xfrm>
            <a:off x="411480" y="3035808"/>
            <a:ext cx="2286000" cy="841248"/>
          </a:xfrm>
          <a:prstGeom prst="rect">
            <a:avLst/>
          </a:prstGeom>
          <a:noFill/>
          <a:ln/>
        </p:spPr>
        <p:txBody>
          <a:bodyPr wrap="square" lIns="0" tIns="0" rIns="0" bIns="0" rtlCol="0" anchor="ctr"/>
          <a:lstStyle/>
          <a:p>
            <a:pPr algn="ctr" indent="0" marL="0">
              <a:buNone/>
            </a:pPr>
            <a:r>
              <a:rPr lang="en-US" sz="1400" b="1" dirty="0">
                <a:solidFill>
                  <a:srgbClr val="C8F14F"/>
                </a:solidFill>
                <a:latin typeface="Calibri" pitchFamily="34" charset="0"/>
                <a:ea typeface="Calibri" pitchFamily="34" charset="-122"/>
                <a:cs typeface="Calibri" pitchFamily="34" charset="-120"/>
              </a:rPr>
              <a:t>coupon_gone</a:t>
            </a:r>
            <a:endParaRPr lang="en-US" sz="1400" dirty="0"/>
          </a:p>
        </p:txBody>
      </p:sp>
      <p:sp>
        <p:nvSpPr>
          <p:cNvPr id="15" name="Shape 13"/>
          <p:cNvSpPr/>
          <p:nvPr/>
        </p:nvSpPr>
        <p:spPr>
          <a:xfrm>
            <a:off x="2834640" y="3035808"/>
            <a:ext cx="4892040" cy="841248"/>
          </a:xfrm>
          <a:prstGeom prst="roundRect">
            <a:avLst>
              <a:gd name="adj" fmla="val 10870"/>
            </a:avLst>
          </a:prstGeom>
          <a:solidFill>
            <a:srgbClr val="FFFCF6"/>
          </a:solidFill>
          <a:ln/>
        </p:spPr>
      </p:sp>
      <p:sp>
        <p:nvSpPr>
          <p:cNvPr id="16" name="Text 14"/>
          <p:cNvSpPr/>
          <p:nvPr/>
        </p:nvSpPr>
        <p:spPr>
          <a:xfrm>
            <a:off x="2999232" y="3035808"/>
            <a:ext cx="4572000" cy="841248"/>
          </a:xfrm>
          <a:prstGeom prst="rect">
            <a:avLst/>
          </a:prstGeom>
          <a:noFill/>
          <a:ln/>
        </p:spPr>
        <p:txBody>
          <a:bodyPr wrap="square" lIns="0" tIns="0" rIns="0" bIns="0" rtlCol="0" anchor="ctr"/>
          <a:lstStyle/>
          <a:p>
            <a:pPr indent="0" marL="0">
              <a:buNone/>
            </a:pPr>
            <a:r>
              <a:rPr lang="en-US" sz="1300" dirty="0">
                <a:solidFill>
                  <a:srgbClr val="141414"/>
                </a:solidFill>
                <a:latin typeface="Calibri" pitchFamily="34" charset="0"/>
                <a:ea typeface="Calibri" pitchFamily="34" charset="-122"/>
                <a:cs typeface="Calibri" pitchFamily="34" charset="-120"/>
              </a:rPr>
              <a:t>That coupon was already taken. Coupon stays unused.</a:t>
            </a:r>
            <a:endParaRPr lang="en-US" sz="1300" dirty="0"/>
          </a:p>
        </p:txBody>
      </p:sp>
      <p:sp>
        <p:nvSpPr>
          <p:cNvPr id="17" name="Shape 15"/>
          <p:cNvSpPr/>
          <p:nvPr/>
        </p:nvSpPr>
        <p:spPr>
          <a:xfrm>
            <a:off x="411480" y="3995928"/>
            <a:ext cx="2286000" cy="841248"/>
          </a:xfrm>
          <a:prstGeom prst="roundRect">
            <a:avLst>
              <a:gd name="adj" fmla="val 10870"/>
            </a:avLst>
          </a:prstGeom>
          <a:solidFill>
            <a:srgbClr val="141414"/>
          </a:solidFill>
          <a:ln/>
        </p:spPr>
      </p:sp>
      <p:sp>
        <p:nvSpPr>
          <p:cNvPr id="18" name="Text 16"/>
          <p:cNvSpPr/>
          <p:nvPr/>
        </p:nvSpPr>
        <p:spPr>
          <a:xfrm>
            <a:off x="411480" y="3995928"/>
            <a:ext cx="2286000" cy="841248"/>
          </a:xfrm>
          <a:prstGeom prst="rect">
            <a:avLst/>
          </a:prstGeom>
          <a:noFill/>
          <a:ln/>
        </p:spPr>
        <p:txBody>
          <a:bodyPr wrap="square" lIns="0" tIns="0" rIns="0" bIns="0" rtlCol="0" anchor="ctr"/>
          <a:lstStyle/>
          <a:p>
            <a:pPr algn="ctr" indent="0" marL="0">
              <a:buNone/>
            </a:pPr>
            <a:r>
              <a:rPr lang="en-US" sz="1400" b="1" dirty="0">
                <a:solidFill>
                  <a:srgbClr val="C8F14F"/>
                </a:solidFill>
                <a:latin typeface="Calibri" pitchFamily="34" charset="0"/>
                <a:ea typeface="Calibri" pitchFamily="34" charset="-122"/>
                <a:cs typeface="Calibri" pitchFamily="34" charset="-120"/>
              </a:rPr>
              <a:t>price_mismatch</a:t>
            </a:r>
            <a:endParaRPr lang="en-US" sz="1400" dirty="0"/>
          </a:p>
        </p:txBody>
      </p:sp>
      <p:sp>
        <p:nvSpPr>
          <p:cNvPr id="19" name="Shape 17"/>
          <p:cNvSpPr/>
          <p:nvPr/>
        </p:nvSpPr>
        <p:spPr>
          <a:xfrm>
            <a:off x="2834640" y="3995928"/>
            <a:ext cx="4892040" cy="841248"/>
          </a:xfrm>
          <a:prstGeom prst="roundRect">
            <a:avLst>
              <a:gd name="adj" fmla="val 10870"/>
            </a:avLst>
          </a:prstGeom>
          <a:solidFill>
            <a:srgbClr val="FFFCF6"/>
          </a:solidFill>
          <a:ln/>
        </p:spPr>
      </p:sp>
      <p:sp>
        <p:nvSpPr>
          <p:cNvPr id="20" name="Text 18"/>
          <p:cNvSpPr/>
          <p:nvPr/>
        </p:nvSpPr>
        <p:spPr>
          <a:xfrm>
            <a:off x="2999232" y="3995928"/>
            <a:ext cx="4572000" cy="841248"/>
          </a:xfrm>
          <a:prstGeom prst="rect">
            <a:avLst/>
          </a:prstGeom>
          <a:noFill/>
          <a:ln/>
        </p:spPr>
        <p:txBody>
          <a:bodyPr wrap="square" lIns="0" tIns="0" rIns="0" bIns="0" rtlCol="0" anchor="ctr"/>
          <a:lstStyle/>
          <a:p>
            <a:pPr indent="0" marL="0">
              <a:buNone/>
            </a:pPr>
            <a:r>
              <a:rPr lang="en-US" sz="1300" dirty="0">
                <a:solidFill>
                  <a:srgbClr val="141414"/>
                </a:solidFill>
                <a:latin typeface="Calibri" pitchFamily="34" charset="0"/>
                <a:ea typeface="Calibri" pitchFamily="34" charset="-122"/>
                <a:cs typeface="Calibri" pitchFamily="34" charset="-120"/>
              </a:rPr>
              <a:t>Shelf, coupon, shipping, or currency moved. Coupon stays unused.</a:t>
            </a:r>
            <a:endParaRPr lang="en-US" sz="1300" dirty="0"/>
          </a:p>
        </p:txBody>
      </p:sp>
      <p:sp>
        <p:nvSpPr>
          <p:cNvPr id="21" name="Shape 19"/>
          <p:cNvSpPr/>
          <p:nvPr/>
        </p:nvSpPr>
        <p:spPr>
          <a:xfrm>
            <a:off x="7909560" y="1115568"/>
            <a:ext cx="3840480" cy="4709160"/>
          </a:xfrm>
          <a:prstGeom prst="roundRect">
            <a:avLst>
              <a:gd name="adj" fmla="val 2381"/>
            </a:avLst>
          </a:prstGeom>
          <a:solidFill>
            <a:srgbClr val="FFFCF6"/>
          </a:solidFill>
          <a:ln/>
          <a:effectLst>
            <a:outerShdw sx="100000" sy="100000" kx="0" ky="0" algn="bl" rotWithShape="0" blurRad="177800" dist="50800" dir="5400000">
              <a:srgbClr val="141414">
                <a:alpha val="8000"/>
              </a:srgbClr>
            </a:outerShdw>
          </a:effectLst>
        </p:spPr>
      </p:sp>
      <p:sp>
        <p:nvSpPr>
          <p:cNvPr id="22" name="Shape 20"/>
          <p:cNvSpPr/>
          <p:nvPr/>
        </p:nvSpPr>
        <p:spPr>
          <a:xfrm>
            <a:off x="8055864" y="1261872"/>
            <a:ext cx="128016" cy="128016"/>
          </a:xfrm>
          <a:prstGeom prst="roundRect">
            <a:avLst>
              <a:gd name="adj" fmla="val 28571"/>
            </a:avLst>
          </a:prstGeom>
          <a:solidFill>
            <a:srgbClr val="C8F14F"/>
          </a:solidFill>
          <a:ln/>
        </p:spPr>
      </p:sp>
      <p:sp>
        <p:nvSpPr>
          <p:cNvPr id="23" name="Text 21"/>
          <p:cNvSpPr/>
          <p:nvPr/>
        </p:nvSpPr>
        <p:spPr>
          <a:xfrm>
            <a:off x="8119872" y="1554480"/>
            <a:ext cx="3474720" cy="365760"/>
          </a:xfrm>
          <a:prstGeom prst="rect">
            <a:avLst/>
          </a:prstGeom>
          <a:noFill/>
          <a:ln/>
        </p:spPr>
        <p:txBody>
          <a:bodyPr wrap="square" lIns="0" tIns="0" rIns="0" bIns="0" rtlCol="0" anchor="ctr"/>
          <a:lstStyle/>
          <a:p>
            <a:pPr indent="0" marL="0">
              <a:buNone/>
            </a:pPr>
            <a:r>
              <a:rPr lang="en-US" sz="1800" dirty="0">
                <a:solidFill>
                  <a:srgbClr val="141414"/>
                </a:solidFill>
                <a:latin typeface="Cambria" pitchFamily="34" charset="0"/>
                <a:ea typeface="Cambria" pitchFamily="34" charset="-122"/>
                <a:cs typeface="Cambria" pitchFamily="34" charset="-120"/>
              </a:rPr>
              <a:t>One counter, in the tests</a:t>
            </a:r>
            <a:endParaRPr lang="en-US" sz="1800" dirty="0"/>
          </a:p>
        </p:txBody>
      </p:sp>
      <p:sp>
        <p:nvSpPr>
          <p:cNvPr id="24" name="Text 22"/>
          <p:cNvSpPr/>
          <p:nvPr/>
        </p:nvSpPr>
        <p:spPr>
          <a:xfrm>
            <a:off x="8119872" y="2057400"/>
            <a:ext cx="3429000" cy="2286000"/>
          </a:xfrm>
          <a:prstGeom prst="rect">
            <a:avLst/>
          </a:prstGeom>
          <a:noFill/>
          <a:ln/>
        </p:spPr>
        <p:txBody>
          <a:bodyPr wrap="square" lIns="0" tIns="0" rIns="0" bIns="0" rtlCol="0" anchor="ctr"/>
          <a:lstStyle/>
          <a:p>
            <a:pPr indent="0" marL="0">
              <a:buNone/>
            </a:pPr>
            <a:r>
              <a:rPr lang="en-US" sz="1400" dirty="0">
                <a:solidFill>
                  <a:srgbClr val="5A584F"/>
                </a:solidFill>
                <a:latin typeface="Calibri" pitchFamily="34" charset="0"/>
                <a:ea typeface="Calibri" pitchFamily="34" charset="-122"/>
                <a:cs typeface="Calibri" pitchFamily="34" charset="-120"/>
              </a:rPr>
              <a:t>Shipping or the coupon may change once. Shelf cannot rise above the human price. Shipping cannot disappear. Instruction text is vetoed. Cash 410 against a 400 per-order limit is refused. There is no second counter.</a:t>
            </a:r>
            <a:endParaRPr lang="en-US" sz="1400" dirty="0"/>
          </a:p>
        </p:txBody>
      </p:sp>
      <p:sp>
        <p:nvSpPr>
          <p:cNvPr id="25" name="Text 23"/>
          <p:cNvSpPr/>
          <p:nvPr/>
        </p:nvSpPr>
        <p:spPr>
          <a:xfrm>
            <a:off x="8119872" y="4709160"/>
            <a:ext cx="3429000" cy="365760"/>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Not on the click-through sku.</a:t>
            </a:r>
            <a:endParaRPr lang="en-US" sz="1400" dirty="0"/>
          </a:p>
        </p:txBody>
      </p:sp>
      <p:sp>
        <p:nvSpPr>
          <p:cNvPr id="26" name="Text 24"/>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PAYER</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One cashier. Tenders are a list.</a:t>
            </a:r>
            <a:endParaRPr lang="en-US" sz="2600" dirty="0"/>
          </a:p>
        </p:txBody>
      </p:sp>
      <p:sp>
        <p:nvSpPr>
          <p:cNvPr id="5" name="Text 3"/>
          <p:cNvSpPr/>
          <p:nvPr/>
        </p:nvSpPr>
        <p:spPr>
          <a:xfrm>
            <a:off x="457200" y="1097280"/>
            <a:ext cx="54864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In the code</a:t>
            </a:r>
            <a:endParaRPr lang="en-US" sz="1600" dirty="0"/>
          </a:p>
        </p:txBody>
      </p:sp>
      <p:sp>
        <p:nvSpPr>
          <p:cNvPr id="6" name="Text 4"/>
          <p:cNvSpPr/>
          <p:nvPr/>
        </p:nvSpPr>
        <p:spPr>
          <a:xfrm>
            <a:off x="6309360" y="1097280"/>
            <a:ext cx="5486400" cy="292608"/>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Not in the code</a:t>
            </a:r>
            <a:endParaRPr lang="en-US" sz="1600" dirty="0"/>
          </a:p>
        </p:txBody>
      </p:sp>
      <p:sp>
        <p:nvSpPr>
          <p:cNvPr id="7" name="Shape 5"/>
          <p:cNvSpPr/>
          <p:nvPr/>
        </p:nvSpPr>
        <p:spPr>
          <a:xfrm>
            <a:off x="411480" y="1508760"/>
            <a:ext cx="5623560" cy="822960"/>
          </a:xfrm>
          <a:prstGeom prst="roundRect">
            <a:avLst>
              <a:gd name="adj" fmla="val 8889"/>
            </a:avLst>
          </a:prstGeom>
          <a:solidFill>
            <a:srgbClr val="FFFCF6"/>
          </a:solidFill>
          <a:ln/>
        </p:spPr>
      </p:sp>
      <p:sp>
        <p:nvSpPr>
          <p:cNvPr id="8" name="Text 6"/>
          <p:cNvSpPr/>
          <p:nvPr/>
        </p:nvSpPr>
        <p:spPr>
          <a:xfrm>
            <a:off x="594360" y="1581912"/>
            <a:ext cx="5303520" cy="219456"/>
          </a:xfrm>
          <a:prstGeom prst="rect">
            <a:avLst/>
          </a:prstGeom>
          <a:noFill/>
          <a:ln/>
        </p:spPr>
        <p:txBody>
          <a:bodyPr wrap="square" lIns="0" tIns="0" rIns="0" bIns="0" rtlCol="0" anchor="ctr"/>
          <a:lstStyle/>
          <a:p>
            <a:pPr indent="0" marL="0">
              <a:buNone/>
            </a:pPr>
            <a:r>
              <a:rPr lang="en-US" sz="1100" b="1" dirty="0">
                <a:solidFill>
                  <a:srgbClr val="5A584F"/>
                </a:solidFill>
                <a:latin typeface="Calibri" pitchFamily="34" charset="0"/>
                <a:ea typeface="Calibri" pitchFamily="34" charset="-122"/>
                <a:cs typeface="Calibri" pitchFamily="34" charset="-120"/>
              </a:rPr>
              <a:t>Built</a:t>
            </a:r>
            <a:endParaRPr lang="en-US" sz="1100" dirty="0"/>
          </a:p>
        </p:txBody>
      </p:sp>
      <p:sp>
        <p:nvSpPr>
          <p:cNvPr id="9" name="Text 7"/>
          <p:cNvSpPr/>
          <p:nvPr/>
        </p:nvSpPr>
        <p:spPr>
          <a:xfrm>
            <a:off x="594360" y="1819656"/>
            <a:ext cx="5257800" cy="384048"/>
          </a:xfrm>
          <a:prstGeom prst="rect">
            <a:avLst/>
          </a:prstGeom>
          <a:noFill/>
          <a:ln/>
        </p:spPr>
        <p:txBody>
          <a:bodyPr wrap="square" lIns="0" tIns="0" rIns="0" bIns="0" rtlCol="0" anchor="ctr"/>
          <a:lstStyle/>
          <a:p>
            <a:pPr indent="0" marL="0">
              <a:buNone/>
            </a:pPr>
            <a:r>
              <a:rPr lang="en-US" sz="1400" dirty="0">
                <a:solidFill>
                  <a:srgbClr val="141414"/>
                </a:solidFill>
                <a:latin typeface="Calibri" pitchFamily="34" charset="0"/>
                <a:ea typeface="Calibri" pitchFamily="34" charset="-122"/>
                <a:cs typeface="Calibri" pitchFamily="34" charset="-120"/>
              </a:rPr>
              <a:t>A blank tender list charges card. points stops.</a:t>
            </a:r>
            <a:endParaRPr lang="en-US" sz="1400" dirty="0"/>
          </a:p>
        </p:txBody>
      </p:sp>
      <p:sp>
        <p:nvSpPr>
          <p:cNvPr id="10" name="Shape 8"/>
          <p:cNvSpPr/>
          <p:nvPr/>
        </p:nvSpPr>
        <p:spPr>
          <a:xfrm>
            <a:off x="411480" y="2441448"/>
            <a:ext cx="5623560" cy="822960"/>
          </a:xfrm>
          <a:prstGeom prst="roundRect">
            <a:avLst>
              <a:gd name="adj" fmla="val 8889"/>
            </a:avLst>
          </a:prstGeom>
          <a:solidFill>
            <a:srgbClr val="FFFCF6"/>
          </a:solidFill>
          <a:ln/>
        </p:spPr>
      </p:sp>
      <p:sp>
        <p:nvSpPr>
          <p:cNvPr id="11" name="Text 9"/>
          <p:cNvSpPr/>
          <p:nvPr/>
        </p:nvSpPr>
        <p:spPr>
          <a:xfrm>
            <a:off x="594360" y="2514600"/>
            <a:ext cx="5303520" cy="219456"/>
          </a:xfrm>
          <a:prstGeom prst="rect">
            <a:avLst/>
          </a:prstGeom>
          <a:noFill/>
          <a:ln/>
        </p:spPr>
        <p:txBody>
          <a:bodyPr wrap="square" lIns="0" tIns="0" rIns="0" bIns="0" rtlCol="0" anchor="ctr"/>
          <a:lstStyle/>
          <a:p>
            <a:pPr indent="0" marL="0">
              <a:buNone/>
            </a:pPr>
            <a:r>
              <a:rPr lang="en-US" sz="1100" b="1" dirty="0">
                <a:solidFill>
                  <a:srgbClr val="5A584F"/>
                </a:solidFill>
                <a:latin typeface="Calibri" pitchFamily="34" charset="0"/>
                <a:ea typeface="Calibri" pitchFamily="34" charset="-122"/>
                <a:cs typeface="Calibri" pitchFamily="34" charset="-120"/>
              </a:rPr>
              <a:t>Built</a:t>
            </a:r>
            <a:endParaRPr lang="en-US" sz="1100" dirty="0"/>
          </a:p>
        </p:txBody>
      </p:sp>
      <p:sp>
        <p:nvSpPr>
          <p:cNvPr id="12" name="Text 10"/>
          <p:cNvSpPr/>
          <p:nvPr/>
        </p:nvSpPr>
        <p:spPr>
          <a:xfrm>
            <a:off x="594360" y="2752344"/>
            <a:ext cx="5257800" cy="384048"/>
          </a:xfrm>
          <a:prstGeom prst="rect">
            <a:avLst/>
          </a:prstGeom>
          <a:noFill/>
          <a:ln/>
        </p:spPr>
        <p:txBody>
          <a:bodyPr wrap="square" lIns="0" tIns="0" rIns="0" bIns="0" rtlCol="0" anchor="ctr"/>
          <a:lstStyle/>
          <a:p>
            <a:pPr indent="0" marL="0">
              <a:buNone/>
            </a:pPr>
            <a:r>
              <a:rPr lang="en-US" sz="1400" dirty="0">
                <a:solidFill>
                  <a:srgbClr val="141414"/>
                </a:solidFill>
                <a:latin typeface="Calibri" pitchFamily="34" charset="0"/>
                <a:ea typeface="Calibri" pitchFamily="34" charset="-122"/>
                <a:cs typeface="Calibri" pitchFamily="34" charset="-120"/>
              </a:rPr>
              <a:t>Card declined before charge books wallet: once.</a:t>
            </a:r>
            <a:endParaRPr lang="en-US" sz="1400" dirty="0"/>
          </a:p>
        </p:txBody>
      </p:sp>
      <p:sp>
        <p:nvSpPr>
          <p:cNvPr id="13" name="Shape 11"/>
          <p:cNvSpPr/>
          <p:nvPr/>
        </p:nvSpPr>
        <p:spPr>
          <a:xfrm>
            <a:off x="411480" y="3374136"/>
            <a:ext cx="5623560" cy="822960"/>
          </a:xfrm>
          <a:prstGeom prst="roundRect">
            <a:avLst>
              <a:gd name="adj" fmla="val 8889"/>
            </a:avLst>
          </a:prstGeom>
          <a:solidFill>
            <a:srgbClr val="FFFCF6"/>
          </a:solidFill>
          <a:ln/>
        </p:spPr>
      </p:sp>
      <p:sp>
        <p:nvSpPr>
          <p:cNvPr id="14" name="Text 12"/>
          <p:cNvSpPr/>
          <p:nvPr/>
        </p:nvSpPr>
        <p:spPr>
          <a:xfrm>
            <a:off x="594360" y="3447288"/>
            <a:ext cx="5303520" cy="219456"/>
          </a:xfrm>
          <a:prstGeom prst="rect">
            <a:avLst/>
          </a:prstGeom>
          <a:noFill/>
          <a:ln/>
        </p:spPr>
        <p:txBody>
          <a:bodyPr wrap="square" lIns="0" tIns="0" rIns="0" bIns="0" rtlCol="0" anchor="ctr"/>
          <a:lstStyle/>
          <a:p>
            <a:pPr indent="0" marL="0">
              <a:buNone/>
            </a:pPr>
            <a:r>
              <a:rPr lang="en-US" sz="1100" b="1" dirty="0">
                <a:solidFill>
                  <a:srgbClr val="5A584F"/>
                </a:solidFill>
                <a:latin typeface="Calibri" pitchFamily="34" charset="0"/>
                <a:ea typeface="Calibri" pitchFamily="34" charset="-122"/>
                <a:cs typeface="Calibri" pitchFamily="34" charset="-120"/>
              </a:rPr>
              <a:t>Built</a:t>
            </a:r>
            <a:endParaRPr lang="en-US" sz="1100" dirty="0"/>
          </a:p>
        </p:txBody>
      </p:sp>
      <p:sp>
        <p:nvSpPr>
          <p:cNvPr id="15" name="Text 13"/>
          <p:cNvSpPr/>
          <p:nvPr/>
        </p:nvSpPr>
        <p:spPr>
          <a:xfrm>
            <a:off x="594360" y="3685032"/>
            <a:ext cx="5257800" cy="384048"/>
          </a:xfrm>
          <a:prstGeom prst="rect">
            <a:avLst/>
          </a:prstGeom>
          <a:noFill/>
          <a:ln/>
        </p:spPr>
        <p:txBody>
          <a:bodyPr wrap="square" lIns="0" tIns="0" rIns="0" bIns="0" rtlCol="0" anchor="ctr"/>
          <a:lstStyle/>
          <a:p>
            <a:pPr indent="0" marL="0">
              <a:buNone/>
            </a:pPr>
            <a:r>
              <a:rPr lang="en-US" sz="1400" dirty="0">
                <a:solidFill>
                  <a:srgbClr val="141414"/>
                </a:solidFill>
                <a:latin typeface="Calibri" pitchFamily="34" charset="0"/>
                <a:ea typeface="Calibri" pitchFamily="34" charset="-122"/>
                <a:cs typeface="Calibri" pitchFamily="34" charset="-120"/>
              </a:rPr>
              <a:t>If card already charged, wallet is not started.</a:t>
            </a:r>
            <a:endParaRPr lang="en-US" sz="1400" dirty="0"/>
          </a:p>
        </p:txBody>
      </p:sp>
      <p:sp>
        <p:nvSpPr>
          <p:cNvPr id="16" name="Shape 14"/>
          <p:cNvSpPr/>
          <p:nvPr/>
        </p:nvSpPr>
        <p:spPr>
          <a:xfrm>
            <a:off x="411480" y="4306824"/>
            <a:ext cx="5623560" cy="822960"/>
          </a:xfrm>
          <a:prstGeom prst="roundRect">
            <a:avLst>
              <a:gd name="adj" fmla="val 8889"/>
            </a:avLst>
          </a:prstGeom>
          <a:solidFill>
            <a:srgbClr val="FFFCF6"/>
          </a:solidFill>
          <a:ln/>
        </p:spPr>
      </p:sp>
      <p:sp>
        <p:nvSpPr>
          <p:cNvPr id="17" name="Text 15"/>
          <p:cNvSpPr/>
          <p:nvPr/>
        </p:nvSpPr>
        <p:spPr>
          <a:xfrm>
            <a:off x="594360" y="4379976"/>
            <a:ext cx="5303520" cy="219456"/>
          </a:xfrm>
          <a:prstGeom prst="rect">
            <a:avLst/>
          </a:prstGeom>
          <a:noFill/>
          <a:ln/>
        </p:spPr>
        <p:txBody>
          <a:bodyPr wrap="square" lIns="0" tIns="0" rIns="0" bIns="0" rtlCol="0" anchor="ctr"/>
          <a:lstStyle/>
          <a:p>
            <a:pPr indent="0" marL="0">
              <a:buNone/>
            </a:pPr>
            <a:r>
              <a:rPr lang="en-US" sz="1100" b="1" dirty="0">
                <a:solidFill>
                  <a:srgbClr val="5A584F"/>
                </a:solidFill>
                <a:latin typeface="Calibri" pitchFamily="34" charset="0"/>
                <a:ea typeface="Calibri" pitchFamily="34" charset="-122"/>
                <a:cs typeface="Calibri" pitchFamily="34" charset="-120"/>
              </a:rPr>
              <a:t>Built</a:t>
            </a:r>
            <a:endParaRPr lang="en-US" sz="1100" dirty="0"/>
          </a:p>
        </p:txBody>
      </p:sp>
      <p:sp>
        <p:nvSpPr>
          <p:cNvPr id="18" name="Text 16"/>
          <p:cNvSpPr/>
          <p:nvPr/>
        </p:nvSpPr>
        <p:spPr>
          <a:xfrm>
            <a:off x="594360" y="4617720"/>
            <a:ext cx="5257800" cy="384048"/>
          </a:xfrm>
          <a:prstGeom prst="rect">
            <a:avLst/>
          </a:prstGeom>
          <a:noFill/>
          <a:ln/>
        </p:spPr>
        <p:txBody>
          <a:bodyPr wrap="square" lIns="0" tIns="0" rIns="0" bIns="0" rtlCol="0" anchor="ctr"/>
          <a:lstStyle/>
          <a:p>
            <a:pPr indent="0" marL="0">
              <a:buNone/>
            </a:pPr>
            <a:r>
              <a:rPr lang="en-US" sz="1400" dirty="0">
                <a:solidFill>
                  <a:srgbClr val="141414"/>
                </a:solidFill>
                <a:latin typeface="Calibri" pitchFamily="34" charset="0"/>
                <a:ea typeface="Calibri" pitchFamily="34" charset="-122"/>
                <a:cs typeface="Calibri" pitchFamily="34" charset="-120"/>
              </a:rPr>
              <a:t>Two signed slips. Auto uses the same check.</a:t>
            </a:r>
            <a:endParaRPr lang="en-US" sz="1400" dirty="0"/>
          </a:p>
        </p:txBody>
      </p:sp>
      <p:sp>
        <p:nvSpPr>
          <p:cNvPr id="19" name="Shape 17"/>
          <p:cNvSpPr/>
          <p:nvPr/>
        </p:nvSpPr>
        <p:spPr>
          <a:xfrm>
            <a:off x="411480" y="5239512"/>
            <a:ext cx="5623560" cy="822960"/>
          </a:xfrm>
          <a:prstGeom prst="roundRect">
            <a:avLst>
              <a:gd name="adj" fmla="val 8889"/>
            </a:avLst>
          </a:prstGeom>
          <a:solidFill>
            <a:srgbClr val="FFFCF6"/>
          </a:solidFill>
          <a:ln/>
        </p:spPr>
      </p:sp>
      <p:sp>
        <p:nvSpPr>
          <p:cNvPr id="20" name="Text 18"/>
          <p:cNvSpPr/>
          <p:nvPr/>
        </p:nvSpPr>
        <p:spPr>
          <a:xfrm>
            <a:off x="594360" y="5312664"/>
            <a:ext cx="5303520" cy="219456"/>
          </a:xfrm>
          <a:prstGeom prst="rect">
            <a:avLst/>
          </a:prstGeom>
          <a:noFill/>
          <a:ln/>
        </p:spPr>
        <p:txBody>
          <a:bodyPr wrap="square" lIns="0" tIns="0" rIns="0" bIns="0" rtlCol="0" anchor="ctr"/>
          <a:lstStyle/>
          <a:p>
            <a:pPr indent="0" marL="0">
              <a:buNone/>
            </a:pPr>
            <a:r>
              <a:rPr lang="en-US" sz="1100" b="1" dirty="0">
                <a:solidFill>
                  <a:srgbClr val="5A584F"/>
                </a:solidFill>
                <a:latin typeface="Calibri" pitchFamily="34" charset="0"/>
                <a:ea typeface="Calibri" pitchFamily="34" charset="-122"/>
                <a:cs typeface="Calibri" pitchFamily="34" charset="-120"/>
              </a:rPr>
              <a:t>Built</a:t>
            </a:r>
            <a:endParaRPr lang="en-US" sz="1100" dirty="0"/>
          </a:p>
        </p:txBody>
      </p:sp>
      <p:sp>
        <p:nvSpPr>
          <p:cNvPr id="21" name="Text 19"/>
          <p:cNvSpPr/>
          <p:nvPr/>
        </p:nvSpPr>
        <p:spPr>
          <a:xfrm>
            <a:off x="594360" y="5550408"/>
            <a:ext cx="5257800" cy="384048"/>
          </a:xfrm>
          <a:prstGeom prst="rect">
            <a:avLst/>
          </a:prstGeom>
          <a:noFill/>
          <a:ln/>
        </p:spPr>
        <p:txBody>
          <a:bodyPr wrap="square" lIns="0" tIns="0" rIns="0" bIns="0" rtlCol="0" anchor="ctr"/>
          <a:lstStyle/>
          <a:p>
            <a:pPr indent="0" marL="0">
              <a:buNone/>
            </a:pPr>
            <a:r>
              <a:rPr lang="en-US" sz="1400" dirty="0">
                <a:solidFill>
                  <a:srgbClr val="141414"/>
                </a:solidFill>
                <a:latin typeface="Calibri" pitchFamily="34" charset="0"/>
                <a:ea typeface="Calibri" pitchFamily="34" charset="-122"/>
                <a:cs typeface="Calibri" pitchFamily="34" charset="-120"/>
              </a:rPr>
              <a:t>Refund sets cashback to 0. The 168-hour total stays.</a:t>
            </a:r>
            <a:endParaRPr lang="en-US" sz="1400" dirty="0"/>
          </a:p>
        </p:txBody>
      </p:sp>
      <p:sp>
        <p:nvSpPr>
          <p:cNvPr id="22" name="Shape 20"/>
          <p:cNvSpPr/>
          <p:nvPr/>
        </p:nvSpPr>
        <p:spPr>
          <a:xfrm>
            <a:off x="6217920" y="1508760"/>
            <a:ext cx="5532120" cy="822960"/>
          </a:xfrm>
          <a:prstGeom prst="roundRect">
            <a:avLst>
              <a:gd name="adj" fmla="val 8889"/>
            </a:avLst>
          </a:prstGeom>
          <a:solidFill>
            <a:srgbClr val="141414"/>
          </a:solidFill>
          <a:ln/>
        </p:spPr>
      </p:sp>
      <p:sp>
        <p:nvSpPr>
          <p:cNvPr id="23" name="Text 21"/>
          <p:cNvSpPr/>
          <p:nvPr/>
        </p:nvSpPr>
        <p:spPr>
          <a:xfrm>
            <a:off x="6400800" y="1581912"/>
            <a:ext cx="5120640" cy="219456"/>
          </a:xfrm>
          <a:prstGeom prst="rect">
            <a:avLst/>
          </a:prstGeom>
          <a:noFill/>
          <a:ln/>
        </p:spPr>
        <p:txBody>
          <a:bodyPr wrap="square" lIns="0" tIns="0" rIns="0" bIns="0" rtlCol="0" anchor="ctr"/>
          <a:lstStyle/>
          <a:p>
            <a:pPr indent="0" marL="0">
              <a:buNone/>
            </a:pPr>
            <a:r>
              <a:rPr lang="en-US" sz="1100" b="1" dirty="0">
                <a:solidFill>
                  <a:srgbClr val="C8F14F"/>
                </a:solidFill>
                <a:latin typeface="Calibri" pitchFamily="34" charset="0"/>
                <a:ea typeface="Calibri" pitchFamily="34" charset="-122"/>
                <a:cs typeface="Calibri" pitchFamily="34" charset="-120"/>
              </a:rPr>
              <a:t>Not built</a:t>
            </a:r>
            <a:endParaRPr lang="en-US" sz="1100" dirty="0"/>
          </a:p>
        </p:txBody>
      </p:sp>
      <p:sp>
        <p:nvSpPr>
          <p:cNvPr id="24" name="Text 22"/>
          <p:cNvSpPr/>
          <p:nvPr/>
        </p:nvSpPr>
        <p:spPr>
          <a:xfrm>
            <a:off x="6400800" y="1819656"/>
            <a:ext cx="5120640" cy="384048"/>
          </a:xfrm>
          <a:prstGeom prst="rect">
            <a:avLst/>
          </a:prstGeom>
          <a:noFill/>
          <a:ln/>
        </p:spPr>
        <p:txBody>
          <a:bodyPr wrap="square" lIns="0" tIns="0" rIns="0" bIns="0" rtlCol="0" anchor="ctr"/>
          <a:lstStyle/>
          <a:p>
            <a:pPr indent="0" marL="0">
              <a:buNone/>
            </a:pPr>
            <a:r>
              <a:rPr lang="en-US" sz="1400" dirty="0">
                <a:solidFill>
                  <a:srgbClr val="F3F1EA"/>
                </a:solidFill>
                <a:latin typeface="Calibri" pitchFamily="34" charset="0"/>
                <a:ea typeface="Calibri" pitchFamily="34" charset="-122"/>
                <a:cs typeface="Calibri" pitchFamily="34" charset="-120"/>
              </a:rPr>
              <a:t>No live card charge. Payment is the mock vault id.</a:t>
            </a:r>
            <a:endParaRPr lang="en-US" sz="1400" dirty="0"/>
          </a:p>
        </p:txBody>
      </p:sp>
      <p:sp>
        <p:nvSpPr>
          <p:cNvPr id="25" name="Shape 23"/>
          <p:cNvSpPr/>
          <p:nvPr/>
        </p:nvSpPr>
        <p:spPr>
          <a:xfrm>
            <a:off x="6217920" y="2441448"/>
            <a:ext cx="5532120" cy="822960"/>
          </a:xfrm>
          <a:prstGeom prst="roundRect">
            <a:avLst>
              <a:gd name="adj" fmla="val 8889"/>
            </a:avLst>
          </a:prstGeom>
          <a:solidFill>
            <a:srgbClr val="141414"/>
          </a:solidFill>
          <a:ln/>
        </p:spPr>
      </p:sp>
      <p:sp>
        <p:nvSpPr>
          <p:cNvPr id="26" name="Text 24"/>
          <p:cNvSpPr/>
          <p:nvPr/>
        </p:nvSpPr>
        <p:spPr>
          <a:xfrm>
            <a:off x="6400800" y="2514600"/>
            <a:ext cx="5120640" cy="219456"/>
          </a:xfrm>
          <a:prstGeom prst="rect">
            <a:avLst/>
          </a:prstGeom>
          <a:noFill/>
          <a:ln/>
        </p:spPr>
        <p:txBody>
          <a:bodyPr wrap="square" lIns="0" tIns="0" rIns="0" bIns="0" rtlCol="0" anchor="ctr"/>
          <a:lstStyle/>
          <a:p>
            <a:pPr indent="0" marL="0">
              <a:buNone/>
            </a:pPr>
            <a:r>
              <a:rPr lang="en-US" sz="1100" b="1" dirty="0">
                <a:solidFill>
                  <a:srgbClr val="C8F14F"/>
                </a:solidFill>
                <a:latin typeface="Calibri" pitchFamily="34" charset="0"/>
                <a:ea typeface="Calibri" pitchFamily="34" charset="-122"/>
                <a:cs typeface="Calibri" pitchFamily="34" charset="-120"/>
              </a:rPr>
              <a:t>Not built</a:t>
            </a:r>
            <a:endParaRPr lang="en-US" sz="1100" dirty="0"/>
          </a:p>
        </p:txBody>
      </p:sp>
      <p:sp>
        <p:nvSpPr>
          <p:cNvPr id="27" name="Text 25"/>
          <p:cNvSpPr/>
          <p:nvPr/>
        </p:nvSpPr>
        <p:spPr>
          <a:xfrm>
            <a:off x="6400800" y="2752344"/>
            <a:ext cx="5120640" cy="384048"/>
          </a:xfrm>
          <a:prstGeom prst="rect">
            <a:avLst/>
          </a:prstGeom>
          <a:noFill/>
          <a:ln/>
        </p:spPr>
        <p:txBody>
          <a:bodyPr wrap="square" lIns="0" tIns="0" rIns="0" bIns="0" rtlCol="0" anchor="ctr"/>
          <a:lstStyle/>
          <a:p>
            <a:pPr indent="0" marL="0">
              <a:buNone/>
            </a:pPr>
            <a:r>
              <a:rPr lang="en-US" sz="1400" dirty="0">
                <a:solidFill>
                  <a:srgbClr val="F3F1EA"/>
                </a:solidFill>
                <a:latin typeface="Calibri" pitchFamily="34" charset="0"/>
                <a:ea typeface="Calibri" pitchFamily="34" charset="-122"/>
                <a:cs typeface="Calibri" pitchFamily="34" charset="-120"/>
              </a:rPr>
              <a:t>No DID registry and no blockchain.</a:t>
            </a:r>
            <a:endParaRPr lang="en-US" sz="1400" dirty="0"/>
          </a:p>
        </p:txBody>
      </p:sp>
      <p:sp>
        <p:nvSpPr>
          <p:cNvPr id="28" name="Shape 26"/>
          <p:cNvSpPr/>
          <p:nvPr/>
        </p:nvSpPr>
        <p:spPr>
          <a:xfrm>
            <a:off x="6217920" y="3374136"/>
            <a:ext cx="5532120" cy="822960"/>
          </a:xfrm>
          <a:prstGeom prst="roundRect">
            <a:avLst>
              <a:gd name="adj" fmla="val 8889"/>
            </a:avLst>
          </a:prstGeom>
          <a:solidFill>
            <a:srgbClr val="141414"/>
          </a:solidFill>
          <a:ln/>
        </p:spPr>
      </p:sp>
      <p:sp>
        <p:nvSpPr>
          <p:cNvPr id="29" name="Text 27"/>
          <p:cNvSpPr/>
          <p:nvPr/>
        </p:nvSpPr>
        <p:spPr>
          <a:xfrm>
            <a:off x="6400800" y="3447288"/>
            <a:ext cx="5120640" cy="219456"/>
          </a:xfrm>
          <a:prstGeom prst="rect">
            <a:avLst/>
          </a:prstGeom>
          <a:noFill/>
          <a:ln/>
        </p:spPr>
        <p:txBody>
          <a:bodyPr wrap="square" lIns="0" tIns="0" rIns="0" bIns="0" rtlCol="0" anchor="ctr"/>
          <a:lstStyle/>
          <a:p>
            <a:pPr indent="0" marL="0">
              <a:buNone/>
            </a:pPr>
            <a:r>
              <a:rPr lang="en-US" sz="1100" b="1" dirty="0">
                <a:solidFill>
                  <a:srgbClr val="C8F14F"/>
                </a:solidFill>
                <a:latin typeface="Calibri" pitchFamily="34" charset="0"/>
                <a:ea typeface="Calibri" pitchFamily="34" charset="-122"/>
                <a:cs typeface="Calibri" pitchFamily="34" charset="-120"/>
              </a:rPr>
              <a:t>Not built</a:t>
            </a:r>
            <a:endParaRPr lang="en-US" sz="1100" dirty="0"/>
          </a:p>
        </p:txBody>
      </p:sp>
      <p:sp>
        <p:nvSpPr>
          <p:cNvPr id="30" name="Text 28"/>
          <p:cNvSpPr/>
          <p:nvPr/>
        </p:nvSpPr>
        <p:spPr>
          <a:xfrm>
            <a:off x="6400800" y="3685032"/>
            <a:ext cx="5120640" cy="384048"/>
          </a:xfrm>
          <a:prstGeom prst="rect">
            <a:avLst/>
          </a:prstGeom>
          <a:noFill/>
          <a:ln/>
        </p:spPr>
        <p:txBody>
          <a:bodyPr wrap="square" lIns="0" tIns="0" rIns="0" bIns="0" rtlCol="0" anchor="ctr"/>
          <a:lstStyle/>
          <a:p>
            <a:pPr indent="0" marL="0">
              <a:buNone/>
            </a:pPr>
            <a:r>
              <a:rPr lang="en-US" sz="1400" dirty="0">
                <a:solidFill>
                  <a:srgbClr val="F3F1EA"/>
                </a:solidFill>
                <a:latin typeface="Calibri" pitchFamily="34" charset="0"/>
                <a:ea typeface="Calibri" pitchFamily="34" charset="-122"/>
                <a:cs typeface="Calibri" pitchFamily="34" charset="-120"/>
              </a:rPr>
              <a:t>The parser is a function, not a hosted model.</a:t>
            </a:r>
            <a:endParaRPr lang="en-US" sz="1400" dirty="0"/>
          </a:p>
        </p:txBody>
      </p:sp>
      <p:sp>
        <p:nvSpPr>
          <p:cNvPr id="31" name="Text 29"/>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METRICS</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Thirteen replays. Overspend stays 0.</a:t>
            </a:r>
            <a:endParaRPr lang="en-US" sz="2600" dirty="0"/>
          </a:p>
        </p:txBody>
      </p:sp>
      <p:sp>
        <p:nvSpPr>
          <p:cNvPr id="5" name="Shape 3"/>
          <p:cNvSpPr/>
          <p:nvPr/>
        </p:nvSpPr>
        <p:spPr>
          <a:xfrm>
            <a:off x="411480" y="1143000"/>
            <a:ext cx="5623560" cy="932688"/>
          </a:xfrm>
          <a:prstGeom prst="roundRect">
            <a:avLst>
              <a:gd name="adj" fmla="val 9804"/>
            </a:avLst>
          </a:prstGeom>
          <a:solidFill>
            <a:srgbClr val="FFFCF6"/>
          </a:solidFill>
          <a:ln/>
          <a:effectLst>
            <a:outerShdw sx="100000" sy="100000" kx="0" ky="0" algn="bl" rotWithShape="0" blurRad="177800" dist="50800" dir="5400000">
              <a:srgbClr val="141414">
                <a:alpha val="8000"/>
              </a:srgbClr>
            </a:outerShdw>
          </a:effectLst>
        </p:spPr>
      </p:sp>
      <p:sp>
        <p:nvSpPr>
          <p:cNvPr id="6" name="Text 4"/>
          <p:cNvSpPr/>
          <p:nvPr/>
        </p:nvSpPr>
        <p:spPr>
          <a:xfrm>
            <a:off x="594360" y="1252728"/>
            <a:ext cx="109728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paid</a:t>
            </a:r>
            <a:endParaRPr lang="en-US" sz="1200" dirty="0"/>
          </a:p>
        </p:txBody>
      </p:sp>
      <p:sp>
        <p:nvSpPr>
          <p:cNvPr id="7" name="Text 5"/>
          <p:cNvSpPr/>
          <p:nvPr/>
        </p:nvSpPr>
        <p:spPr>
          <a:xfrm>
            <a:off x="594360" y="1563624"/>
            <a:ext cx="5212080"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Happy path</a:t>
            </a:r>
            <a:endParaRPr lang="en-US" sz="1600" dirty="0"/>
          </a:p>
        </p:txBody>
      </p:sp>
      <p:sp>
        <p:nvSpPr>
          <p:cNvPr id="8" name="Shape 6"/>
          <p:cNvSpPr/>
          <p:nvPr/>
        </p:nvSpPr>
        <p:spPr>
          <a:xfrm>
            <a:off x="411480" y="2194560"/>
            <a:ext cx="5623560" cy="932688"/>
          </a:xfrm>
          <a:prstGeom prst="roundRect">
            <a:avLst>
              <a:gd name="adj" fmla="val 9804"/>
            </a:avLst>
          </a:prstGeom>
          <a:solidFill>
            <a:srgbClr val="FFFCF6"/>
          </a:solidFill>
          <a:ln/>
          <a:effectLst>
            <a:outerShdw sx="100000" sy="100000" kx="0" ky="0" algn="bl" rotWithShape="0" blurRad="177800" dist="50800" dir="5400000">
              <a:srgbClr val="141414">
                <a:alpha val="8000"/>
              </a:srgbClr>
            </a:outerShdw>
          </a:effectLst>
        </p:spPr>
      </p:sp>
      <p:sp>
        <p:nvSpPr>
          <p:cNvPr id="9" name="Text 7"/>
          <p:cNvSpPr/>
          <p:nvPr/>
        </p:nvSpPr>
        <p:spPr>
          <a:xfrm>
            <a:off x="594360" y="2304288"/>
            <a:ext cx="109728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paid</a:t>
            </a:r>
            <a:endParaRPr lang="en-US" sz="1200" dirty="0"/>
          </a:p>
        </p:txBody>
      </p:sp>
      <p:sp>
        <p:nvSpPr>
          <p:cNvPr id="10" name="Text 8"/>
          <p:cNvSpPr/>
          <p:nvPr/>
        </p:nvSpPr>
        <p:spPr>
          <a:xfrm>
            <a:off x="594360" y="2615184"/>
            <a:ext cx="5212080"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Poisoned listing, clean sku remains</a:t>
            </a:r>
            <a:endParaRPr lang="en-US" sz="1600" dirty="0"/>
          </a:p>
        </p:txBody>
      </p:sp>
      <p:sp>
        <p:nvSpPr>
          <p:cNvPr id="11" name="Shape 9"/>
          <p:cNvSpPr/>
          <p:nvPr/>
        </p:nvSpPr>
        <p:spPr>
          <a:xfrm>
            <a:off x="411480" y="3246120"/>
            <a:ext cx="5623560" cy="932688"/>
          </a:xfrm>
          <a:prstGeom prst="roundRect">
            <a:avLst>
              <a:gd name="adj" fmla="val 9804"/>
            </a:avLst>
          </a:prstGeom>
          <a:solidFill>
            <a:srgbClr val="FFFCF6"/>
          </a:solidFill>
          <a:ln/>
          <a:effectLst>
            <a:outerShdw sx="100000" sy="100000" kx="0" ky="0" algn="bl" rotWithShape="0" blurRad="177800" dist="50800" dir="5400000">
              <a:srgbClr val="141414">
                <a:alpha val="8000"/>
              </a:srgbClr>
            </a:outerShdw>
          </a:effectLst>
        </p:spPr>
      </p:sp>
      <p:sp>
        <p:nvSpPr>
          <p:cNvPr id="12" name="Text 10"/>
          <p:cNvSpPr/>
          <p:nvPr/>
        </p:nvSpPr>
        <p:spPr>
          <a:xfrm>
            <a:off x="594360" y="3355848"/>
            <a:ext cx="109728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paid</a:t>
            </a:r>
            <a:endParaRPr lang="en-US" sz="1200" dirty="0"/>
          </a:p>
        </p:txBody>
      </p:sp>
      <p:sp>
        <p:nvSpPr>
          <p:cNvPr id="13" name="Text 11"/>
          <p:cNvSpPr/>
          <p:nvPr/>
        </p:nvSpPr>
        <p:spPr>
          <a:xfrm>
            <a:off x="594360" y="3666744"/>
            <a:ext cx="5212080"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Agent surcharge, clean sku remains</a:t>
            </a:r>
            <a:endParaRPr lang="en-US" sz="1600" dirty="0"/>
          </a:p>
        </p:txBody>
      </p:sp>
      <p:sp>
        <p:nvSpPr>
          <p:cNvPr id="14" name="Shape 12"/>
          <p:cNvSpPr/>
          <p:nvPr/>
        </p:nvSpPr>
        <p:spPr>
          <a:xfrm>
            <a:off x="411480" y="4297680"/>
            <a:ext cx="5623560" cy="932688"/>
          </a:xfrm>
          <a:prstGeom prst="roundRect">
            <a:avLst>
              <a:gd name="adj" fmla="val 9804"/>
            </a:avLst>
          </a:prstGeom>
          <a:solidFill>
            <a:srgbClr val="FFFCF6"/>
          </a:solidFill>
          <a:ln/>
          <a:effectLst>
            <a:outerShdw sx="100000" sy="100000" kx="0" ky="0" algn="bl" rotWithShape="0" blurRad="177800" dist="50800" dir="5400000">
              <a:srgbClr val="141414">
                <a:alpha val="8000"/>
              </a:srgbClr>
            </a:outerShdw>
          </a:effectLst>
        </p:spPr>
      </p:sp>
      <p:sp>
        <p:nvSpPr>
          <p:cNvPr id="15" name="Text 13"/>
          <p:cNvSpPr/>
          <p:nvPr/>
        </p:nvSpPr>
        <p:spPr>
          <a:xfrm>
            <a:off x="594360" y="4407408"/>
            <a:ext cx="1097280"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paid</a:t>
            </a:r>
            <a:endParaRPr lang="en-US" sz="1200" dirty="0"/>
          </a:p>
        </p:txBody>
      </p:sp>
      <p:sp>
        <p:nvSpPr>
          <p:cNvPr id="16" name="Text 14"/>
          <p:cNvSpPr/>
          <p:nvPr/>
        </p:nvSpPr>
        <p:spPr>
          <a:xfrm>
            <a:off x="594360" y="4718304"/>
            <a:ext cx="5212080" cy="36576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Timeout after charge, same key</a:t>
            </a:r>
            <a:endParaRPr lang="en-US" sz="1600" dirty="0"/>
          </a:p>
        </p:txBody>
      </p:sp>
      <p:sp>
        <p:nvSpPr>
          <p:cNvPr id="17" name="Shape 15"/>
          <p:cNvSpPr/>
          <p:nvPr/>
        </p:nvSpPr>
        <p:spPr>
          <a:xfrm>
            <a:off x="6217920" y="1143000"/>
            <a:ext cx="5532120" cy="932688"/>
          </a:xfrm>
          <a:prstGeom prst="roundRect">
            <a:avLst>
              <a:gd name="adj" fmla="val 9804"/>
            </a:avLst>
          </a:prstGeom>
          <a:solidFill>
            <a:srgbClr val="141414"/>
          </a:solidFill>
          <a:ln/>
        </p:spPr>
      </p:sp>
      <p:sp>
        <p:nvSpPr>
          <p:cNvPr id="18" name="Text 16"/>
          <p:cNvSpPr/>
          <p:nvPr/>
        </p:nvSpPr>
        <p:spPr>
          <a:xfrm>
            <a:off x="6400800" y="1252728"/>
            <a:ext cx="1097280" cy="256032"/>
          </a:xfrm>
          <a:prstGeom prst="rect">
            <a:avLst/>
          </a:prstGeom>
          <a:noFill/>
          <a:ln/>
        </p:spPr>
        <p:txBody>
          <a:bodyPr wrap="square" lIns="0" tIns="0" rIns="0" bIns="0" rtlCol="0" anchor="ctr"/>
          <a:lstStyle/>
          <a:p>
            <a:pPr indent="0" marL="0">
              <a:buNone/>
            </a:pPr>
            <a:r>
              <a:rPr lang="en-US" sz="1200" b="1" dirty="0">
                <a:solidFill>
                  <a:srgbClr val="C8F14F"/>
                </a:solidFill>
                <a:latin typeface="Calibri" pitchFamily="34" charset="0"/>
                <a:ea typeface="Calibri" pitchFamily="34" charset="-122"/>
                <a:cs typeface="Calibri" pitchFamily="34" charset="-120"/>
              </a:rPr>
              <a:t>stop</a:t>
            </a:r>
            <a:endParaRPr lang="en-US" sz="1200" dirty="0"/>
          </a:p>
        </p:txBody>
      </p:sp>
      <p:sp>
        <p:nvSpPr>
          <p:cNvPr id="19" name="Text 17"/>
          <p:cNvSpPr/>
          <p:nvPr/>
        </p:nvSpPr>
        <p:spPr>
          <a:xfrm>
            <a:off x="6400800" y="1563624"/>
            <a:ext cx="5120640" cy="365760"/>
          </a:xfrm>
          <a:prstGeom prst="rect">
            <a:avLst/>
          </a:prstGeom>
          <a:noFill/>
          <a:ln/>
        </p:spPr>
        <p:txBody>
          <a:bodyPr wrap="square" lIns="0" tIns="0" rIns="0" bIns="0" rtlCol="0" anchor="ctr"/>
          <a:lstStyle/>
          <a:p>
            <a:pPr indent="0" marL="0">
              <a:buNone/>
            </a:pPr>
            <a:r>
              <a:rPr lang="en-US" sz="1600" dirty="0">
                <a:solidFill>
                  <a:srgbClr val="FFFFFF"/>
                </a:solidFill>
                <a:latin typeface="Cambria" pitchFamily="34" charset="0"/>
                <a:ea typeface="Cambria" pitchFamily="34" charset="-122"/>
                <a:cs typeface="Cambria" pitchFamily="34" charset="-120"/>
              </a:rPr>
              <a:t>Clarify timeout, expired mandate, injection</a:t>
            </a:r>
            <a:endParaRPr lang="en-US" sz="1600" dirty="0"/>
          </a:p>
        </p:txBody>
      </p:sp>
      <p:sp>
        <p:nvSpPr>
          <p:cNvPr id="20" name="Shape 18"/>
          <p:cNvSpPr/>
          <p:nvPr/>
        </p:nvSpPr>
        <p:spPr>
          <a:xfrm>
            <a:off x="6217920" y="2194560"/>
            <a:ext cx="5532120" cy="932688"/>
          </a:xfrm>
          <a:prstGeom prst="roundRect">
            <a:avLst>
              <a:gd name="adj" fmla="val 9804"/>
            </a:avLst>
          </a:prstGeom>
          <a:solidFill>
            <a:srgbClr val="141414"/>
          </a:solidFill>
          <a:ln/>
        </p:spPr>
      </p:sp>
      <p:sp>
        <p:nvSpPr>
          <p:cNvPr id="21" name="Text 19"/>
          <p:cNvSpPr/>
          <p:nvPr/>
        </p:nvSpPr>
        <p:spPr>
          <a:xfrm>
            <a:off x="6400800" y="2304288"/>
            <a:ext cx="1097280" cy="256032"/>
          </a:xfrm>
          <a:prstGeom prst="rect">
            <a:avLst/>
          </a:prstGeom>
          <a:noFill/>
          <a:ln/>
        </p:spPr>
        <p:txBody>
          <a:bodyPr wrap="square" lIns="0" tIns="0" rIns="0" bIns="0" rtlCol="0" anchor="ctr"/>
          <a:lstStyle/>
          <a:p>
            <a:pPr indent="0" marL="0">
              <a:buNone/>
            </a:pPr>
            <a:r>
              <a:rPr lang="en-US" sz="1200" b="1" dirty="0">
                <a:solidFill>
                  <a:srgbClr val="C8F14F"/>
                </a:solidFill>
                <a:latin typeface="Calibri" pitchFamily="34" charset="0"/>
                <a:ea typeface="Calibri" pitchFamily="34" charset="-122"/>
                <a:cs typeface="Calibri" pitchFamily="34" charset="-120"/>
              </a:rPr>
              <a:t>stop</a:t>
            </a:r>
            <a:endParaRPr lang="en-US" sz="1200" dirty="0"/>
          </a:p>
        </p:txBody>
      </p:sp>
      <p:sp>
        <p:nvSpPr>
          <p:cNvPr id="22" name="Text 20"/>
          <p:cNvSpPr/>
          <p:nvPr/>
        </p:nvSpPr>
        <p:spPr>
          <a:xfrm>
            <a:off x="6400800" y="2615184"/>
            <a:ext cx="5120640" cy="365760"/>
          </a:xfrm>
          <a:prstGeom prst="rect">
            <a:avLst/>
          </a:prstGeom>
          <a:noFill/>
          <a:ln/>
        </p:spPr>
        <p:txBody>
          <a:bodyPr wrap="square" lIns="0" tIns="0" rIns="0" bIns="0" rtlCol="0" anchor="ctr"/>
          <a:lstStyle/>
          <a:p>
            <a:pPr indent="0" marL="0">
              <a:buNone/>
            </a:pPr>
            <a:r>
              <a:rPr lang="en-US" sz="1600" dirty="0">
                <a:solidFill>
                  <a:srgbClr val="FFFFFF"/>
                </a:solidFill>
                <a:latin typeface="Cambria" pitchFamily="34" charset="0"/>
                <a:ea typeface="Cambria" pitchFamily="34" charset="-122"/>
                <a:cs typeface="Cambria" pitchFamily="34" charset="-120"/>
              </a:rPr>
              <a:t>Budget too small, refund does not restore it</a:t>
            </a:r>
            <a:endParaRPr lang="en-US" sz="1600" dirty="0"/>
          </a:p>
        </p:txBody>
      </p:sp>
      <p:sp>
        <p:nvSpPr>
          <p:cNvPr id="23" name="Shape 21"/>
          <p:cNvSpPr/>
          <p:nvPr/>
        </p:nvSpPr>
        <p:spPr>
          <a:xfrm>
            <a:off x="6217920" y="3246120"/>
            <a:ext cx="5532120" cy="932688"/>
          </a:xfrm>
          <a:prstGeom prst="roundRect">
            <a:avLst>
              <a:gd name="adj" fmla="val 9804"/>
            </a:avLst>
          </a:prstGeom>
          <a:solidFill>
            <a:srgbClr val="141414"/>
          </a:solidFill>
          <a:ln/>
        </p:spPr>
      </p:sp>
      <p:sp>
        <p:nvSpPr>
          <p:cNvPr id="24" name="Text 22"/>
          <p:cNvSpPr/>
          <p:nvPr/>
        </p:nvSpPr>
        <p:spPr>
          <a:xfrm>
            <a:off x="6400800" y="3355848"/>
            <a:ext cx="1097280" cy="256032"/>
          </a:xfrm>
          <a:prstGeom prst="rect">
            <a:avLst/>
          </a:prstGeom>
          <a:noFill/>
          <a:ln/>
        </p:spPr>
        <p:txBody>
          <a:bodyPr wrap="square" lIns="0" tIns="0" rIns="0" bIns="0" rtlCol="0" anchor="ctr"/>
          <a:lstStyle/>
          <a:p>
            <a:pPr indent="0" marL="0">
              <a:buNone/>
            </a:pPr>
            <a:r>
              <a:rPr lang="en-US" sz="1200" b="1" dirty="0">
                <a:solidFill>
                  <a:srgbClr val="C8F14F"/>
                </a:solidFill>
                <a:latin typeface="Calibri" pitchFamily="34" charset="0"/>
                <a:ea typeface="Calibri" pitchFamily="34" charset="-122"/>
                <a:cs typeface="Calibri" pitchFamily="34" charset="-120"/>
              </a:rPr>
              <a:t>stop</a:t>
            </a:r>
            <a:endParaRPr lang="en-US" sz="1200" dirty="0"/>
          </a:p>
        </p:txBody>
      </p:sp>
      <p:sp>
        <p:nvSpPr>
          <p:cNvPr id="25" name="Text 23"/>
          <p:cNvSpPr/>
          <p:nvPr/>
        </p:nvSpPr>
        <p:spPr>
          <a:xfrm>
            <a:off x="6400800" y="3666744"/>
            <a:ext cx="5120640" cy="365760"/>
          </a:xfrm>
          <a:prstGeom prst="rect">
            <a:avLst/>
          </a:prstGeom>
          <a:noFill/>
          <a:ln/>
        </p:spPr>
        <p:txBody>
          <a:bodyPr wrap="square" lIns="0" tIns="0" rIns="0" bIns="0" rtlCol="0" anchor="ctr"/>
          <a:lstStyle/>
          <a:p>
            <a:pPr indent="0" marL="0">
              <a:buNone/>
            </a:pPr>
            <a:r>
              <a:rPr lang="en-US" sz="1600" dirty="0">
                <a:solidFill>
                  <a:srgbClr val="FFFFFF"/>
                </a:solidFill>
                <a:latin typeface="Cambria" pitchFamily="34" charset="0"/>
                <a:ea typeface="Cambria" pitchFamily="34" charset="-122"/>
                <a:cs typeface="Cambria" pitchFamily="34" charset="-120"/>
              </a:rPr>
              <a:t>Shipping omitted, negotiation failed</a:t>
            </a:r>
            <a:endParaRPr lang="en-US" sz="1600" dirty="0"/>
          </a:p>
        </p:txBody>
      </p:sp>
      <p:sp>
        <p:nvSpPr>
          <p:cNvPr id="26" name="Shape 24"/>
          <p:cNvSpPr/>
          <p:nvPr/>
        </p:nvSpPr>
        <p:spPr>
          <a:xfrm>
            <a:off x="6217920" y="4297680"/>
            <a:ext cx="5532120" cy="932688"/>
          </a:xfrm>
          <a:prstGeom prst="roundRect">
            <a:avLst>
              <a:gd name="adj" fmla="val 9804"/>
            </a:avLst>
          </a:prstGeom>
          <a:solidFill>
            <a:srgbClr val="141414"/>
          </a:solidFill>
          <a:ln/>
        </p:spPr>
      </p:sp>
      <p:sp>
        <p:nvSpPr>
          <p:cNvPr id="27" name="Text 25"/>
          <p:cNvSpPr/>
          <p:nvPr/>
        </p:nvSpPr>
        <p:spPr>
          <a:xfrm>
            <a:off x="6400800" y="4407408"/>
            <a:ext cx="1097280" cy="256032"/>
          </a:xfrm>
          <a:prstGeom prst="rect">
            <a:avLst/>
          </a:prstGeom>
          <a:noFill/>
          <a:ln/>
        </p:spPr>
        <p:txBody>
          <a:bodyPr wrap="square" lIns="0" tIns="0" rIns="0" bIns="0" rtlCol="0" anchor="ctr"/>
          <a:lstStyle/>
          <a:p>
            <a:pPr indent="0" marL="0">
              <a:buNone/>
            </a:pPr>
            <a:r>
              <a:rPr lang="en-US" sz="1200" b="1" dirty="0">
                <a:solidFill>
                  <a:srgbClr val="C8F14F"/>
                </a:solidFill>
                <a:latin typeface="Calibri" pitchFamily="34" charset="0"/>
                <a:ea typeface="Calibri" pitchFamily="34" charset="-122"/>
                <a:cs typeface="Calibri" pitchFamily="34" charset="-120"/>
              </a:rPr>
              <a:t>stop</a:t>
            </a:r>
            <a:endParaRPr lang="en-US" sz="1200" dirty="0"/>
          </a:p>
        </p:txBody>
      </p:sp>
      <p:sp>
        <p:nvSpPr>
          <p:cNvPr id="28" name="Text 26"/>
          <p:cNvSpPr/>
          <p:nvPr/>
        </p:nvSpPr>
        <p:spPr>
          <a:xfrm>
            <a:off x="6400800" y="4718304"/>
            <a:ext cx="5120640" cy="365760"/>
          </a:xfrm>
          <a:prstGeom prst="rect">
            <a:avLst/>
          </a:prstGeom>
          <a:noFill/>
          <a:ln/>
        </p:spPr>
        <p:txBody>
          <a:bodyPr wrap="square" lIns="0" tIns="0" rIns="0" bIns="0" rtlCol="0" anchor="ctr"/>
          <a:lstStyle/>
          <a:p>
            <a:pPr indent="0" marL="0">
              <a:buNone/>
            </a:pPr>
            <a:r>
              <a:rPr lang="en-US" sz="1600" dirty="0">
                <a:solidFill>
                  <a:srgbClr val="FFFFFF"/>
                </a:solidFill>
                <a:latin typeface="Cambria" pitchFamily="34" charset="0"/>
                <a:ea typeface="Cambria" pitchFamily="34" charset="-122"/>
                <a:cs typeface="Cambria" pitchFamily="34" charset="-120"/>
              </a:rPr>
              <a:t>Price rolls back. Timeout before charge</a:t>
            </a:r>
            <a:endParaRPr lang="en-US" sz="1600" dirty="0"/>
          </a:p>
        </p:txBody>
      </p:sp>
      <p:sp>
        <p:nvSpPr>
          <p:cNvPr id="29" name="Text 27"/>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BUILD</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One slice. Then stop and read the tests.</a:t>
            </a:r>
            <a:endParaRPr lang="en-US" sz="2600" dirty="0"/>
          </a:p>
        </p:txBody>
      </p:sp>
      <p:sp>
        <p:nvSpPr>
          <p:cNvPr id="5" name="Shape 3"/>
          <p:cNvSpPr/>
          <p:nvPr/>
        </p:nvSpPr>
        <p:spPr>
          <a:xfrm>
            <a:off x="457200" y="1115568"/>
            <a:ext cx="640080" cy="713232"/>
          </a:xfrm>
          <a:prstGeom prst="roundRect">
            <a:avLst>
              <a:gd name="adj" fmla="val 11429"/>
            </a:avLst>
          </a:prstGeom>
          <a:solidFill>
            <a:srgbClr val="C8F14F"/>
          </a:solidFill>
          <a:ln/>
        </p:spPr>
      </p:sp>
      <p:sp>
        <p:nvSpPr>
          <p:cNvPr id="6" name="Text 4"/>
          <p:cNvSpPr/>
          <p:nvPr/>
        </p:nvSpPr>
        <p:spPr>
          <a:xfrm>
            <a:off x="457200" y="1115568"/>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0</a:t>
            </a:r>
            <a:endParaRPr lang="en-US" sz="2000" dirty="0"/>
          </a:p>
        </p:txBody>
      </p:sp>
      <p:sp>
        <p:nvSpPr>
          <p:cNvPr id="7" name="Shape 5"/>
          <p:cNvSpPr/>
          <p:nvPr/>
        </p:nvSpPr>
        <p:spPr>
          <a:xfrm>
            <a:off x="1234440" y="1115568"/>
            <a:ext cx="2103120" cy="713232"/>
          </a:xfrm>
          <a:prstGeom prst="roundRect">
            <a:avLst>
              <a:gd name="adj" fmla="val 10256"/>
            </a:avLst>
          </a:prstGeom>
          <a:solidFill>
            <a:srgbClr val="FFFCF6"/>
          </a:solidFill>
          <a:ln/>
        </p:spPr>
      </p:sp>
      <p:sp>
        <p:nvSpPr>
          <p:cNvPr id="8" name="Text 6"/>
          <p:cNvSpPr/>
          <p:nvPr/>
        </p:nvSpPr>
        <p:spPr>
          <a:xfrm>
            <a:off x="1234440" y="1115568"/>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Done</a:t>
            </a:r>
            <a:endParaRPr lang="en-US" sz="1400" dirty="0"/>
          </a:p>
        </p:txBody>
      </p:sp>
      <p:sp>
        <p:nvSpPr>
          <p:cNvPr id="9" name="Shape 7"/>
          <p:cNvSpPr/>
          <p:nvPr/>
        </p:nvSpPr>
        <p:spPr>
          <a:xfrm>
            <a:off x="3474720" y="1115568"/>
            <a:ext cx="8229600" cy="713232"/>
          </a:xfrm>
          <a:prstGeom prst="roundRect">
            <a:avLst>
              <a:gd name="adj" fmla="val 10256"/>
            </a:avLst>
          </a:prstGeom>
          <a:solidFill>
            <a:srgbClr val="FFFCF6"/>
          </a:solidFill>
          <a:ln/>
        </p:spPr>
      </p:sp>
      <p:sp>
        <p:nvSpPr>
          <p:cNvPr id="10" name="Text 8"/>
          <p:cNvSpPr/>
          <p:nvPr/>
        </p:nvSpPr>
        <p:spPr>
          <a:xfrm>
            <a:off x="3657600" y="1115568"/>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Money, mandate, rank, mock card, 13 replays, overspend 0.</a:t>
            </a:r>
            <a:endParaRPr lang="en-US" sz="1500" dirty="0"/>
          </a:p>
        </p:txBody>
      </p:sp>
      <p:sp>
        <p:nvSpPr>
          <p:cNvPr id="11" name="Shape 9"/>
          <p:cNvSpPr/>
          <p:nvPr/>
        </p:nvSpPr>
        <p:spPr>
          <a:xfrm>
            <a:off x="457200" y="1956816"/>
            <a:ext cx="640080" cy="713232"/>
          </a:xfrm>
          <a:prstGeom prst="roundRect">
            <a:avLst>
              <a:gd name="adj" fmla="val 11429"/>
            </a:avLst>
          </a:prstGeom>
          <a:solidFill>
            <a:srgbClr val="C8F14F"/>
          </a:solidFill>
          <a:ln/>
        </p:spPr>
      </p:sp>
      <p:sp>
        <p:nvSpPr>
          <p:cNvPr id="12" name="Text 10"/>
          <p:cNvSpPr/>
          <p:nvPr/>
        </p:nvSpPr>
        <p:spPr>
          <a:xfrm>
            <a:off x="457200" y="1956816"/>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1</a:t>
            </a:r>
            <a:endParaRPr lang="en-US" sz="2000" dirty="0"/>
          </a:p>
        </p:txBody>
      </p:sp>
      <p:sp>
        <p:nvSpPr>
          <p:cNvPr id="13" name="Shape 11"/>
          <p:cNvSpPr/>
          <p:nvPr/>
        </p:nvSpPr>
        <p:spPr>
          <a:xfrm>
            <a:off x="1234440" y="1956816"/>
            <a:ext cx="2103120" cy="713232"/>
          </a:xfrm>
          <a:prstGeom prst="roundRect">
            <a:avLst>
              <a:gd name="adj" fmla="val 10256"/>
            </a:avLst>
          </a:prstGeom>
          <a:solidFill>
            <a:srgbClr val="FFFCF6"/>
          </a:solidFill>
          <a:ln/>
        </p:spPr>
      </p:sp>
      <p:sp>
        <p:nvSpPr>
          <p:cNvPr id="14" name="Text 12"/>
          <p:cNvSpPr/>
          <p:nvPr/>
        </p:nvSpPr>
        <p:spPr>
          <a:xfrm>
            <a:off x="1234440" y="1956816"/>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Done in the tree</a:t>
            </a:r>
            <a:endParaRPr lang="en-US" sz="1400" dirty="0"/>
          </a:p>
        </p:txBody>
      </p:sp>
      <p:sp>
        <p:nvSpPr>
          <p:cNvPr id="15" name="Shape 13"/>
          <p:cNvSpPr/>
          <p:nvPr/>
        </p:nvSpPr>
        <p:spPr>
          <a:xfrm>
            <a:off x="3474720" y="1956816"/>
            <a:ext cx="8229600" cy="713232"/>
          </a:xfrm>
          <a:prstGeom prst="roundRect">
            <a:avLst>
              <a:gd name="adj" fmla="val 10256"/>
            </a:avLst>
          </a:prstGeom>
          <a:solidFill>
            <a:srgbClr val="FFFCF6"/>
          </a:solidFill>
          <a:ln/>
        </p:spPr>
      </p:sp>
      <p:sp>
        <p:nvSpPr>
          <p:cNvPr id="16" name="Text 14"/>
          <p:cNvSpPr/>
          <p:nvPr/>
        </p:nvSpPr>
        <p:spPr>
          <a:xfrm>
            <a:off x="3657600" y="1956816"/>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Every trace row has a role. Commit this before Slice 2.</a:t>
            </a:r>
            <a:endParaRPr lang="en-US" sz="1500" dirty="0"/>
          </a:p>
        </p:txBody>
      </p:sp>
      <p:sp>
        <p:nvSpPr>
          <p:cNvPr id="17" name="Shape 15"/>
          <p:cNvSpPr/>
          <p:nvPr/>
        </p:nvSpPr>
        <p:spPr>
          <a:xfrm>
            <a:off x="457200" y="2798064"/>
            <a:ext cx="640080" cy="713232"/>
          </a:xfrm>
          <a:prstGeom prst="roundRect">
            <a:avLst>
              <a:gd name="adj" fmla="val 11429"/>
            </a:avLst>
          </a:prstGeom>
          <a:solidFill>
            <a:srgbClr val="C8F14F"/>
          </a:solidFill>
          <a:ln/>
        </p:spPr>
      </p:sp>
      <p:sp>
        <p:nvSpPr>
          <p:cNvPr id="18" name="Text 16"/>
          <p:cNvSpPr/>
          <p:nvPr/>
        </p:nvSpPr>
        <p:spPr>
          <a:xfrm>
            <a:off x="457200" y="2798064"/>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2</a:t>
            </a:r>
            <a:endParaRPr lang="en-US" sz="2000" dirty="0"/>
          </a:p>
        </p:txBody>
      </p:sp>
      <p:sp>
        <p:nvSpPr>
          <p:cNvPr id="19" name="Shape 17"/>
          <p:cNvSpPr/>
          <p:nvPr/>
        </p:nvSpPr>
        <p:spPr>
          <a:xfrm>
            <a:off x="1234440" y="2798064"/>
            <a:ext cx="2103120" cy="713232"/>
          </a:xfrm>
          <a:prstGeom prst="roundRect">
            <a:avLst>
              <a:gd name="adj" fmla="val 10256"/>
            </a:avLst>
          </a:prstGeom>
          <a:solidFill>
            <a:srgbClr val="FFFCF6"/>
          </a:solidFill>
          <a:ln/>
        </p:spPr>
      </p:sp>
      <p:sp>
        <p:nvSpPr>
          <p:cNvPr id="20" name="Text 18"/>
          <p:cNvSpPr/>
          <p:nvPr/>
        </p:nvSpPr>
        <p:spPr>
          <a:xfrm>
            <a:off x="1234440" y="2798064"/>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In the tree</a:t>
            </a:r>
            <a:endParaRPr lang="en-US" sz="1400" dirty="0"/>
          </a:p>
        </p:txBody>
      </p:sp>
      <p:sp>
        <p:nvSpPr>
          <p:cNvPr id="21" name="Shape 19"/>
          <p:cNvSpPr/>
          <p:nvPr/>
        </p:nvSpPr>
        <p:spPr>
          <a:xfrm>
            <a:off x="3474720" y="2798064"/>
            <a:ext cx="8229600" cy="713232"/>
          </a:xfrm>
          <a:prstGeom prst="roundRect">
            <a:avLst>
              <a:gd name="adj" fmla="val 10256"/>
            </a:avLst>
          </a:prstGeom>
          <a:solidFill>
            <a:srgbClr val="FFFCF6"/>
          </a:solidFill>
          <a:ln/>
        </p:spPr>
      </p:sp>
      <p:sp>
        <p:nvSpPr>
          <p:cNvPr id="22" name="Text 20"/>
          <p:cNvSpPr/>
          <p:nvPr/>
        </p:nvSpPr>
        <p:spPr>
          <a:xfrm>
            <a:off x="3657600" y="2798064"/>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One counter from the winning website. Auditor can veto the text.</a:t>
            </a:r>
            <a:endParaRPr lang="en-US" sz="1500" dirty="0"/>
          </a:p>
        </p:txBody>
      </p:sp>
      <p:sp>
        <p:nvSpPr>
          <p:cNvPr id="23" name="Shape 21"/>
          <p:cNvSpPr/>
          <p:nvPr/>
        </p:nvSpPr>
        <p:spPr>
          <a:xfrm>
            <a:off x="457200" y="3639312"/>
            <a:ext cx="640080" cy="713232"/>
          </a:xfrm>
          <a:prstGeom prst="roundRect">
            <a:avLst>
              <a:gd name="adj" fmla="val 11429"/>
            </a:avLst>
          </a:prstGeom>
          <a:solidFill>
            <a:srgbClr val="C8F14F"/>
          </a:solidFill>
          <a:ln/>
        </p:spPr>
      </p:sp>
      <p:sp>
        <p:nvSpPr>
          <p:cNvPr id="24" name="Text 22"/>
          <p:cNvSpPr/>
          <p:nvPr/>
        </p:nvSpPr>
        <p:spPr>
          <a:xfrm>
            <a:off x="457200" y="3639312"/>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3</a:t>
            </a:r>
            <a:endParaRPr lang="en-US" sz="2000" dirty="0"/>
          </a:p>
        </p:txBody>
      </p:sp>
      <p:sp>
        <p:nvSpPr>
          <p:cNvPr id="25" name="Shape 23"/>
          <p:cNvSpPr/>
          <p:nvPr/>
        </p:nvSpPr>
        <p:spPr>
          <a:xfrm>
            <a:off x="1234440" y="3639312"/>
            <a:ext cx="2103120" cy="713232"/>
          </a:xfrm>
          <a:prstGeom prst="roundRect">
            <a:avLst>
              <a:gd name="adj" fmla="val 10256"/>
            </a:avLst>
          </a:prstGeom>
          <a:solidFill>
            <a:srgbClr val="FFFCF6"/>
          </a:solidFill>
          <a:ln/>
        </p:spPr>
      </p:sp>
      <p:sp>
        <p:nvSpPr>
          <p:cNvPr id="26" name="Text 24"/>
          <p:cNvSpPr/>
          <p:nvPr/>
        </p:nvSpPr>
        <p:spPr>
          <a:xfrm>
            <a:off x="1234440" y="3639312"/>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In the tree</a:t>
            </a:r>
            <a:endParaRPr lang="en-US" sz="1400" dirty="0"/>
          </a:p>
        </p:txBody>
      </p:sp>
      <p:sp>
        <p:nvSpPr>
          <p:cNvPr id="27" name="Shape 25"/>
          <p:cNvSpPr/>
          <p:nvPr/>
        </p:nvSpPr>
        <p:spPr>
          <a:xfrm>
            <a:off x="3474720" y="3639312"/>
            <a:ext cx="8229600" cy="713232"/>
          </a:xfrm>
          <a:prstGeom prst="roundRect">
            <a:avLst>
              <a:gd name="adj" fmla="val 10256"/>
            </a:avLst>
          </a:prstGeom>
          <a:solidFill>
            <a:srgbClr val="FFFCF6"/>
          </a:solidFill>
          <a:ln/>
        </p:spPr>
      </p:sp>
      <p:sp>
        <p:nvSpPr>
          <p:cNvPr id="28" name="Text 26"/>
          <p:cNvSpPr/>
          <p:nvPr/>
        </p:nvSpPr>
        <p:spPr>
          <a:xfrm>
            <a:off x="3657600" y="3639312"/>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Card, then wallet if card never charged. Account refund leaves the week spent.</a:t>
            </a:r>
            <a:endParaRPr lang="en-US" sz="1500" dirty="0"/>
          </a:p>
        </p:txBody>
      </p:sp>
      <p:sp>
        <p:nvSpPr>
          <p:cNvPr id="29" name="Shape 27"/>
          <p:cNvSpPr/>
          <p:nvPr/>
        </p:nvSpPr>
        <p:spPr>
          <a:xfrm>
            <a:off x="457200" y="4480560"/>
            <a:ext cx="640080" cy="713232"/>
          </a:xfrm>
          <a:prstGeom prst="roundRect">
            <a:avLst>
              <a:gd name="adj" fmla="val 11429"/>
            </a:avLst>
          </a:prstGeom>
          <a:solidFill>
            <a:srgbClr val="C8F14F"/>
          </a:solidFill>
          <a:ln/>
        </p:spPr>
      </p:sp>
      <p:sp>
        <p:nvSpPr>
          <p:cNvPr id="30" name="Text 28"/>
          <p:cNvSpPr/>
          <p:nvPr/>
        </p:nvSpPr>
        <p:spPr>
          <a:xfrm>
            <a:off x="457200" y="4480560"/>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4</a:t>
            </a:r>
            <a:endParaRPr lang="en-US" sz="2000" dirty="0"/>
          </a:p>
        </p:txBody>
      </p:sp>
      <p:sp>
        <p:nvSpPr>
          <p:cNvPr id="31" name="Shape 29"/>
          <p:cNvSpPr/>
          <p:nvPr/>
        </p:nvSpPr>
        <p:spPr>
          <a:xfrm>
            <a:off x="1234440" y="4480560"/>
            <a:ext cx="2103120" cy="713232"/>
          </a:xfrm>
          <a:prstGeom prst="roundRect">
            <a:avLst>
              <a:gd name="adj" fmla="val 10256"/>
            </a:avLst>
          </a:prstGeom>
          <a:solidFill>
            <a:srgbClr val="FFFCF6"/>
          </a:solidFill>
          <a:ln/>
        </p:spPr>
      </p:sp>
      <p:sp>
        <p:nvSpPr>
          <p:cNvPr id="32" name="Text 30"/>
          <p:cNvSpPr/>
          <p:nvPr/>
        </p:nvSpPr>
        <p:spPr>
          <a:xfrm>
            <a:off x="1234440" y="4480560"/>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In the tree</a:t>
            </a:r>
            <a:endParaRPr lang="en-US" sz="1400" dirty="0"/>
          </a:p>
        </p:txBody>
      </p:sp>
      <p:sp>
        <p:nvSpPr>
          <p:cNvPr id="33" name="Shape 31"/>
          <p:cNvSpPr/>
          <p:nvPr/>
        </p:nvSpPr>
        <p:spPr>
          <a:xfrm>
            <a:off x="3474720" y="4480560"/>
            <a:ext cx="8229600" cy="713232"/>
          </a:xfrm>
          <a:prstGeom prst="roundRect">
            <a:avLst>
              <a:gd name="adj" fmla="val 10256"/>
            </a:avLst>
          </a:prstGeom>
          <a:solidFill>
            <a:srgbClr val="FFFCF6"/>
          </a:solidFill>
          <a:ln/>
        </p:spPr>
      </p:sp>
      <p:sp>
        <p:nvSpPr>
          <p:cNvPr id="34" name="Text 32"/>
          <p:cNvSpPr/>
          <p:nvPr/>
        </p:nvSpPr>
        <p:spPr>
          <a:xfrm>
            <a:off x="3657600" y="4480560"/>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Two signed slips. A bad signature books nothing.</a:t>
            </a:r>
            <a:endParaRPr lang="en-US" sz="1500" dirty="0"/>
          </a:p>
        </p:txBody>
      </p:sp>
      <p:sp>
        <p:nvSpPr>
          <p:cNvPr id="35" name="Shape 33"/>
          <p:cNvSpPr/>
          <p:nvPr/>
        </p:nvSpPr>
        <p:spPr>
          <a:xfrm>
            <a:off x="457200" y="5321808"/>
            <a:ext cx="640080" cy="713232"/>
          </a:xfrm>
          <a:prstGeom prst="roundRect">
            <a:avLst>
              <a:gd name="adj" fmla="val 11429"/>
            </a:avLst>
          </a:prstGeom>
          <a:solidFill>
            <a:srgbClr val="C8F14F"/>
          </a:solidFill>
          <a:ln/>
        </p:spPr>
      </p:sp>
      <p:sp>
        <p:nvSpPr>
          <p:cNvPr id="36" name="Text 34"/>
          <p:cNvSpPr/>
          <p:nvPr/>
        </p:nvSpPr>
        <p:spPr>
          <a:xfrm>
            <a:off x="457200" y="5321808"/>
            <a:ext cx="640080" cy="713232"/>
          </a:xfrm>
          <a:prstGeom prst="rect">
            <a:avLst/>
          </a:prstGeom>
          <a:noFill/>
          <a:ln/>
        </p:spPr>
        <p:txBody>
          <a:bodyPr wrap="square" lIns="0" tIns="0" rIns="0" bIns="0" rtlCol="0" anchor="ctr"/>
          <a:lstStyle/>
          <a:p>
            <a:pPr algn="ctr" indent="0" marL="0">
              <a:buNone/>
            </a:pPr>
            <a:r>
              <a:rPr lang="en-US" sz="2000" dirty="0">
                <a:solidFill>
                  <a:srgbClr val="141414"/>
                </a:solidFill>
                <a:latin typeface="Cambria" pitchFamily="34" charset="0"/>
                <a:ea typeface="Cambria" pitchFamily="34" charset="-122"/>
                <a:cs typeface="Cambria" pitchFamily="34" charset="-120"/>
              </a:rPr>
              <a:t>5</a:t>
            </a:r>
            <a:endParaRPr lang="en-US" sz="2000" dirty="0"/>
          </a:p>
        </p:txBody>
      </p:sp>
      <p:sp>
        <p:nvSpPr>
          <p:cNvPr id="37" name="Shape 35"/>
          <p:cNvSpPr/>
          <p:nvPr/>
        </p:nvSpPr>
        <p:spPr>
          <a:xfrm>
            <a:off x="1234440" y="5321808"/>
            <a:ext cx="2103120" cy="713232"/>
          </a:xfrm>
          <a:prstGeom prst="roundRect">
            <a:avLst>
              <a:gd name="adj" fmla="val 10256"/>
            </a:avLst>
          </a:prstGeom>
          <a:solidFill>
            <a:srgbClr val="FFFCF6"/>
          </a:solidFill>
          <a:ln/>
        </p:spPr>
      </p:sp>
      <p:sp>
        <p:nvSpPr>
          <p:cNvPr id="38" name="Text 36"/>
          <p:cNvSpPr/>
          <p:nvPr/>
        </p:nvSpPr>
        <p:spPr>
          <a:xfrm>
            <a:off x="1234440" y="5321808"/>
            <a:ext cx="2103120" cy="713232"/>
          </a:xfrm>
          <a:prstGeom prst="rect">
            <a:avLst/>
          </a:prstGeom>
          <a:noFill/>
          <a:ln/>
        </p:spPr>
        <p:txBody>
          <a:bodyPr wrap="square" lIns="0" tIns="0" rIns="0" bIns="0" rtlCol="0" anchor="ctr"/>
          <a:lstStyle/>
          <a:p>
            <a:pPr algn="ctr" indent="0" marL="0">
              <a:buNone/>
            </a:pPr>
            <a:r>
              <a:rPr lang="en-US" sz="1400" b="1" dirty="0">
                <a:solidFill>
                  <a:srgbClr val="141414"/>
                </a:solidFill>
                <a:latin typeface="Calibri" pitchFamily="34" charset="0"/>
                <a:ea typeface="Calibri" pitchFamily="34" charset="-122"/>
                <a:cs typeface="Calibri" pitchFamily="34" charset="-120"/>
              </a:rPr>
              <a:t>In the tree</a:t>
            </a:r>
            <a:endParaRPr lang="en-US" sz="1400" dirty="0"/>
          </a:p>
        </p:txBody>
      </p:sp>
      <p:sp>
        <p:nvSpPr>
          <p:cNvPr id="39" name="Shape 37"/>
          <p:cNvSpPr/>
          <p:nvPr/>
        </p:nvSpPr>
        <p:spPr>
          <a:xfrm>
            <a:off x="3474720" y="5321808"/>
            <a:ext cx="8229600" cy="713232"/>
          </a:xfrm>
          <a:prstGeom prst="roundRect">
            <a:avLst>
              <a:gd name="adj" fmla="val 10256"/>
            </a:avLst>
          </a:prstGeom>
          <a:solidFill>
            <a:srgbClr val="FFFCF6"/>
          </a:solidFill>
          <a:ln/>
        </p:spPr>
      </p:sp>
      <p:sp>
        <p:nvSpPr>
          <p:cNvPr id="40" name="Text 38"/>
          <p:cNvSpPr/>
          <p:nvPr/>
        </p:nvSpPr>
        <p:spPr>
          <a:xfrm>
            <a:off x="3657600" y="5321808"/>
            <a:ext cx="7863840" cy="713232"/>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Auto pays a unique winner after the signature check. A tie asks.</a:t>
            </a:r>
            <a:endParaRPr lang="en-US" sz="1500" dirty="0"/>
          </a:p>
        </p:txBody>
      </p:sp>
      <p:sp>
        <p:nvSpPr>
          <p:cNvPr id="41" name="Text 39"/>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HANDS</a:t>
            </a:r>
            <a:endParaRPr lang="en-US" sz="1100" dirty="0"/>
          </a:p>
        </p:txBody>
      </p:sp>
      <p:sp>
        <p:nvSpPr>
          <p:cNvPr id="4" name="Text 2"/>
          <p:cNvSpPr/>
          <p:nvPr/>
        </p:nvSpPr>
        <p:spPr>
          <a:xfrm>
            <a:off x="457200" y="585216"/>
            <a:ext cx="11247120" cy="384048"/>
          </a:xfrm>
          <a:prstGeom prst="rect">
            <a:avLst/>
          </a:prstGeom>
          <a:noFill/>
          <a:ln/>
        </p:spPr>
        <p:txBody>
          <a:bodyPr wrap="square" lIns="0" tIns="0" rIns="0" bIns="0" rtlCol="0" anchor="ctr"/>
          <a:lstStyle/>
          <a:p>
            <a:pPr indent="0" marL="0">
              <a:buNone/>
            </a:pPr>
            <a:r>
              <a:rPr lang="en-US" sz="2600" b="1" dirty="0">
                <a:solidFill>
                  <a:srgbClr val="141414"/>
                </a:solidFill>
                <a:latin typeface="Cambria" pitchFamily="34" charset="0"/>
                <a:ea typeface="Cambria" pitchFamily="34" charset="-122"/>
                <a:cs typeface="Cambria" pitchFamily="34" charset="-120"/>
              </a:rPr>
              <a:t>Who touches which file</a:t>
            </a:r>
            <a:endParaRPr lang="en-US" sz="2600" dirty="0"/>
          </a:p>
        </p:txBody>
      </p:sp>
      <p:sp>
        <p:nvSpPr>
          <p:cNvPr id="5" name="Shape 3"/>
          <p:cNvSpPr/>
          <p:nvPr/>
        </p:nvSpPr>
        <p:spPr>
          <a:xfrm>
            <a:off x="457200" y="1188720"/>
            <a:ext cx="11247120" cy="1115568"/>
          </a:xfrm>
          <a:prstGeom prst="roundRect">
            <a:avLst>
              <a:gd name="adj" fmla="val 8197"/>
            </a:avLst>
          </a:prstGeom>
          <a:solidFill>
            <a:srgbClr val="FFFCF6"/>
          </a:solidFill>
          <a:ln/>
          <a:effectLst>
            <a:outerShdw sx="100000" sy="100000" kx="0" ky="0" algn="bl" rotWithShape="0" blurRad="177800" dist="50800" dir="5400000">
              <a:srgbClr val="141414">
                <a:alpha val="8000"/>
              </a:srgbClr>
            </a:outerShdw>
          </a:effectLst>
        </p:spPr>
      </p:sp>
      <p:sp>
        <p:nvSpPr>
          <p:cNvPr id="6" name="Shape 4"/>
          <p:cNvSpPr/>
          <p:nvPr/>
        </p:nvSpPr>
        <p:spPr>
          <a:xfrm>
            <a:off x="603504" y="1335024"/>
            <a:ext cx="128016" cy="128016"/>
          </a:xfrm>
          <a:prstGeom prst="roundRect">
            <a:avLst>
              <a:gd name="adj" fmla="val 28571"/>
            </a:avLst>
          </a:prstGeom>
          <a:solidFill>
            <a:srgbClr val="C8F14F"/>
          </a:solidFill>
          <a:ln/>
        </p:spPr>
      </p:sp>
      <p:sp>
        <p:nvSpPr>
          <p:cNvPr id="7" name="Text 5"/>
          <p:cNvSpPr/>
          <p:nvPr/>
        </p:nvSpPr>
        <p:spPr>
          <a:xfrm>
            <a:off x="777240" y="1298448"/>
            <a:ext cx="2011680" cy="274320"/>
          </a:xfrm>
          <a:prstGeom prst="rect">
            <a:avLst/>
          </a:prstGeom>
          <a:noFill/>
          <a:ln/>
        </p:spPr>
        <p:txBody>
          <a:bodyPr wrap="square" lIns="0" tIns="0" rIns="0" bIns="0" rtlCol="0" anchor="ctr"/>
          <a:lstStyle/>
          <a:p>
            <a:pPr indent="0" marL="0">
              <a:buNone/>
            </a:pPr>
            <a:r>
              <a:rPr lang="en-US" sz="1300" b="1" dirty="0">
                <a:solidFill>
                  <a:srgbClr val="5A584F"/>
                </a:solidFill>
                <a:latin typeface="Calibri" pitchFamily="34" charset="0"/>
                <a:ea typeface="Calibri" pitchFamily="34" charset="-122"/>
                <a:cs typeface="Calibri" pitchFamily="34" charset="-120"/>
              </a:rPr>
              <a:t>Slice 2</a:t>
            </a:r>
            <a:endParaRPr lang="en-US" sz="1300" dirty="0"/>
          </a:p>
        </p:txBody>
      </p:sp>
      <p:sp>
        <p:nvSpPr>
          <p:cNvPr id="8" name="Text 6"/>
          <p:cNvSpPr/>
          <p:nvPr/>
        </p:nvSpPr>
        <p:spPr>
          <a:xfrm>
            <a:off x="2834640" y="1298448"/>
            <a:ext cx="8503920" cy="27432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lib/negotiate.ts and lib/attempt.ts</a:t>
            </a:r>
            <a:endParaRPr lang="en-US" sz="1300" dirty="0"/>
          </a:p>
        </p:txBody>
      </p:sp>
      <p:sp>
        <p:nvSpPr>
          <p:cNvPr id="9" name="Text 7"/>
          <p:cNvSpPr/>
          <p:nvPr/>
        </p:nvSpPr>
        <p:spPr>
          <a:xfrm>
            <a:off x="777240" y="1645920"/>
            <a:ext cx="10607040" cy="45720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A counter inside the mandate updates the quote. Cash 410 against per-order 400 is refused.</a:t>
            </a:r>
            <a:endParaRPr lang="en-US" sz="1600" dirty="0"/>
          </a:p>
        </p:txBody>
      </p:sp>
      <p:sp>
        <p:nvSpPr>
          <p:cNvPr id="10" name="Shape 8"/>
          <p:cNvSpPr/>
          <p:nvPr/>
        </p:nvSpPr>
        <p:spPr>
          <a:xfrm>
            <a:off x="457200" y="2423160"/>
            <a:ext cx="11247120" cy="1115568"/>
          </a:xfrm>
          <a:prstGeom prst="roundRect">
            <a:avLst>
              <a:gd name="adj" fmla="val 8197"/>
            </a:avLst>
          </a:prstGeom>
          <a:solidFill>
            <a:srgbClr val="FFFCF6"/>
          </a:solidFill>
          <a:ln/>
          <a:effectLst>
            <a:outerShdw sx="100000" sy="100000" kx="0" ky="0" algn="bl" rotWithShape="0" blurRad="177800" dist="50800" dir="5400000">
              <a:srgbClr val="141414">
                <a:alpha val="8000"/>
              </a:srgbClr>
            </a:outerShdw>
          </a:effectLst>
        </p:spPr>
      </p:sp>
      <p:sp>
        <p:nvSpPr>
          <p:cNvPr id="11" name="Shape 9"/>
          <p:cNvSpPr/>
          <p:nvPr/>
        </p:nvSpPr>
        <p:spPr>
          <a:xfrm>
            <a:off x="603504" y="2569464"/>
            <a:ext cx="128016" cy="128016"/>
          </a:xfrm>
          <a:prstGeom prst="roundRect">
            <a:avLst>
              <a:gd name="adj" fmla="val 28571"/>
            </a:avLst>
          </a:prstGeom>
          <a:solidFill>
            <a:srgbClr val="C8F14F"/>
          </a:solidFill>
          <a:ln/>
        </p:spPr>
      </p:sp>
      <p:sp>
        <p:nvSpPr>
          <p:cNvPr id="12" name="Text 10"/>
          <p:cNvSpPr/>
          <p:nvPr/>
        </p:nvSpPr>
        <p:spPr>
          <a:xfrm>
            <a:off x="777240" y="2532888"/>
            <a:ext cx="2011680" cy="274320"/>
          </a:xfrm>
          <a:prstGeom prst="rect">
            <a:avLst/>
          </a:prstGeom>
          <a:noFill/>
          <a:ln/>
        </p:spPr>
        <p:txBody>
          <a:bodyPr wrap="square" lIns="0" tIns="0" rIns="0" bIns="0" rtlCol="0" anchor="ctr"/>
          <a:lstStyle/>
          <a:p>
            <a:pPr indent="0" marL="0">
              <a:buNone/>
            </a:pPr>
            <a:r>
              <a:rPr lang="en-US" sz="1300" b="1" dirty="0">
                <a:solidFill>
                  <a:srgbClr val="5A584F"/>
                </a:solidFill>
                <a:latin typeface="Calibri" pitchFamily="34" charset="0"/>
                <a:ea typeface="Calibri" pitchFamily="34" charset="-122"/>
                <a:cs typeface="Calibri" pitchFamily="34" charset="-120"/>
              </a:rPr>
              <a:t>Slice 3</a:t>
            </a:r>
            <a:endParaRPr lang="en-US" sz="1300" dirty="0"/>
          </a:p>
        </p:txBody>
      </p:sp>
      <p:sp>
        <p:nvSpPr>
          <p:cNvPr id="13" name="Text 11"/>
          <p:cNvSpPr/>
          <p:nvPr/>
        </p:nvSpPr>
        <p:spPr>
          <a:xfrm>
            <a:off x="2834640" y="2532888"/>
            <a:ext cx="8503920" cy="27432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lib/pay.ts, lib/ledger.ts, account page</a:t>
            </a:r>
            <a:endParaRPr lang="en-US" sz="1300" dirty="0"/>
          </a:p>
        </p:txBody>
      </p:sp>
      <p:sp>
        <p:nvSpPr>
          <p:cNvPr id="14" name="Text 12"/>
          <p:cNvSpPr/>
          <p:nvPr/>
        </p:nvSpPr>
        <p:spPr>
          <a:xfrm>
            <a:off x="777240" y="2880360"/>
            <a:ext cx="10607040" cy="45720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Card fails before charge, wallet books once. Refund does not refill 168 hours.</a:t>
            </a:r>
            <a:endParaRPr lang="en-US" sz="1600" dirty="0"/>
          </a:p>
        </p:txBody>
      </p:sp>
      <p:sp>
        <p:nvSpPr>
          <p:cNvPr id="15" name="Shape 13"/>
          <p:cNvSpPr/>
          <p:nvPr/>
        </p:nvSpPr>
        <p:spPr>
          <a:xfrm>
            <a:off x="457200" y="3657600"/>
            <a:ext cx="11247120" cy="1115568"/>
          </a:xfrm>
          <a:prstGeom prst="roundRect">
            <a:avLst>
              <a:gd name="adj" fmla="val 8197"/>
            </a:avLst>
          </a:prstGeom>
          <a:solidFill>
            <a:srgbClr val="FFFCF6"/>
          </a:solidFill>
          <a:ln/>
          <a:effectLst>
            <a:outerShdw sx="100000" sy="100000" kx="0" ky="0" algn="bl" rotWithShape="0" blurRad="177800" dist="50800" dir="5400000">
              <a:srgbClr val="141414">
                <a:alpha val="8000"/>
              </a:srgbClr>
            </a:outerShdw>
          </a:effectLst>
        </p:spPr>
      </p:sp>
      <p:sp>
        <p:nvSpPr>
          <p:cNvPr id="16" name="Shape 14"/>
          <p:cNvSpPr/>
          <p:nvPr/>
        </p:nvSpPr>
        <p:spPr>
          <a:xfrm>
            <a:off x="603504" y="3803904"/>
            <a:ext cx="128016" cy="128016"/>
          </a:xfrm>
          <a:prstGeom prst="roundRect">
            <a:avLst>
              <a:gd name="adj" fmla="val 28571"/>
            </a:avLst>
          </a:prstGeom>
          <a:solidFill>
            <a:srgbClr val="C8F14F"/>
          </a:solidFill>
          <a:ln/>
        </p:spPr>
      </p:sp>
      <p:sp>
        <p:nvSpPr>
          <p:cNvPr id="17" name="Text 15"/>
          <p:cNvSpPr/>
          <p:nvPr/>
        </p:nvSpPr>
        <p:spPr>
          <a:xfrm>
            <a:off x="777240" y="3767328"/>
            <a:ext cx="2011680" cy="274320"/>
          </a:xfrm>
          <a:prstGeom prst="rect">
            <a:avLst/>
          </a:prstGeom>
          <a:noFill/>
          <a:ln/>
        </p:spPr>
        <p:txBody>
          <a:bodyPr wrap="square" lIns="0" tIns="0" rIns="0" bIns="0" rtlCol="0" anchor="ctr"/>
          <a:lstStyle/>
          <a:p>
            <a:pPr indent="0" marL="0">
              <a:buNone/>
            </a:pPr>
            <a:r>
              <a:rPr lang="en-US" sz="1300" b="1" dirty="0">
                <a:solidFill>
                  <a:srgbClr val="5A584F"/>
                </a:solidFill>
                <a:latin typeface="Calibri" pitchFamily="34" charset="0"/>
                <a:ea typeface="Calibri" pitchFamily="34" charset="-122"/>
                <a:cs typeface="Calibri" pitchFamily="34" charset="-120"/>
              </a:rPr>
              <a:t>Slice 4</a:t>
            </a:r>
            <a:endParaRPr lang="en-US" sz="1300" dirty="0"/>
          </a:p>
        </p:txBody>
      </p:sp>
      <p:sp>
        <p:nvSpPr>
          <p:cNvPr id="18" name="Text 16"/>
          <p:cNvSpPr/>
          <p:nvPr/>
        </p:nvSpPr>
        <p:spPr>
          <a:xfrm>
            <a:off x="2834640" y="3767328"/>
            <a:ext cx="8503920" cy="27432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lib/credential.ts and lib/db.ts</a:t>
            </a:r>
            <a:endParaRPr lang="en-US" sz="1300" dirty="0"/>
          </a:p>
        </p:txBody>
      </p:sp>
      <p:sp>
        <p:nvSpPr>
          <p:cNvPr id="19" name="Text 17"/>
          <p:cNvSpPr/>
          <p:nvPr/>
        </p:nvSpPr>
        <p:spPr>
          <a:xfrm>
            <a:off x="777240" y="4114800"/>
            <a:ext cx="10607040" cy="45720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Valid signatures pay once. One flipped bit leaves no ledger row.</a:t>
            </a:r>
            <a:endParaRPr lang="en-US" sz="1600" dirty="0"/>
          </a:p>
        </p:txBody>
      </p:sp>
      <p:sp>
        <p:nvSpPr>
          <p:cNvPr id="20" name="Shape 18"/>
          <p:cNvSpPr/>
          <p:nvPr/>
        </p:nvSpPr>
        <p:spPr>
          <a:xfrm>
            <a:off x="457200" y="4892040"/>
            <a:ext cx="11247120" cy="1115568"/>
          </a:xfrm>
          <a:prstGeom prst="roundRect">
            <a:avLst>
              <a:gd name="adj" fmla="val 8197"/>
            </a:avLst>
          </a:prstGeom>
          <a:solidFill>
            <a:srgbClr val="FFFCF6"/>
          </a:solidFill>
          <a:ln/>
          <a:effectLst>
            <a:outerShdw sx="100000" sy="100000" kx="0" ky="0" algn="bl" rotWithShape="0" blurRad="177800" dist="50800" dir="5400000">
              <a:srgbClr val="141414">
                <a:alpha val="8000"/>
              </a:srgbClr>
            </a:outerShdw>
          </a:effectLst>
        </p:spPr>
      </p:sp>
      <p:sp>
        <p:nvSpPr>
          <p:cNvPr id="21" name="Shape 19"/>
          <p:cNvSpPr/>
          <p:nvPr/>
        </p:nvSpPr>
        <p:spPr>
          <a:xfrm>
            <a:off x="603504" y="5038344"/>
            <a:ext cx="128016" cy="128016"/>
          </a:xfrm>
          <a:prstGeom prst="roundRect">
            <a:avLst>
              <a:gd name="adj" fmla="val 28571"/>
            </a:avLst>
          </a:prstGeom>
          <a:solidFill>
            <a:srgbClr val="C8F14F"/>
          </a:solidFill>
          <a:ln/>
        </p:spPr>
      </p:sp>
      <p:sp>
        <p:nvSpPr>
          <p:cNvPr id="22" name="Text 20"/>
          <p:cNvSpPr/>
          <p:nvPr/>
        </p:nvSpPr>
        <p:spPr>
          <a:xfrm>
            <a:off x="777240" y="5001768"/>
            <a:ext cx="2011680" cy="274320"/>
          </a:xfrm>
          <a:prstGeom prst="rect">
            <a:avLst/>
          </a:prstGeom>
          <a:noFill/>
          <a:ln/>
        </p:spPr>
        <p:txBody>
          <a:bodyPr wrap="square" lIns="0" tIns="0" rIns="0" bIns="0" rtlCol="0" anchor="ctr"/>
          <a:lstStyle/>
          <a:p>
            <a:pPr indent="0" marL="0">
              <a:buNone/>
            </a:pPr>
            <a:r>
              <a:rPr lang="en-US" sz="1300" b="1" dirty="0">
                <a:solidFill>
                  <a:srgbClr val="5A584F"/>
                </a:solidFill>
                <a:latin typeface="Calibri" pitchFamily="34" charset="0"/>
                <a:ea typeface="Calibri" pitchFamily="34" charset="-122"/>
                <a:cs typeface="Calibri" pitchFamily="34" charset="-120"/>
              </a:rPr>
              <a:t>Slice 5</a:t>
            </a:r>
            <a:endParaRPr lang="en-US" sz="1300" dirty="0"/>
          </a:p>
        </p:txBody>
      </p:sp>
      <p:sp>
        <p:nvSpPr>
          <p:cNvPr id="23" name="Text 21"/>
          <p:cNvSpPr/>
          <p:nvPr/>
        </p:nvSpPr>
        <p:spPr>
          <a:xfrm>
            <a:off x="2834640" y="5001768"/>
            <a:ext cx="8503920" cy="274320"/>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lib/attempt.ts auto path</a:t>
            </a:r>
            <a:endParaRPr lang="en-US" sz="1300" dirty="0"/>
          </a:p>
        </p:txBody>
      </p:sp>
      <p:sp>
        <p:nvSpPr>
          <p:cNvPr id="24" name="Text 22"/>
          <p:cNvSpPr/>
          <p:nvPr/>
        </p:nvSpPr>
        <p:spPr>
          <a:xfrm>
            <a:off x="777240" y="5349240"/>
            <a:ext cx="10607040" cy="457200"/>
          </a:xfrm>
          <a:prstGeom prst="rect">
            <a:avLst/>
          </a:prstGeom>
          <a:noFill/>
          <a:ln/>
        </p:spPr>
        <p:txBody>
          <a:bodyPr wrap="square" lIns="0" tIns="0" rIns="0" bIns="0" rtlCol="0" anchor="ctr"/>
          <a:lstStyle/>
          <a:p>
            <a:pPr indent="0" marL="0">
              <a:buNone/>
            </a:pPr>
            <a:r>
              <a:rPr lang="en-US" sz="1600" dirty="0">
                <a:solidFill>
                  <a:srgbClr val="141414"/>
                </a:solidFill>
                <a:latin typeface="Cambria" pitchFamily="34" charset="0"/>
                <a:ea typeface="Cambria" pitchFamily="34" charset="-122"/>
                <a:cs typeface="Cambria" pitchFamily="34" charset="-120"/>
              </a:rPr>
              <a:t>Unique winner plus both gates pays. A tie still asks. A bad signature does not book.</a:t>
            </a:r>
            <a:endParaRPr lang="en-US" sz="16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414"/>
        </a:solidFill>
      </p:bgPr>
    </p:bg>
    <p:spTree>
      <p:nvGrpSpPr>
        <p:cNvPr id="1" name=""/>
        <p:cNvGrpSpPr/>
        <p:nvPr/>
      </p:nvGrpSpPr>
      <p:grpSpPr>
        <a:xfrm>
          <a:off x="0" y="0"/>
          <a:ext cx="0" cy="0"/>
          <a:chOff x="0" y="0"/>
          <a:chExt cx="0" cy="0"/>
        </a:xfrm>
      </p:grpSpPr>
      <p:sp>
        <p:nvSpPr>
          <p:cNvPr id="2" name="Shape 0"/>
          <p:cNvSpPr/>
          <p:nvPr/>
        </p:nvSpPr>
        <p:spPr>
          <a:xfrm>
            <a:off x="502920" y="347472"/>
            <a:ext cx="1097280" cy="292608"/>
          </a:xfrm>
          <a:prstGeom prst="roundRect">
            <a:avLst>
              <a:gd name="adj" fmla="val 25000"/>
            </a:avLst>
          </a:prstGeom>
          <a:solidFill>
            <a:srgbClr val="C8F14F"/>
          </a:solidFill>
          <a:ln/>
        </p:spPr>
      </p:sp>
      <p:sp>
        <p:nvSpPr>
          <p:cNvPr id="3" name="Text 1"/>
          <p:cNvSpPr/>
          <p:nvPr/>
        </p:nvSpPr>
        <p:spPr>
          <a:xfrm>
            <a:off x="502920" y="347472"/>
            <a:ext cx="1097280" cy="292608"/>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DEMO</a:t>
            </a:r>
            <a:endParaRPr lang="en-US" sz="1200" dirty="0"/>
          </a:p>
        </p:txBody>
      </p:sp>
      <p:sp>
        <p:nvSpPr>
          <p:cNvPr id="4" name="Text 2"/>
          <p:cNvSpPr/>
          <p:nvPr/>
        </p:nvSpPr>
        <p:spPr>
          <a:xfrm>
            <a:off x="502920" y="777240"/>
            <a:ext cx="10972800" cy="457200"/>
          </a:xfrm>
          <a:prstGeom prst="rect">
            <a:avLst/>
          </a:prstGeom>
          <a:noFill/>
          <a:ln/>
        </p:spPr>
        <p:txBody>
          <a:bodyPr wrap="square" lIns="0" tIns="0" rIns="0" bIns="0" rtlCol="0" anchor="ctr"/>
          <a:lstStyle/>
          <a:p>
            <a:pPr indent="0" marL="0">
              <a:buNone/>
            </a:pPr>
            <a:r>
              <a:rPr lang="en-US" sz="2800" dirty="0">
                <a:solidFill>
                  <a:srgbClr val="FFFFFF"/>
                </a:solidFill>
                <a:latin typeface="Cambria" pitchFamily="34" charset="0"/>
                <a:ea typeface="Cambria" pitchFamily="34" charset="-122"/>
                <a:cs typeface="Cambria" pitchFamily="34" charset="-120"/>
              </a:rPr>
              <a:t>Show the refusal, then the book.</a:t>
            </a:r>
            <a:endParaRPr lang="en-US" sz="2800" dirty="0"/>
          </a:p>
        </p:txBody>
      </p:sp>
      <p:sp>
        <p:nvSpPr>
          <p:cNvPr id="5" name="Shape 3"/>
          <p:cNvSpPr/>
          <p:nvPr/>
        </p:nvSpPr>
        <p:spPr>
          <a:xfrm>
            <a:off x="502920" y="1463040"/>
            <a:ext cx="475488" cy="475488"/>
          </a:xfrm>
          <a:prstGeom prst="roundRect">
            <a:avLst>
              <a:gd name="adj" fmla="val 15385"/>
            </a:avLst>
          </a:prstGeom>
          <a:solidFill>
            <a:srgbClr val="C8F14F"/>
          </a:solidFill>
          <a:ln/>
        </p:spPr>
      </p:sp>
      <p:sp>
        <p:nvSpPr>
          <p:cNvPr id="6" name="Text 4"/>
          <p:cNvSpPr/>
          <p:nvPr/>
        </p:nvSpPr>
        <p:spPr>
          <a:xfrm>
            <a:off x="502920" y="1463040"/>
            <a:ext cx="475488" cy="475488"/>
          </a:xfrm>
          <a:prstGeom prst="rect">
            <a:avLst/>
          </a:prstGeom>
          <a:noFill/>
          <a:ln/>
        </p:spPr>
        <p:txBody>
          <a:bodyPr wrap="square" lIns="0" tIns="0" rIns="0" bIns="0" rtlCol="0" anchor="ctr"/>
          <a:lstStyle/>
          <a:p>
            <a:pPr algn="ctr" indent="0" marL="0">
              <a:buNone/>
            </a:pPr>
            <a:r>
              <a:rPr lang="en-US" sz="1800" dirty="0">
                <a:solidFill>
                  <a:srgbClr val="141414"/>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143000" y="1463040"/>
            <a:ext cx="10424160" cy="640080"/>
          </a:xfrm>
          <a:prstGeom prst="rect">
            <a:avLst/>
          </a:prstGeom>
          <a:noFill/>
          <a:ln/>
        </p:spPr>
        <p:txBody>
          <a:bodyPr wrap="square" lIns="0" tIns="0" rIns="0" bIns="0" rtlCol="0" anchor="ctr"/>
          <a:lstStyle/>
          <a:p>
            <a:pPr indent="0" marL="0">
              <a:buNone/>
            </a:pPr>
            <a:r>
              <a:rPr lang="en-US" sz="1600" dirty="0">
                <a:solidFill>
                  <a:srgbClr val="F3F1EA"/>
                </a:solidFill>
                <a:latin typeface="Calibri" pitchFamily="34" charset="0"/>
                <a:ea typeface="Calibri" pitchFamily="34" charset="-122"/>
                <a:cs typeface="Calibri" pitchFamily="34" charset="-120"/>
              </a:rPr>
              <a:t>Confirm the prefilled mandate. The form can lower a limit. It cannot raise one.</a:t>
            </a:r>
            <a:endParaRPr lang="en-US" sz="1600" dirty="0"/>
          </a:p>
        </p:txBody>
      </p:sp>
      <p:sp>
        <p:nvSpPr>
          <p:cNvPr id="8" name="Shape 6"/>
          <p:cNvSpPr/>
          <p:nvPr/>
        </p:nvSpPr>
        <p:spPr>
          <a:xfrm>
            <a:off x="502920" y="2395728"/>
            <a:ext cx="475488" cy="475488"/>
          </a:xfrm>
          <a:prstGeom prst="roundRect">
            <a:avLst>
              <a:gd name="adj" fmla="val 15385"/>
            </a:avLst>
          </a:prstGeom>
          <a:solidFill>
            <a:srgbClr val="C8F14F"/>
          </a:solidFill>
          <a:ln/>
        </p:spPr>
      </p:sp>
      <p:sp>
        <p:nvSpPr>
          <p:cNvPr id="9" name="Text 7"/>
          <p:cNvSpPr/>
          <p:nvPr/>
        </p:nvSpPr>
        <p:spPr>
          <a:xfrm>
            <a:off x="502920" y="2395728"/>
            <a:ext cx="475488" cy="475488"/>
          </a:xfrm>
          <a:prstGeom prst="rect">
            <a:avLst/>
          </a:prstGeom>
          <a:noFill/>
          <a:ln/>
        </p:spPr>
        <p:txBody>
          <a:bodyPr wrap="square" lIns="0" tIns="0" rIns="0" bIns="0" rtlCol="0" anchor="ctr"/>
          <a:lstStyle/>
          <a:p>
            <a:pPr algn="ctr" indent="0" marL="0">
              <a:buNone/>
            </a:pPr>
            <a:r>
              <a:rPr lang="en-US" sz="1800" dirty="0">
                <a:solidFill>
                  <a:srgbClr val="141414"/>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143000" y="2395728"/>
            <a:ext cx="10424160" cy="640080"/>
          </a:xfrm>
          <a:prstGeom prst="rect">
            <a:avLst/>
          </a:prstGeom>
          <a:noFill/>
          <a:ln/>
        </p:spPr>
        <p:txBody>
          <a:bodyPr wrap="square" lIns="0" tIns="0" rIns="0" bIns="0" rtlCol="0" anchor="ctr"/>
          <a:lstStyle/>
          <a:p>
            <a:pPr indent="0" marL="0">
              <a:buNone/>
            </a:pPr>
            <a:r>
              <a:rPr lang="en-US" sz="1600" dirty="0">
                <a:solidFill>
                  <a:srgbClr val="F3F1EA"/>
                </a:solidFill>
                <a:latin typeface="Calibri" pitchFamily="34" charset="0"/>
                <a:ea typeface="Calibri" pitchFamily="34" charset="-122"/>
                <a:cs typeface="Calibri" pitchFamily="34" charset="-120"/>
              </a:rPr>
              <a:t>Party items. Set quantities and shares. Two goals need a yes that one may finish alone.</a:t>
            </a:r>
            <a:endParaRPr lang="en-US" sz="1600" dirty="0"/>
          </a:p>
        </p:txBody>
      </p:sp>
      <p:sp>
        <p:nvSpPr>
          <p:cNvPr id="11" name="Shape 9"/>
          <p:cNvSpPr/>
          <p:nvPr/>
        </p:nvSpPr>
        <p:spPr>
          <a:xfrm>
            <a:off x="502920" y="3328416"/>
            <a:ext cx="475488" cy="475488"/>
          </a:xfrm>
          <a:prstGeom prst="roundRect">
            <a:avLst>
              <a:gd name="adj" fmla="val 15385"/>
            </a:avLst>
          </a:prstGeom>
          <a:solidFill>
            <a:srgbClr val="C8F14F"/>
          </a:solidFill>
          <a:ln/>
        </p:spPr>
      </p:sp>
      <p:sp>
        <p:nvSpPr>
          <p:cNvPr id="12" name="Text 10"/>
          <p:cNvSpPr/>
          <p:nvPr/>
        </p:nvSpPr>
        <p:spPr>
          <a:xfrm>
            <a:off x="502920" y="3328416"/>
            <a:ext cx="475488" cy="475488"/>
          </a:xfrm>
          <a:prstGeom prst="rect">
            <a:avLst/>
          </a:prstGeom>
          <a:noFill/>
          <a:ln/>
        </p:spPr>
        <p:txBody>
          <a:bodyPr wrap="square" lIns="0" tIns="0" rIns="0" bIns="0" rtlCol="0" anchor="ctr"/>
          <a:lstStyle/>
          <a:p>
            <a:pPr algn="ctr" indent="0" marL="0">
              <a:buNone/>
            </a:pPr>
            <a:r>
              <a:rPr lang="en-US" sz="1800" dirty="0">
                <a:solidFill>
                  <a:srgbClr val="141414"/>
                </a:solidFill>
                <a:latin typeface="Cambria" pitchFamily="34" charset="0"/>
                <a:ea typeface="Cambria" pitchFamily="34" charset="-122"/>
                <a:cs typeface="Cambria" pitchFamily="34" charset="-120"/>
              </a:rPr>
              <a:t>3</a:t>
            </a:r>
            <a:endParaRPr lang="en-US" sz="1800" dirty="0"/>
          </a:p>
        </p:txBody>
      </p:sp>
      <p:sp>
        <p:nvSpPr>
          <p:cNvPr id="13" name="Text 11"/>
          <p:cNvSpPr/>
          <p:nvPr/>
        </p:nvSpPr>
        <p:spPr>
          <a:xfrm>
            <a:off x="1143000" y="3328416"/>
            <a:ext cx="10424160" cy="640080"/>
          </a:xfrm>
          <a:prstGeom prst="rect">
            <a:avLst/>
          </a:prstGeom>
          <a:noFill/>
          <a:ln/>
        </p:spPr>
        <p:txBody>
          <a:bodyPr wrap="square" lIns="0" tIns="0" rIns="0" bIns="0" rtlCol="0" anchor="ctr"/>
          <a:lstStyle/>
          <a:p>
            <a:pPr indent="0" marL="0">
              <a:buNone/>
            </a:pPr>
            <a:r>
              <a:rPr lang="en-US" sz="1600" dirty="0">
                <a:solidFill>
                  <a:srgbClr val="F3F1EA"/>
                </a:solidFill>
                <a:latin typeface="Calibri" pitchFamily="34" charset="0"/>
                <a:ea typeface="Calibri" pitchFamily="34" charset="-122"/>
                <a:cs typeface="Calibri" pitchFamily="34" charset="-120"/>
              </a:rPr>
              <a:t>Three offers, one seller. A click selects. Confirm is what books.</a:t>
            </a:r>
            <a:endParaRPr lang="en-US" sz="1600" dirty="0"/>
          </a:p>
        </p:txBody>
      </p:sp>
      <p:sp>
        <p:nvSpPr>
          <p:cNvPr id="14" name="Shape 12"/>
          <p:cNvSpPr/>
          <p:nvPr/>
        </p:nvSpPr>
        <p:spPr>
          <a:xfrm>
            <a:off x="502920" y="4261104"/>
            <a:ext cx="475488" cy="475488"/>
          </a:xfrm>
          <a:prstGeom prst="roundRect">
            <a:avLst>
              <a:gd name="adj" fmla="val 15385"/>
            </a:avLst>
          </a:prstGeom>
          <a:solidFill>
            <a:srgbClr val="C8F14F"/>
          </a:solidFill>
          <a:ln/>
        </p:spPr>
      </p:sp>
      <p:sp>
        <p:nvSpPr>
          <p:cNvPr id="15" name="Text 13"/>
          <p:cNvSpPr/>
          <p:nvPr/>
        </p:nvSpPr>
        <p:spPr>
          <a:xfrm>
            <a:off x="502920" y="4261104"/>
            <a:ext cx="475488" cy="475488"/>
          </a:xfrm>
          <a:prstGeom prst="rect">
            <a:avLst/>
          </a:prstGeom>
          <a:noFill/>
          <a:ln/>
        </p:spPr>
        <p:txBody>
          <a:bodyPr wrap="square" lIns="0" tIns="0" rIns="0" bIns="0" rtlCol="0" anchor="ctr"/>
          <a:lstStyle/>
          <a:p>
            <a:pPr algn="ctr" indent="0" marL="0">
              <a:buNone/>
            </a:pPr>
            <a:r>
              <a:rPr lang="en-US" sz="1800" dirty="0">
                <a:solidFill>
                  <a:srgbClr val="141414"/>
                </a:solidFill>
                <a:latin typeface="Cambria" pitchFamily="34" charset="0"/>
                <a:ea typeface="Cambria" pitchFamily="34" charset="-122"/>
                <a:cs typeface="Cambria" pitchFamily="34" charset="-120"/>
              </a:rPr>
              <a:t>4</a:t>
            </a:r>
            <a:endParaRPr lang="en-US" sz="1800" dirty="0"/>
          </a:p>
        </p:txBody>
      </p:sp>
      <p:sp>
        <p:nvSpPr>
          <p:cNvPr id="16" name="Text 14"/>
          <p:cNvSpPr/>
          <p:nvPr/>
        </p:nvSpPr>
        <p:spPr>
          <a:xfrm>
            <a:off x="1143000" y="4261104"/>
            <a:ext cx="10424160" cy="640080"/>
          </a:xfrm>
          <a:prstGeom prst="rect">
            <a:avLst/>
          </a:prstGeom>
          <a:noFill/>
          <a:ln/>
        </p:spPr>
        <p:txBody>
          <a:bodyPr wrap="square" lIns="0" tIns="0" rIns="0" bIns="0" rtlCol="0" anchor="ctr"/>
          <a:lstStyle/>
          <a:p>
            <a:pPr indent="0" marL="0">
              <a:buNone/>
            </a:pPr>
            <a:r>
              <a:rPr lang="en-US" sz="1600" dirty="0">
                <a:solidFill>
                  <a:srgbClr val="F3F1EA"/>
                </a:solidFill>
                <a:latin typeface="Calibri" pitchFamily="34" charset="0"/>
                <a:ea typeface="Calibri" pitchFamily="34" charset="-122"/>
                <a:cs typeface="Calibri" pitchFamily="34" charset="-120"/>
              </a:rPr>
              <a:t>Demo party box opens at cash 340. 360 asks again. 410 cannot be accepted.</a:t>
            </a:r>
            <a:endParaRPr lang="en-US" sz="1600" dirty="0"/>
          </a:p>
        </p:txBody>
      </p:sp>
      <p:sp>
        <p:nvSpPr>
          <p:cNvPr id="17" name="Shape 15"/>
          <p:cNvSpPr/>
          <p:nvPr/>
        </p:nvSpPr>
        <p:spPr>
          <a:xfrm>
            <a:off x="502920" y="5193792"/>
            <a:ext cx="475488" cy="475488"/>
          </a:xfrm>
          <a:prstGeom prst="roundRect">
            <a:avLst>
              <a:gd name="adj" fmla="val 15385"/>
            </a:avLst>
          </a:prstGeom>
          <a:solidFill>
            <a:srgbClr val="C8F14F"/>
          </a:solidFill>
          <a:ln/>
        </p:spPr>
      </p:sp>
      <p:sp>
        <p:nvSpPr>
          <p:cNvPr id="18" name="Text 16"/>
          <p:cNvSpPr/>
          <p:nvPr/>
        </p:nvSpPr>
        <p:spPr>
          <a:xfrm>
            <a:off x="502920" y="5193792"/>
            <a:ext cx="475488" cy="475488"/>
          </a:xfrm>
          <a:prstGeom prst="rect">
            <a:avLst/>
          </a:prstGeom>
          <a:noFill/>
          <a:ln/>
        </p:spPr>
        <p:txBody>
          <a:bodyPr wrap="square" lIns="0" tIns="0" rIns="0" bIns="0" rtlCol="0" anchor="ctr"/>
          <a:lstStyle/>
          <a:p>
            <a:pPr algn="ctr" indent="0" marL="0">
              <a:buNone/>
            </a:pPr>
            <a:r>
              <a:rPr lang="en-US" sz="1800" dirty="0">
                <a:solidFill>
                  <a:srgbClr val="141414"/>
                </a:solidFill>
                <a:latin typeface="Cambria" pitchFamily="34" charset="0"/>
                <a:ea typeface="Cambria" pitchFamily="34" charset="-122"/>
                <a:cs typeface="Cambria" pitchFamily="34" charset="-120"/>
              </a:rPr>
              <a:t>5</a:t>
            </a:r>
            <a:endParaRPr lang="en-US" sz="1800" dirty="0"/>
          </a:p>
        </p:txBody>
      </p:sp>
      <p:sp>
        <p:nvSpPr>
          <p:cNvPr id="19" name="Text 17"/>
          <p:cNvSpPr/>
          <p:nvPr/>
        </p:nvSpPr>
        <p:spPr>
          <a:xfrm>
            <a:off x="1143000" y="5193792"/>
            <a:ext cx="10424160" cy="640080"/>
          </a:xfrm>
          <a:prstGeom prst="rect">
            <a:avLst/>
          </a:prstGeom>
          <a:noFill/>
          <a:ln/>
        </p:spPr>
        <p:txBody>
          <a:bodyPr wrap="square" lIns="0" tIns="0" rIns="0" bIns="0" rtlCol="0" anchor="ctr"/>
          <a:lstStyle/>
          <a:p>
            <a:pPr indent="0" marL="0">
              <a:buNone/>
            </a:pPr>
            <a:r>
              <a:rPr lang="en-US" sz="1600" dirty="0">
                <a:solidFill>
                  <a:srgbClr val="F3F1EA"/>
                </a:solidFill>
                <a:latin typeface="Calibri" pitchFamily="34" charset="0"/>
                <a:ea typeface="Calibri" pitchFamily="34" charset="-122"/>
                <a:cs typeface="Calibri" pitchFamily="34" charset="-120"/>
              </a:rPr>
              <a:t>The log names shopper, mandate, merchant, auditor, and payer on one trace id.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FLOWS</a:t>
            </a:r>
            <a:endParaRPr lang="en-US" sz="1100" dirty="0"/>
          </a:p>
        </p:txBody>
      </p:sp>
      <p:sp>
        <p:nvSpPr>
          <p:cNvPr id="4" name="Text 2"/>
          <p:cNvSpPr/>
          <p:nvPr/>
        </p:nvSpPr>
        <p:spPr>
          <a:xfrm>
            <a:off x="411480" y="585216"/>
            <a:ext cx="11338560" cy="365760"/>
          </a:xfrm>
          <a:prstGeom prst="rect">
            <a:avLst/>
          </a:prstGeom>
          <a:noFill/>
          <a:ln/>
        </p:spPr>
        <p:txBody>
          <a:bodyPr wrap="square" lIns="0" tIns="0" rIns="0" bIns="0" rtlCol="0" anchor="ctr"/>
          <a:lstStyle/>
          <a:p>
            <a:pPr indent="0" marL="0">
              <a:buNone/>
            </a:pPr>
            <a:r>
              <a:rPr lang="en-US" sz="2600" dirty="0">
                <a:solidFill>
                  <a:srgbClr val="141414"/>
                </a:solidFill>
                <a:latin typeface="Cambria" pitchFamily="34" charset="0"/>
                <a:ea typeface="Cambria" pitchFamily="34" charset="-122"/>
                <a:cs typeface="Cambria" pitchFamily="34" charset="-120"/>
              </a:rPr>
              <a:t>Every path the attempt can take</a:t>
            </a:r>
            <a:endParaRPr lang="en-US" sz="2600" dirty="0"/>
          </a:p>
        </p:txBody>
      </p:sp>
      <p:sp>
        <p:nvSpPr>
          <p:cNvPr id="5" name="Shape 3"/>
          <p:cNvSpPr/>
          <p:nvPr/>
        </p:nvSpPr>
        <p:spPr>
          <a:xfrm>
            <a:off x="411480" y="1097280"/>
            <a:ext cx="5669280" cy="585216"/>
          </a:xfrm>
          <a:prstGeom prst="roundRect">
            <a:avLst>
              <a:gd name="adj" fmla="val 12500"/>
            </a:avLst>
          </a:prstGeom>
          <a:solidFill>
            <a:srgbClr val="C8F14F"/>
          </a:solidFill>
          <a:ln/>
        </p:spPr>
      </p:sp>
      <p:sp>
        <p:nvSpPr>
          <p:cNvPr id="6" name="Text 4"/>
          <p:cNvSpPr/>
          <p:nvPr/>
        </p:nvSpPr>
        <p:spPr>
          <a:xfrm>
            <a:off x="539496" y="1097280"/>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7" name="Text 5"/>
          <p:cNvSpPr/>
          <p:nvPr/>
        </p:nvSpPr>
        <p:spPr>
          <a:xfrm>
            <a:off x="1600200" y="1097280"/>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Manual confirm books card</a:t>
            </a:r>
            <a:endParaRPr lang="en-US" sz="1500" dirty="0"/>
          </a:p>
        </p:txBody>
      </p:sp>
      <p:sp>
        <p:nvSpPr>
          <p:cNvPr id="8" name="Shape 6"/>
          <p:cNvSpPr/>
          <p:nvPr/>
        </p:nvSpPr>
        <p:spPr>
          <a:xfrm>
            <a:off x="411480" y="1755648"/>
            <a:ext cx="5669280" cy="585216"/>
          </a:xfrm>
          <a:prstGeom prst="roundRect">
            <a:avLst>
              <a:gd name="adj" fmla="val 12500"/>
            </a:avLst>
          </a:prstGeom>
          <a:solidFill>
            <a:srgbClr val="C8F14F"/>
          </a:solidFill>
          <a:ln/>
        </p:spPr>
      </p:sp>
      <p:sp>
        <p:nvSpPr>
          <p:cNvPr id="9" name="Text 7"/>
          <p:cNvSpPr/>
          <p:nvPr/>
        </p:nvSpPr>
        <p:spPr>
          <a:xfrm>
            <a:off x="539496" y="1755648"/>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10" name="Text 8"/>
          <p:cNvSpPr/>
          <p:nvPr/>
        </p:nvSpPr>
        <p:spPr>
          <a:xfrm>
            <a:off x="1600200" y="1755648"/>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Auto pays a unique winner</a:t>
            </a:r>
            <a:endParaRPr lang="en-US" sz="1500" dirty="0"/>
          </a:p>
        </p:txBody>
      </p:sp>
      <p:sp>
        <p:nvSpPr>
          <p:cNvPr id="11" name="Shape 9"/>
          <p:cNvSpPr/>
          <p:nvPr/>
        </p:nvSpPr>
        <p:spPr>
          <a:xfrm>
            <a:off x="411480" y="2414016"/>
            <a:ext cx="5669280" cy="585216"/>
          </a:xfrm>
          <a:prstGeom prst="roundRect">
            <a:avLst>
              <a:gd name="adj" fmla="val 12500"/>
            </a:avLst>
          </a:prstGeom>
          <a:solidFill>
            <a:srgbClr val="C8F14F"/>
          </a:solidFill>
          <a:ln/>
        </p:spPr>
      </p:sp>
      <p:sp>
        <p:nvSpPr>
          <p:cNvPr id="12" name="Text 10"/>
          <p:cNvSpPr/>
          <p:nvPr/>
        </p:nvSpPr>
        <p:spPr>
          <a:xfrm>
            <a:off x="539496" y="2414016"/>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13" name="Text 11"/>
          <p:cNvSpPr/>
          <p:nvPr/>
        </p:nvSpPr>
        <p:spPr>
          <a:xfrm>
            <a:off x="1600200" y="2414016"/>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Card declined, wallet books</a:t>
            </a:r>
            <a:endParaRPr lang="en-US" sz="1500" dirty="0"/>
          </a:p>
        </p:txBody>
      </p:sp>
      <p:sp>
        <p:nvSpPr>
          <p:cNvPr id="14" name="Shape 12"/>
          <p:cNvSpPr/>
          <p:nvPr/>
        </p:nvSpPr>
        <p:spPr>
          <a:xfrm>
            <a:off x="411480" y="3072384"/>
            <a:ext cx="5669280" cy="585216"/>
          </a:xfrm>
          <a:prstGeom prst="roundRect">
            <a:avLst>
              <a:gd name="adj" fmla="val 12500"/>
            </a:avLst>
          </a:prstGeom>
          <a:solidFill>
            <a:srgbClr val="C8F14F"/>
          </a:solidFill>
          <a:ln/>
        </p:spPr>
      </p:sp>
      <p:sp>
        <p:nvSpPr>
          <p:cNvPr id="15" name="Text 13"/>
          <p:cNvSpPr/>
          <p:nvPr/>
        </p:nvSpPr>
        <p:spPr>
          <a:xfrm>
            <a:off x="539496" y="3072384"/>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16" name="Text 14"/>
          <p:cNvSpPr/>
          <p:nvPr/>
        </p:nvSpPr>
        <p:spPr>
          <a:xfrm>
            <a:off x="1600200" y="3072384"/>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Bad listing dropped, clean sku pays</a:t>
            </a:r>
            <a:endParaRPr lang="en-US" sz="1500" dirty="0"/>
          </a:p>
        </p:txBody>
      </p:sp>
      <p:sp>
        <p:nvSpPr>
          <p:cNvPr id="17" name="Shape 15"/>
          <p:cNvSpPr/>
          <p:nvPr/>
        </p:nvSpPr>
        <p:spPr>
          <a:xfrm>
            <a:off x="411480" y="3730752"/>
            <a:ext cx="5669280" cy="585216"/>
          </a:xfrm>
          <a:prstGeom prst="roundRect">
            <a:avLst>
              <a:gd name="adj" fmla="val 12500"/>
            </a:avLst>
          </a:prstGeom>
          <a:solidFill>
            <a:srgbClr val="C8F14F"/>
          </a:solidFill>
          <a:ln/>
        </p:spPr>
      </p:sp>
      <p:sp>
        <p:nvSpPr>
          <p:cNvPr id="18" name="Text 16"/>
          <p:cNvSpPr/>
          <p:nvPr/>
        </p:nvSpPr>
        <p:spPr>
          <a:xfrm>
            <a:off x="539496" y="3730752"/>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19" name="Text 17"/>
          <p:cNvSpPr/>
          <p:nvPr/>
        </p:nvSpPr>
        <p:spPr>
          <a:xfrm>
            <a:off x="1600200" y="3730752"/>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Counter inside the mandate, then confirm</a:t>
            </a:r>
            <a:endParaRPr lang="en-US" sz="1500" dirty="0"/>
          </a:p>
        </p:txBody>
      </p:sp>
      <p:sp>
        <p:nvSpPr>
          <p:cNvPr id="20" name="Shape 18"/>
          <p:cNvSpPr/>
          <p:nvPr/>
        </p:nvSpPr>
        <p:spPr>
          <a:xfrm>
            <a:off x="411480" y="4389120"/>
            <a:ext cx="5669280" cy="585216"/>
          </a:xfrm>
          <a:prstGeom prst="roundRect">
            <a:avLst>
              <a:gd name="adj" fmla="val 12500"/>
            </a:avLst>
          </a:prstGeom>
          <a:solidFill>
            <a:srgbClr val="C8F14F"/>
          </a:solidFill>
          <a:ln/>
        </p:spPr>
      </p:sp>
      <p:sp>
        <p:nvSpPr>
          <p:cNvPr id="21" name="Text 19"/>
          <p:cNvSpPr/>
          <p:nvPr/>
        </p:nvSpPr>
        <p:spPr>
          <a:xfrm>
            <a:off x="539496" y="4389120"/>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Paid</a:t>
            </a:r>
            <a:endParaRPr lang="en-US" sz="1300" dirty="0"/>
          </a:p>
        </p:txBody>
      </p:sp>
      <p:sp>
        <p:nvSpPr>
          <p:cNvPr id="22" name="Text 20"/>
          <p:cNvSpPr/>
          <p:nvPr/>
        </p:nvSpPr>
        <p:spPr>
          <a:xfrm>
            <a:off x="1600200" y="4389120"/>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Timeout after charge, same key once</a:t>
            </a:r>
            <a:endParaRPr lang="en-US" sz="1500" dirty="0"/>
          </a:p>
        </p:txBody>
      </p:sp>
      <p:sp>
        <p:nvSpPr>
          <p:cNvPr id="23" name="Shape 21"/>
          <p:cNvSpPr/>
          <p:nvPr/>
        </p:nvSpPr>
        <p:spPr>
          <a:xfrm>
            <a:off x="411480" y="5047488"/>
            <a:ext cx="5669280" cy="585216"/>
          </a:xfrm>
          <a:prstGeom prst="roundRect">
            <a:avLst>
              <a:gd name="adj" fmla="val 12500"/>
            </a:avLst>
          </a:prstGeom>
          <a:solidFill>
            <a:srgbClr val="FFFCF6"/>
          </a:solidFill>
          <a:ln w="15875">
            <a:solidFill>
              <a:srgbClr val="141414"/>
            </a:solidFill>
            <a:prstDash val="solid"/>
          </a:ln>
        </p:spPr>
      </p:sp>
      <p:sp>
        <p:nvSpPr>
          <p:cNvPr id="24" name="Text 22"/>
          <p:cNvSpPr/>
          <p:nvPr/>
        </p:nvSpPr>
        <p:spPr>
          <a:xfrm>
            <a:off x="539496" y="5047488"/>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Offers</a:t>
            </a:r>
            <a:endParaRPr lang="en-US" sz="1300" dirty="0"/>
          </a:p>
        </p:txBody>
      </p:sp>
      <p:sp>
        <p:nvSpPr>
          <p:cNvPr id="25" name="Text 23"/>
          <p:cNvSpPr/>
          <p:nvPr/>
        </p:nvSpPr>
        <p:spPr>
          <a:xfrm>
            <a:off x="1600200" y="5047488"/>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A click holds one of the three. Confirm pays.</a:t>
            </a:r>
            <a:endParaRPr lang="en-US" sz="1500" dirty="0"/>
          </a:p>
        </p:txBody>
      </p:sp>
      <p:sp>
        <p:nvSpPr>
          <p:cNvPr id="26" name="Shape 24"/>
          <p:cNvSpPr/>
          <p:nvPr/>
        </p:nvSpPr>
        <p:spPr>
          <a:xfrm>
            <a:off x="411480" y="5705856"/>
            <a:ext cx="5669280" cy="585216"/>
          </a:xfrm>
          <a:prstGeom prst="roundRect">
            <a:avLst>
              <a:gd name="adj" fmla="val 12500"/>
            </a:avLst>
          </a:prstGeom>
          <a:solidFill>
            <a:srgbClr val="F6E7A8"/>
          </a:solidFill>
          <a:ln/>
        </p:spPr>
      </p:sp>
      <p:sp>
        <p:nvSpPr>
          <p:cNvPr id="27" name="Text 25"/>
          <p:cNvSpPr/>
          <p:nvPr/>
        </p:nvSpPr>
        <p:spPr>
          <a:xfrm>
            <a:off x="539496" y="5705856"/>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Asks</a:t>
            </a:r>
            <a:endParaRPr lang="en-US" sz="1300" dirty="0"/>
          </a:p>
        </p:txBody>
      </p:sp>
      <p:sp>
        <p:nvSpPr>
          <p:cNvPr id="28" name="Text 26"/>
          <p:cNvSpPr/>
          <p:nvPr/>
        </p:nvSpPr>
        <p:spPr>
          <a:xfrm>
            <a:off x="1600200" y="5705856"/>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Blank qty, shares, mandate, weights</a:t>
            </a:r>
            <a:endParaRPr lang="en-US" sz="1500" dirty="0"/>
          </a:p>
        </p:txBody>
      </p:sp>
      <p:sp>
        <p:nvSpPr>
          <p:cNvPr id="29" name="Shape 27"/>
          <p:cNvSpPr/>
          <p:nvPr/>
        </p:nvSpPr>
        <p:spPr>
          <a:xfrm>
            <a:off x="6309360" y="1097280"/>
            <a:ext cx="5669280" cy="585216"/>
          </a:xfrm>
          <a:prstGeom prst="roundRect">
            <a:avLst>
              <a:gd name="adj" fmla="val 12500"/>
            </a:avLst>
          </a:prstGeom>
          <a:solidFill>
            <a:srgbClr val="F6E7A8"/>
          </a:solidFill>
          <a:ln/>
        </p:spPr>
      </p:sp>
      <p:sp>
        <p:nvSpPr>
          <p:cNvPr id="30" name="Text 28"/>
          <p:cNvSpPr/>
          <p:nvPr/>
        </p:nvSpPr>
        <p:spPr>
          <a:xfrm>
            <a:off x="6437376" y="1097280"/>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Asks</a:t>
            </a:r>
            <a:endParaRPr lang="en-US" sz="1300" dirty="0"/>
          </a:p>
        </p:txBody>
      </p:sp>
      <p:sp>
        <p:nvSpPr>
          <p:cNvPr id="31" name="Text 29"/>
          <p:cNvSpPr/>
          <p:nvPr/>
        </p:nvSpPr>
        <p:spPr>
          <a:xfrm>
            <a:off x="7498080" y="1097280"/>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Tie, repeat sku, new cash 360</a:t>
            </a:r>
            <a:endParaRPr lang="en-US" sz="1500" dirty="0"/>
          </a:p>
        </p:txBody>
      </p:sp>
      <p:sp>
        <p:nvSpPr>
          <p:cNvPr id="32" name="Shape 30"/>
          <p:cNvSpPr/>
          <p:nvPr/>
        </p:nvSpPr>
        <p:spPr>
          <a:xfrm>
            <a:off x="6309360" y="1755648"/>
            <a:ext cx="5669280" cy="585216"/>
          </a:xfrm>
          <a:prstGeom prst="roundRect">
            <a:avLst>
              <a:gd name="adj" fmla="val 12500"/>
            </a:avLst>
          </a:prstGeom>
          <a:solidFill>
            <a:srgbClr val="FFFCF6"/>
          </a:solidFill>
          <a:ln w="15875">
            <a:solidFill>
              <a:srgbClr val="141414"/>
            </a:solidFill>
            <a:prstDash val="solid"/>
          </a:ln>
        </p:spPr>
      </p:sp>
      <p:sp>
        <p:nvSpPr>
          <p:cNvPr id="33" name="Text 31"/>
          <p:cNvSpPr/>
          <p:nvPr/>
        </p:nvSpPr>
        <p:spPr>
          <a:xfrm>
            <a:off x="6437376" y="1755648"/>
            <a:ext cx="1051560" cy="585216"/>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Offers</a:t>
            </a:r>
            <a:endParaRPr lang="en-US" sz="1300" dirty="0"/>
          </a:p>
        </p:txBody>
      </p:sp>
      <p:sp>
        <p:nvSpPr>
          <p:cNvPr id="34" name="Text 32"/>
          <p:cNvSpPr/>
          <p:nvPr/>
        </p:nvSpPr>
        <p:spPr>
          <a:xfrm>
            <a:off x="7498080" y="1755648"/>
            <a:ext cx="4297680" cy="585216"/>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Decline a tie, a price, or a repeat</a:t>
            </a:r>
            <a:endParaRPr lang="en-US" sz="1500" dirty="0"/>
          </a:p>
        </p:txBody>
      </p:sp>
      <p:sp>
        <p:nvSpPr>
          <p:cNvPr id="35" name="Shape 33"/>
          <p:cNvSpPr/>
          <p:nvPr/>
        </p:nvSpPr>
        <p:spPr>
          <a:xfrm>
            <a:off x="6309360" y="2414016"/>
            <a:ext cx="5669280" cy="585216"/>
          </a:xfrm>
          <a:prstGeom prst="roundRect">
            <a:avLst>
              <a:gd name="adj" fmla="val 12500"/>
            </a:avLst>
          </a:prstGeom>
          <a:solidFill>
            <a:srgbClr val="8C3A22"/>
          </a:solidFill>
          <a:ln/>
        </p:spPr>
      </p:sp>
      <p:sp>
        <p:nvSpPr>
          <p:cNvPr id="36" name="Text 34"/>
          <p:cNvSpPr/>
          <p:nvPr/>
        </p:nvSpPr>
        <p:spPr>
          <a:xfrm>
            <a:off x="6437376" y="2414016"/>
            <a:ext cx="1051560" cy="585216"/>
          </a:xfrm>
          <a:prstGeom prst="rect">
            <a:avLst/>
          </a:prstGeom>
          <a:noFill/>
          <a:ln/>
        </p:spPr>
        <p:txBody>
          <a:bodyPr wrap="square" lIns="0" tIns="0" rIns="0" bIns="0" rtlCol="0" anchor="ctr"/>
          <a:lstStyle/>
          <a:p>
            <a:pPr indent="0" marL="0">
              <a:buNone/>
            </a:pPr>
            <a:r>
              <a:rPr lang="en-US" sz="1300" b="1" dirty="0">
                <a:solidFill>
                  <a:srgbClr val="FFFCF6"/>
                </a:solidFill>
                <a:latin typeface="Calibri" pitchFamily="34" charset="0"/>
                <a:ea typeface="Calibri" pitchFamily="34" charset="-122"/>
                <a:cs typeface="Calibri" pitchFamily="34" charset="-120"/>
              </a:rPr>
              <a:t>Stop</a:t>
            </a:r>
            <a:endParaRPr lang="en-US" sz="1300" dirty="0"/>
          </a:p>
        </p:txBody>
      </p:sp>
      <p:sp>
        <p:nvSpPr>
          <p:cNvPr id="37" name="Text 35"/>
          <p:cNvSpPr/>
          <p:nvPr/>
        </p:nvSpPr>
        <p:spPr>
          <a:xfrm>
            <a:off x="7498080" y="2414016"/>
            <a:ext cx="4297680" cy="585216"/>
          </a:xfrm>
          <a:prstGeom prst="rect">
            <a:avLst/>
          </a:prstGeom>
          <a:noFill/>
          <a:ln/>
        </p:spPr>
        <p:txBody>
          <a:bodyPr wrap="square" lIns="0" tIns="0" rIns="0" bIns="0" rtlCol="0" anchor="ctr"/>
          <a:lstStyle/>
          <a:p>
            <a:pPr indent="0" marL="0">
              <a:buNone/>
            </a:pPr>
            <a:r>
              <a:rPr lang="en-US" sz="1500" dirty="0">
                <a:solidFill>
                  <a:srgbClr val="FFFCF6"/>
                </a:solidFill>
                <a:latin typeface="Calibri" pitchFamily="34" charset="0"/>
                <a:ea typeface="Calibri" pitchFamily="34" charset="-122"/>
                <a:cs typeface="Calibri" pitchFamily="34" charset="-120"/>
              </a:rPr>
              <a:t>Injection, dead mandate, budget, clock</a:t>
            </a:r>
            <a:endParaRPr lang="en-US" sz="1500" dirty="0"/>
          </a:p>
        </p:txBody>
      </p:sp>
      <p:sp>
        <p:nvSpPr>
          <p:cNvPr id="38" name="Shape 36"/>
          <p:cNvSpPr/>
          <p:nvPr/>
        </p:nvSpPr>
        <p:spPr>
          <a:xfrm>
            <a:off x="6309360" y="3072384"/>
            <a:ext cx="5669280" cy="585216"/>
          </a:xfrm>
          <a:prstGeom prst="roundRect">
            <a:avLst>
              <a:gd name="adj" fmla="val 12500"/>
            </a:avLst>
          </a:prstGeom>
          <a:solidFill>
            <a:srgbClr val="8C3A22"/>
          </a:solidFill>
          <a:ln/>
        </p:spPr>
      </p:sp>
      <p:sp>
        <p:nvSpPr>
          <p:cNvPr id="39" name="Text 37"/>
          <p:cNvSpPr/>
          <p:nvPr/>
        </p:nvSpPr>
        <p:spPr>
          <a:xfrm>
            <a:off x="6437376" y="3072384"/>
            <a:ext cx="1051560" cy="585216"/>
          </a:xfrm>
          <a:prstGeom prst="rect">
            <a:avLst/>
          </a:prstGeom>
          <a:noFill/>
          <a:ln/>
        </p:spPr>
        <p:txBody>
          <a:bodyPr wrap="square" lIns="0" tIns="0" rIns="0" bIns="0" rtlCol="0" anchor="ctr"/>
          <a:lstStyle/>
          <a:p>
            <a:pPr indent="0" marL="0">
              <a:buNone/>
            </a:pPr>
            <a:r>
              <a:rPr lang="en-US" sz="1300" b="1" dirty="0">
                <a:solidFill>
                  <a:srgbClr val="FFFCF6"/>
                </a:solidFill>
                <a:latin typeface="Calibri" pitchFamily="34" charset="0"/>
                <a:ea typeface="Calibri" pitchFamily="34" charset="-122"/>
                <a:cs typeface="Calibri" pitchFamily="34" charset="-120"/>
              </a:rPr>
              <a:t>Stop</a:t>
            </a:r>
            <a:endParaRPr lang="en-US" sz="1300" dirty="0"/>
          </a:p>
        </p:txBody>
      </p:sp>
      <p:sp>
        <p:nvSpPr>
          <p:cNvPr id="40" name="Text 38"/>
          <p:cNvSpPr/>
          <p:nvPr/>
        </p:nvSpPr>
        <p:spPr>
          <a:xfrm>
            <a:off x="7498080" y="3072384"/>
            <a:ext cx="4297680" cy="585216"/>
          </a:xfrm>
          <a:prstGeom prst="rect">
            <a:avLst/>
          </a:prstGeom>
          <a:noFill/>
          <a:ln/>
        </p:spPr>
        <p:txBody>
          <a:bodyPr wrap="square" lIns="0" tIns="0" rIns="0" bIns="0" rtlCol="0" anchor="ctr"/>
          <a:lstStyle/>
          <a:p>
            <a:pPr indent="0" marL="0">
              <a:buNone/>
            </a:pPr>
            <a:r>
              <a:rPr lang="en-US" sz="1500" dirty="0">
                <a:solidFill>
                  <a:srgbClr val="FFFCF6"/>
                </a:solidFill>
                <a:latin typeface="Calibri" pitchFamily="34" charset="0"/>
                <a:ea typeface="Calibri" pitchFamily="34" charset="-122"/>
                <a:cs typeface="Calibri" pitchFamily="34" charset="-120"/>
              </a:rPr>
              <a:t>No offers, all talks rejected, bad counter</a:t>
            </a:r>
            <a:endParaRPr lang="en-US" sz="1500" dirty="0"/>
          </a:p>
        </p:txBody>
      </p:sp>
      <p:sp>
        <p:nvSpPr>
          <p:cNvPr id="41" name="Shape 39"/>
          <p:cNvSpPr/>
          <p:nvPr/>
        </p:nvSpPr>
        <p:spPr>
          <a:xfrm>
            <a:off x="6309360" y="3730752"/>
            <a:ext cx="5669280" cy="585216"/>
          </a:xfrm>
          <a:prstGeom prst="roundRect">
            <a:avLst>
              <a:gd name="adj" fmla="val 12500"/>
            </a:avLst>
          </a:prstGeom>
          <a:solidFill>
            <a:srgbClr val="8C3A22"/>
          </a:solidFill>
          <a:ln/>
        </p:spPr>
      </p:sp>
      <p:sp>
        <p:nvSpPr>
          <p:cNvPr id="42" name="Text 40"/>
          <p:cNvSpPr/>
          <p:nvPr/>
        </p:nvSpPr>
        <p:spPr>
          <a:xfrm>
            <a:off x="6437376" y="3730752"/>
            <a:ext cx="1051560" cy="585216"/>
          </a:xfrm>
          <a:prstGeom prst="rect">
            <a:avLst/>
          </a:prstGeom>
          <a:noFill/>
          <a:ln/>
        </p:spPr>
        <p:txBody>
          <a:bodyPr wrap="square" lIns="0" tIns="0" rIns="0" bIns="0" rtlCol="0" anchor="ctr"/>
          <a:lstStyle/>
          <a:p>
            <a:pPr indent="0" marL="0">
              <a:buNone/>
            </a:pPr>
            <a:r>
              <a:rPr lang="en-US" sz="1300" b="1" dirty="0">
                <a:solidFill>
                  <a:srgbClr val="FFFCF6"/>
                </a:solidFill>
                <a:latin typeface="Calibri" pitchFamily="34" charset="0"/>
                <a:ea typeface="Calibri" pitchFamily="34" charset="-122"/>
                <a:cs typeface="Calibri" pitchFamily="34" charset="-120"/>
              </a:rPr>
              <a:t>Stop</a:t>
            </a:r>
            <a:endParaRPr lang="en-US" sz="1300" dirty="0"/>
          </a:p>
        </p:txBody>
      </p:sp>
      <p:sp>
        <p:nvSpPr>
          <p:cNvPr id="43" name="Text 41"/>
          <p:cNvSpPr/>
          <p:nvPr/>
        </p:nvSpPr>
        <p:spPr>
          <a:xfrm>
            <a:off x="7498080" y="3730752"/>
            <a:ext cx="4297680" cy="585216"/>
          </a:xfrm>
          <a:prstGeom prst="rect">
            <a:avLst/>
          </a:prstGeom>
          <a:noFill/>
          <a:ln/>
        </p:spPr>
        <p:txBody>
          <a:bodyPr wrap="square" lIns="0" tIns="0" rIns="0" bIns="0" rtlCol="0" anchor="ctr"/>
          <a:lstStyle/>
          <a:p>
            <a:pPr indent="0" marL="0">
              <a:buNone/>
            </a:pPr>
            <a:r>
              <a:rPr lang="en-US" sz="1500" dirty="0">
                <a:solidFill>
                  <a:srgbClr val="FFFCF6"/>
                </a:solidFill>
                <a:latin typeface="Calibri" pitchFamily="34" charset="0"/>
                <a:ea typeface="Calibri" pitchFamily="34" charset="-122"/>
                <a:cs typeface="Calibri" pitchFamily="34" charset="-120"/>
              </a:rPr>
              <a:t>Bad signature, points, timeout before charge</a:t>
            </a:r>
            <a:endParaRPr lang="en-US" sz="1500" dirty="0"/>
          </a:p>
        </p:txBody>
      </p:sp>
      <p:sp>
        <p:nvSpPr>
          <p:cNvPr id="44" name="Shape 42"/>
          <p:cNvSpPr/>
          <p:nvPr/>
        </p:nvSpPr>
        <p:spPr>
          <a:xfrm>
            <a:off x="6309360" y="4389120"/>
            <a:ext cx="5669280" cy="585216"/>
          </a:xfrm>
          <a:prstGeom prst="roundRect">
            <a:avLst>
              <a:gd name="adj" fmla="val 12500"/>
            </a:avLst>
          </a:prstGeom>
          <a:solidFill>
            <a:srgbClr val="8C3A22"/>
          </a:solidFill>
          <a:ln/>
        </p:spPr>
      </p:sp>
      <p:sp>
        <p:nvSpPr>
          <p:cNvPr id="45" name="Text 43"/>
          <p:cNvSpPr/>
          <p:nvPr/>
        </p:nvSpPr>
        <p:spPr>
          <a:xfrm>
            <a:off x="6437376" y="4389120"/>
            <a:ext cx="1051560" cy="585216"/>
          </a:xfrm>
          <a:prstGeom prst="rect">
            <a:avLst/>
          </a:prstGeom>
          <a:noFill/>
          <a:ln/>
        </p:spPr>
        <p:txBody>
          <a:bodyPr wrap="square" lIns="0" tIns="0" rIns="0" bIns="0" rtlCol="0" anchor="ctr"/>
          <a:lstStyle/>
          <a:p>
            <a:pPr indent="0" marL="0">
              <a:buNone/>
            </a:pPr>
            <a:r>
              <a:rPr lang="en-US" sz="1300" b="1" dirty="0">
                <a:solidFill>
                  <a:srgbClr val="FFFCF6"/>
                </a:solidFill>
                <a:latin typeface="Calibri" pitchFamily="34" charset="0"/>
                <a:ea typeface="Calibri" pitchFamily="34" charset="-122"/>
                <a:cs typeface="Calibri" pitchFamily="34" charset="-120"/>
              </a:rPr>
              <a:t>Stop</a:t>
            </a:r>
            <a:endParaRPr lang="en-US" sz="1300" dirty="0"/>
          </a:p>
        </p:txBody>
      </p:sp>
      <p:sp>
        <p:nvSpPr>
          <p:cNvPr id="46" name="Text 44"/>
          <p:cNvSpPr/>
          <p:nvPr/>
        </p:nvSpPr>
        <p:spPr>
          <a:xfrm>
            <a:off x="7498080" y="4389120"/>
            <a:ext cx="4297680" cy="585216"/>
          </a:xfrm>
          <a:prstGeom prst="rect">
            <a:avLst/>
          </a:prstGeom>
          <a:noFill/>
          <a:ln/>
        </p:spPr>
        <p:txBody>
          <a:bodyPr wrap="square" lIns="0" tIns="0" rIns="0" bIns="0" rtlCol="0" anchor="ctr"/>
          <a:lstStyle/>
          <a:p>
            <a:pPr indent="0" marL="0">
              <a:buNone/>
            </a:pPr>
            <a:r>
              <a:rPr lang="en-US" sz="1500" dirty="0">
                <a:solidFill>
                  <a:srgbClr val="FFFCF6"/>
                </a:solidFill>
                <a:latin typeface="Calibri" pitchFamily="34" charset="0"/>
                <a:ea typeface="Calibri" pitchFamily="34" charset="-122"/>
                <a:cs typeface="Calibri" pitchFamily="34" charset="-120"/>
              </a:rPr>
              <a:t>Refund does not refill 168 hours</a:t>
            </a:r>
            <a:endParaRPr lang="en-US" sz="1500" dirty="0"/>
          </a:p>
        </p:txBody>
      </p:sp>
      <p:sp>
        <p:nvSpPr>
          <p:cNvPr id="47" name="Shape 45"/>
          <p:cNvSpPr/>
          <p:nvPr/>
        </p:nvSpPr>
        <p:spPr>
          <a:xfrm>
            <a:off x="6309360" y="5047488"/>
            <a:ext cx="5669280" cy="585216"/>
          </a:xfrm>
          <a:prstGeom prst="roundRect">
            <a:avLst>
              <a:gd name="adj" fmla="val 12500"/>
            </a:avLst>
          </a:prstGeom>
          <a:solidFill>
            <a:srgbClr val="8C3A22"/>
          </a:solidFill>
          <a:ln/>
        </p:spPr>
      </p:sp>
      <p:sp>
        <p:nvSpPr>
          <p:cNvPr id="48" name="Text 46"/>
          <p:cNvSpPr/>
          <p:nvPr/>
        </p:nvSpPr>
        <p:spPr>
          <a:xfrm>
            <a:off x="6437376" y="5047488"/>
            <a:ext cx="1051560" cy="585216"/>
          </a:xfrm>
          <a:prstGeom prst="rect">
            <a:avLst/>
          </a:prstGeom>
          <a:noFill/>
          <a:ln/>
        </p:spPr>
        <p:txBody>
          <a:bodyPr wrap="square" lIns="0" tIns="0" rIns="0" bIns="0" rtlCol="0" anchor="ctr"/>
          <a:lstStyle/>
          <a:p>
            <a:pPr indent="0" marL="0">
              <a:buNone/>
            </a:pPr>
            <a:r>
              <a:rPr lang="en-US" sz="1300" b="1" dirty="0">
                <a:solidFill>
                  <a:srgbClr val="FFFCF6"/>
                </a:solidFill>
                <a:latin typeface="Calibri" pitchFamily="34" charset="0"/>
                <a:ea typeface="Calibri" pitchFamily="34" charset="-122"/>
                <a:cs typeface="Calibri" pitchFamily="34" charset="-120"/>
              </a:rPr>
              <a:t>Stop</a:t>
            </a:r>
            <a:endParaRPr lang="en-US" sz="1300" dirty="0"/>
          </a:p>
        </p:txBody>
      </p:sp>
      <p:sp>
        <p:nvSpPr>
          <p:cNvPr id="49" name="Text 47"/>
          <p:cNvSpPr/>
          <p:nvPr/>
        </p:nvSpPr>
        <p:spPr>
          <a:xfrm>
            <a:off x="7498080" y="5047488"/>
            <a:ext cx="4297680" cy="585216"/>
          </a:xfrm>
          <a:prstGeom prst="rect">
            <a:avLst/>
          </a:prstGeom>
          <a:noFill/>
          <a:ln/>
        </p:spPr>
        <p:txBody>
          <a:bodyPr wrap="square" lIns="0" tIns="0" rIns="0" bIns="0" rtlCol="0" anchor="ctr"/>
          <a:lstStyle/>
          <a:p>
            <a:pPr indent="0" marL="0">
              <a:buNone/>
            </a:pPr>
            <a:r>
              <a:rPr lang="en-US" sz="1500" dirty="0">
                <a:solidFill>
                  <a:srgbClr val="FFFCF6"/>
                </a:solidFill>
                <a:latin typeface="Calibri" pitchFamily="34" charset="0"/>
                <a:ea typeface="Calibri" pitchFamily="34" charset="-122"/>
                <a:cs typeface="Calibri" pitchFamily="34" charset="-120"/>
              </a:rPr>
              <a:t>Quote expired, cancel, 120s silence</a:t>
            </a:r>
            <a:endParaRPr lang="en-US" sz="1500" dirty="0"/>
          </a:p>
        </p:txBody>
      </p:sp>
      <p:sp>
        <p:nvSpPr>
          <p:cNvPr id="50" name="Text 48"/>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HAPPY</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Manual path, from the sentence to a held quote</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User talks to the shopper. The shopper asks the mandate, the auditor, then one website.</a:t>
            </a:r>
            <a:endParaRPr lang="en-US" sz="1300" dirty="0"/>
          </a:p>
        </p:txBody>
      </p:sp>
      <p:sp>
        <p:nvSpPr>
          <p:cNvPr id="6" name="Shape 4"/>
          <p:cNvSpPr/>
          <p:nvPr/>
        </p:nvSpPr>
        <p:spPr>
          <a:xfrm>
            <a:off x="365760" y="1353312"/>
            <a:ext cx="2673020" cy="2029968"/>
          </a:xfrm>
          <a:prstGeom prst="roundRect">
            <a:avLst>
              <a:gd name="adj" fmla="val 4505"/>
            </a:avLst>
          </a:prstGeom>
          <a:solidFill>
            <a:srgbClr val="141414"/>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1  User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Send the request</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Sentence, confirmed form, a whole quantity, and one share per goal.</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C8F14F"/>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Shopper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Parse the sentence</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One product is one goal. Party items become snacks and balloons. Quantities stay blank.</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E7D48A"/>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Mandate</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Check the form</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Broken, revoked, or expired stops. A hint above per-order 400 asks. Limits are not raised.</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C8F14F"/>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Shopper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Shares, then weights</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Each share is positive and fits the request. Default weights 0.35, 0.25, 0.15, 0.10, 0.15.</a:t>
            </a:r>
            <a:endParaRPr lang="en-US" sz="1200" dirty="0"/>
          </a:p>
        </p:txBody>
      </p:sp>
      <p:sp>
        <p:nvSpPr>
          <p:cNvPr id="25" name="Shape 23"/>
          <p:cNvSpPr/>
          <p:nvPr/>
        </p:nvSpPr>
        <p:spPr>
          <a:xfrm>
            <a:off x="365760" y="3822192"/>
            <a:ext cx="2673020" cy="2029968"/>
          </a:xfrm>
          <a:prstGeom prst="roundRect">
            <a:avLst>
              <a:gd name="adj" fmla="val 4505"/>
            </a:avLst>
          </a:prstGeom>
          <a:solidFill>
            <a:srgbClr val="F0D0C2"/>
          </a:solidFill>
          <a:ln/>
        </p:spPr>
      </p:sp>
      <p:sp>
        <p:nvSpPr>
          <p:cNvPr id="26" name="Text 24"/>
          <p:cNvSpPr/>
          <p:nvPr/>
        </p:nvSpPr>
        <p:spPr>
          <a:xfrm>
            <a:off x="475488"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Auditor</a:t>
            </a:r>
            <a:endParaRPr lang="en-US" sz="1200" dirty="0"/>
          </a:p>
        </p:txBody>
      </p:sp>
      <p:sp>
        <p:nvSpPr>
          <p:cNvPr id="27" name="Text 25"/>
          <p:cNvSpPr/>
          <p:nvPr/>
        </p:nvSpPr>
        <p:spPr>
          <a:xfrm>
            <a:off x="475488"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Drop bad rows</a:t>
            </a:r>
            <a:endParaRPr lang="en-US" sz="1500" dirty="0"/>
          </a:p>
        </p:txBody>
      </p:sp>
      <p:sp>
        <p:nvSpPr>
          <p:cNvPr id="28" name="Text 26"/>
          <p:cNvSpPr/>
          <p:nvPr/>
        </p:nvSpPr>
        <p:spPr>
          <a:xfrm>
            <a:off x="475488" y="477316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Injection, agent price above human price, missing shipping, or an invalid row. A clean sibling stays.</a:t>
            </a:r>
            <a:endParaRPr lang="en-US" sz="1200" dirty="0"/>
          </a:p>
        </p:txBody>
      </p:sp>
      <p:sp>
        <p:nvSpPr>
          <p:cNvPr id="29" name="Shape 27"/>
          <p:cNvSpPr/>
          <p:nvPr/>
        </p:nvSpPr>
        <p:spPr>
          <a:xfrm>
            <a:off x="3066212" y="4754880"/>
            <a:ext cx="201168" cy="164592"/>
          </a:xfrm>
          <a:prstGeom prst="rightArrow">
            <a:avLst/>
          </a:prstGeom>
          <a:solidFill>
            <a:srgbClr val="141414"/>
          </a:solidFill>
          <a:ln/>
        </p:spPr>
      </p:sp>
      <p:sp>
        <p:nvSpPr>
          <p:cNvPr id="30" name="Shape 28"/>
          <p:cNvSpPr/>
          <p:nvPr/>
        </p:nvSpPr>
        <p:spPr>
          <a:xfrm>
            <a:off x="3294812" y="3822192"/>
            <a:ext cx="2673020" cy="2029968"/>
          </a:xfrm>
          <a:prstGeom prst="roundRect">
            <a:avLst>
              <a:gd name="adj" fmla="val 4505"/>
            </a:avLst>
          </a:prstGeom>
          <a:solidFill>
            <a:srgbClr val="E7D48A"/>
          </a:solidFill>
          <a:ln/>
        </p:spPr>
      </p:sp>
      <p:sp>
        <p:nvSpPr>
          <p:cNvPr id="31" name="Text 29"/>
          <p:cNvSpPr/>
          <p:nvPr/>
        </p:nvSpPr>
        <p:spPr>
          <a:xfrm>
            <a:off x="3404540"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6  Mandate</a:t>
            </a:r>
            <a:endParaRPr lang="en-US" sz="1200" dirty="0"/>
          </a:p>
        </p:txBody>
      </p:sp>
      <p:sp>
        <p:nvSpPr>
          <p:cNvPr id="32" name="Text 30"/>
          <p:cNvSpPr/>
          <p:nvPr/>
        </p:nvSpPr>
        <p:spPr>
          <a:xfrm>
            <a:off x="3404540"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Drop rows over cash</a:t>
            </a:r>
            <a:endParaRPr lang="en-US" sz="1500" dirty="0"/>
          </a:p>
        </p:txBody>
      </p:sp>
      <p:sp>
        <p:nvSpPr>
          <p:cNvPr id="33" name="Text 31"/>
          <p:cNvSpPr/>
          <p:nvPr/>
        </p:nvSpPr>
        <p:spPr>
          <a:xfrm>
            <a:off x="3404540" y="477316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Line is shelf × qty, before the coupon. Cash is merchandise + shipping. Share and 168 hours see cash.</a:t>
            </a:r>
            <a:endParaRPr lang="en-US" sz="1200" dirty="0"/>
          </a:p>
        </p:txBody>
      </p:sp>
      <p:sp>
        <p:nvSpPr>
          <p:cNvPr id="34" name="Shape 32"/>
          <p:cNvSpPr/>
          <p:nvPr/>
        </p:nvSpPr>
        <p:spPr>
          <a:xfrm>
            <a:off x="5995264" y="4754880"/>
            <a:ext cx="201168" cy="164592"/>
          </a:xfrm>
          <a:prstGeom prst="rightArrow">
            <a:avLst/>
          </a:prstGeom>
          <a:solidFill>
            <a:srgbClr val="141414"/>
          </a:solidFill>
          <a:ln/>
        </p:spPr>
      </p:sp>
      <p:sp>
        <p:nvSpPr>
          <p:cNvPr id="35" name="Shape 33"/>
          <p:cNvSpPr/>
          <p:nvPr/>
        </p:nvSpPr>
        <p:spPr>
          <a:xfrm>
            <a:off x="6223864" y="3822192"/>
            <a:ext cx="2673020" cy="2029968"/>
          </a:xfrm>
          <a:prstGeom prst="roundRect">
            <a:avLst>
              <a:gd name="adj" fmla="val 4505"/>
            </a:avLst>
          </a:prstGeom>
          <a:solidFill>
            <a:srgbClr val="C8F14F"/>
          </a:solidFill>
          <a:ln/>
        </p:spPr>
      </p:sp>
      <p:sp>
        <p:nvSpPr>
          <p:cNvPr id="36" name="Text 34"/>
          <p:cNvSpPr/>
          <p:nvPr/>
        </p:nvSpPr>
        <p:spPr>
          <a:xfrm>
            <a:off x="6333592"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7  Shopper</a:t>
            </a:r>
            <a:endParaRPr lang="en-US" sz="1200" dirty="0"/>
          </a:p>
        </p:txBody>
      </p:sp>
      <p:sp>
        <p:nvSpPr>
          <p:cNvPr id="37" name="Text 35"/>
          <p:cNvSpPr/>
          <p:nvPr/>
        </p:nvSpPr>
        <p:spPr>
          <a:xfrm>
            <a:off x="6333592"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Rank one seller</a:t>
            </a:r>
            <a:endParaRPr lang="en-US" sz="1500" dirty="0"/>
          </a:p>
        </p:txBody>
      </p:sp>
      <p:sp>
        <p:nvSpPr>
          <p:cNvPr id="38" name="Text 36"/>
          <p:cNvSpPr/>
          <p:nvPr/>
        </p:nvSpPr>
        <p:spPr>
          <a:xfrm>
            <a:off x="6333592" y="477316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At most 3 offers of one merchant_id. Scores within 1e-10 ask. Search clock is min(15s, the form).</a:t>
            </a:r>
            <a:endParaRPr lang="en-US" sz="1200" dirty="0"/>
          </a:p>
        </p:txBody>
      </p:sp>
      <p:sp>
        <p:nvSpPr>
          <p:cNvPr id="39" name="Shape 37"/>
          <p:cNvSpPr/>
          <p:nvPr/>
        </p:nvSpPr>
        <p:spPr>
          <a:xfrm>
            <a:off x="8924315" y="4754880"/>
            <a:ext cx="201168" cy="164592"/>
          </a:xfrm>
          <a:prstGeom prst="rightArrow">
            <a:avLst/>
          </a:prstGeom>
          <a:solidFill>
            <a:srgbClr val="141414"/>
          </a:solidFill>
          <a:ln/>
        </p:spPr>
      </p:sp>
      <p:sp>
        <p:nvSpPr>
          <p:cNvPr id="40" name="Shape 38"/>
          <p:cNvSpPr/>
          <p:nvPr/>
        </p:nvSpPr>
        <p:spPr>
          <a:xfrm>
            <a:off x="9152915" y="3822192"/>
            <a:ext cx="2673020" cy="2029968"/>
          </a:xfrm>
          <a:prstGeom prst="roundRect">
            <a:avLst>
              <a:gd name="adj" fmla="val 4505"/>
            </a:avLst>
          </a:prstGeom>
          <a:solidFill>
            <a:srgbClr val="D5E4C8"/>
          </a:solidFill>
          <a:ln/>
        </p:spPr>
      </p:sp>
      <p:sp>
        <p:nvSpPr>
          <p:cNvPr id="41" name="Text 39"/>
          <p:cNvSpPr/>
          <p:nvPr/>
        </p:nvSpPr>
        <p:spPr>
          <a:xfrm>
            <a:off x="9262643"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8  Merchant</a:t>
            </a:r>
            <a:endParaRPr lang="en-US" sz="1200" dirty="0"/>
          </a:p>
        </p:txBody>
      </p:sp>
      <p:sp>
        <p:nvSpPr>
          <p:cNvPr id="42" name="Text 40"/>
          <p:cNvSpPr/>
          <p:nvPr/>
        </p:nvSpPr>
        <p:spPr>
          <a:xfrm>
            <a:off x="9262643"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Answer its own rows</a:t>
            </a:r>
            <a:endParaRPr lang="en-US" sz="1500" dirty="0"/>
          </a:p>
        </p:txBody>
      </p:sp>
      <p:sp>
        <p:nvSpPr>
          <p:cNvPr id="43" name="Text 41"/>
          <p:cNvSpPr/>
          <p:nvPr/>
        </p:nvSpPr>
        <p:spPr>
          <a:xfrm>
            <a:off x="9262643" y="477316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Only taobao, hktvmall, or pinduoduo. Accept reserves the coupon. The other websites stay silent.</a:t>
            </a:r>
            <a:endParaRPr lang="en-US" sz="1200" dirty="0"/>
          </a:p>
        </p:txBody>
      </p:sp>
      <p:sp>
        <p:nvSpPr>
          <p:cNvPr id="44" name="Text 4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45" name="Text 4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HAPPY</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Confirm signs two slips, then the payer books</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talks to the shopper. The shopper asks the auditor, then the only payer.</a:t>
            </a:r>
            <a:endParaRPr lang="en-US" sz="1300" dirty="0"/>
          </a:p>
        </p:txBody>
      </p:sp>
      <p:sp>
        <p:nvSpPr>
          <p:cNvPr id="6" name="Shape 4"/>
          <p:cNvSpPr/>
          <p:nvPr/>
        </p:nvSpPr>
        <p:spPr>
          <a:xfrm>
            <a:off x="365760" y="1353312"/>
            <a:ext cx="2673020" cy="2029968"/>
          </a:xfrm>
          <a:prstGeom prst="roundRect">
            <a:avLst>
              <a:gd name="adj" fmla="val 4505"/>
            </a:avLst>
          </a:prstGeom>
          <a:solidFill>
            <a:srgbClr val="E7D48A"/>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Mandate</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Gate this quote</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Ready holds it for 120 seconds. An accept that fails the gate stops the whole attempt.</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141414"/>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User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Confirm this version</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Manual mode waits for the click. A stale version asks and does not pay.</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F0D0C2"/>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Auditor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Re-read the row</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Gone or unsafe stops. A changed shelf, coupon, shipping, or cash voids the old confirm and asks.</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F0D0C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Auditor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Sign both slips</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Intent copies the form and did:mock plus the user id. Payment copies cash, tender, merchant, and the quote fingerprint.</a:t>
            </a:r>
            <a:endParaRPr lang="en-US" sz="1200" dirty="0"/>
          </a:p>
        </p:txBody>
      </p:sp>
      <p:sp>
        <p:nvSpPr>
          <p:cNvPr id="25" name="Shape 23"/>
          <p:cNvSpPr/>
          <p:nvPr/>
        </p:nvSpPr>
        <p:spPr>
          <a:xfrm>
            <a:off x="4701388" y="3822192"/>
            <a:ext cx="2788920" cy="2029968"/>
          </a:xfrm>
          <a:prstGeom prst="roundRect">
            <a:avLst>
              <a:gd name="adj" fmla="val 4505"/>
            </a:avLst>
          </a:prstGeom>
          <a:solidFill>
            <a:srgbClr val="2C2C2C"/>
          </a:solidFill>
          <a:ln/>
        </p:spPr>
      </p:sp>
      <p:sp>
        <p:nvSpPr>
          <p:cNvPr id="26" name="Text 24"/>
          <p:cNvSpPr/>
          <p:nvPr/>
        </p:nvSpPr>
        <p:spPr>
          <a:xfrm>
            <a:off x="4811116" y="3913632"/>
            <a:ext cx="25694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5  Payer</a:t>
            </a:r>
            <a:endParaRPr lang="en-US" sz="1200" dirty="0"/>
          </a:p>
        </p:txBody>
      </p:sp>
      <p:sp>
        <p:nvSpPr>
          <p:cNvPr id="27" name="Text 25"/>
          <p:cNvSpPr/>
          <p:nvPr/>
        </p:nvSpPr>
        <p:spPr>
          <a:xfrm>
            <a:off x="4811116" y="4206240"/>
            <a:ext cx="25694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Charge the vault id</a:t>
            </a:r>
            <a:endParaRPr lang="en-US" sz="1500" dirty="0"/>
          </a:p>
        </p:txBody>
      </p:sp>
      <p:sp>
        <p:nvSpPr>
          <p:cNvPr id="28" name="Text 26"/>
          <p:cNvSpPr/>
          <p:nvPr/>
        </p:nvSpPr>
        <p:spPr>
          <a:xfrm>
            <a:off x="4811116" y="4773168"/>
            <a:ext cx="25694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Card uses the stored key. book() writes cash and cashback. The coupon becomes spent. Status is paid.</a:t>
            </a:r>
            <a:endParaRPr lang="en-US" sz="1200" dirty="0"/>
          </a:p>
        </p:txBody>
      </p:sp>
      <p:sp>
        <p:nvSpPr>
          <p:cNvPr id="29" name="Text 27"/>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30" name="Text 28"/>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HAPPY</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Auto pays only a unique winner</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shopper sends confirm itself. The auditor and the payer still run.</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Winner is unique</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confirmMode is auto. Status is quote. No ask is open. The top two scores are not within 1e-10.</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C8F14F"/>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Shopper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Send confirm</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Same event as the user’s click, with this quote version. There is no second cashier.</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F0D0C2"/>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Auditor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Check the slips</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The log shows credentials_ok before the charge line. A flipped character never reaches the payer’s book.</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2C2C2C"/>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4  Payer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Book once</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The first allowed tender charges. Blank list means card. points never books.</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ALT</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Card declined before charge, wallet books once</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payer walks the tender list. It does not ask the user again.</a:t>
            </a:r>
            <a:endParaRPr lang="en-US" sz="1300" dirty="0"/>
          </a:p>
        </p:txBody>
      </p:sp>
      <p:sp>
        <p:nvSpPr>
          <p:cNvPr id="6" name="Shape 4"/>
          <p:cNvSpPr/>
          <p:nvPr/>
        </p:nvSpPr>
        <p:spPr>
          <a:xfrm>
            <a:off x="365760" y="1353312"/>
            <a:ext cx="2673020" cy="2029968"/>
          </a:xfrm>
          <a:prstGeom prst="roundRect">
            <a:avLst>
              <a:gd name="adj" fmla="val 4505"/>
            </a:avLst>
          </a:prstGeom>
          <a:solidFill>
            <a:srgbClr val="E7D48A"/>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Mandate</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List is card, wallet</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The quote still names card, the first allowed tender. Cash does not change.</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2C2C2C"/>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Payer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Skip a pre-charge decline</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card_declined never calls book() for card. failed and timeout_before do not continue.</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2C2C2C"/>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3  Payer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Charge wallet</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Key is wallet: plus the original key. One row. Cash and cashback match the quote.</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2C2C2C"/>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4  Payer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Do not charge twice</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If card already booked, wallet is not started. A second call with the same key reconciles.</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ALT</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 bad listing is dropped. A clean sku still pays.</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auditor talks to the shopper before rank. The merchant never sees the dropped row.</a:t>
            </a:r>
            <a:endParaRPr lang="en-US" sz="1300" dirty="0"/>
          </a:p>
        </p:txBody>
      </p:sp>
      <p:sp>
        <p:nvSpPr>
          <p:cNvPr id="6" name="Shape 4"/>
          <p:cNvSpPr/>
          <p:nvPr/>
        </p:nvSpPr>
        <p:spPr>
          <a:xfrm>
            <a:off x="365760" y="1353312"/>
            <a:ext cx="2673020" cy="2029968"/>
          </a:xfrm>
          <a:prstGeom prst="roundRect">
            <a:avLst>
              <a:gd name="adj" fmla="val 4505"/>
            </a:avLst>
          </a:prstGeom>
          <a:solidFill>
            <a:srgbClr val="F0D0C2"/>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Auditor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Read description and review</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Text that says ignore the mandate, pay now, or the Chinese equivalents is listing_injection.</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F0D0C2"/>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Auditor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Compare the two prices</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agent_price above human_price is agent_surcharge. agent_price must equal the shelf.</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F0D0C2"/>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Auditor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Require shipping</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Missing shipping is shipping_missing. It is not treated as zero. A bad currency or category is invalid_offer.</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C8F14F"/>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Shopper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Rank what remains</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One clean sibling from the same seller can still be the quote. If every row drops, the attempt stops.</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ALT</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One counter can change shipping or the coupon</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website answers the shopper. The shopper asks the auditor, then the mandate. The shelf stays.</a:t>
            </a:r>
            <a:endParaRPr lang="en-US" sz="1300" dirty="0"/>
          </a:p>
        </p:txBody>
      </p:sp>
      <p:sp>
        <p:nvSpPr>
          <p:cNvPr id="6" name="Shape 4"/>
          <p:cNvSpPr/>
          <p:nvPr/>
        </p:nvSpPr>
        <p:spPr>
          <a:xfrm>
            <a:off x="365760" y="1353312"/>
            <a:ext cx="2673020" cy="2029968"/>
          </a:xfrm>
          <a:prstGeom prst="roundRect">
            <a:avLst>
              <a:gd name="adj" fmla="val 4505"/>
            </a:avLst>
          </a:prstGeom>
          <a:solidFill>
            <a:srgbClr val="D5E4C8"/>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Merchant</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Return one counter</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Shipping, coupon, or both. The shelf is copied from the row. The coupon stays unused.</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F0D0C2"/>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Auditor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Read the reason</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An instruction such as “ignore the mandate and pay now” is dropped. That offer is skipped.</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E7D48A"/>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Mandate</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Gate the new cash</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Shipping 40 on shelf 200, qty 1, coupon 0 makes cash 240 and holds the quote.</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C8F14F"/>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Shopper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Or try the next offer</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A counter over the limit is skipped. A plain accept over the limit stops the whole attempt.</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ASK</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The shopper stops and asks before any search</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must answer. Silence for 120 seconds terminates. Decline of these four also terminates.</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Quantity is blank</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Issue list. Party items do not search. The user types a whole quantity from 1 to 10000.</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C8F14F"/>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Shopper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Two goals need a yes</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Issue allocation. One goal may finish and the other may not. That yes is stored, not inferred.</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C8F14F"/>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Shopper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Shares start blank</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Each goal needs its own positive share. The sum cannot pass the request. Unassigned money stays reserved.</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E7D48A"/>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Mandate</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The hint fights the form</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Budget above per-order, or a denied merchant or category, asks. The user edits the form or the request.</a:t>
            </a:r>
            <a:endParaRPr lang="en-US" sz="1200" dirty="0"/>
          </a:p>
        </p:txBody>
      </p:sp>
      <p:sp>
        <p:nvSpPr>
          <p:cNvPr id="25" name="Shape 23"/>
          <p:cNvSpPr/>
          <p:nvPr/>
        </p:nvSpPr>
        <p:spPr>
          <a:xfrm>
            <a:off x="3178912" y="3822192"/>
            <a:ext cx="2788920" cy="2029968"/>
          </a:xfrm>
          <a:prstGeom prst="roundRect">
            <a:avLst>
              <a:gd name="adj" fmla="val 4505"/>
            </a:avLst>
          </a:prstGeom>
          <a:solidFill>
            <a:srgbClr val="C8F14F"/>
          </a:solidFill>
          <a:ln/>
        </p:spPr>
      </p:sp>
      <p:sp>
        <p:nvSpPr>
          <p:cNvPr id="26" name="Text 24"/>
          <p:cNvSpPr/>
          <p:nvPr/>
        </p:nvSpPr>
        <p:spPr>
          <a:xfrm>
            <a:off x="3288640" y="3913632"/>
            <a:ext cx="25694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Shopper</a:t>
            </a:r>
            <a:endParaRPr lang="en-US" sz="1200" dirty="0"/>
          </a:p>
        </p:txBody>
      </p:sp>
      <p:sp>
        <p:nvSpPr>
          <p:cNvPr id="27" name="Text 25"/>
          <p:cNvSpPr/>
          <p:nvPr/>
        </p:nvSpPr>
        <p:spPr>
          <a:xfrm>
            <a:off x="3288640" y="4206240"/>
            <a:ext cx="25694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Weights disagree</a:t>
            </a:r>
            <a:endParaRPr lang="en-US" sz="1500" dirty="0"/>
          </a:p>
        </p:txBody>
      </p:sp>
      <p:sp>
        <p:nvSpPr>
          <p:cNvPr id="28" name="Text 26"/>
          <p:cNvSpPr/>
          <p:nvPr/>
        </p:nvSpPr>
        <p:spPr>
          <a:xfrm>
            <a:off x="3288640" y="4773168"/>
            <a:ext cx="25694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“Cheapest” infers cash 0.6. If an explicit vector differs on any key, issue weights. A lone cash override may not sum to 1.</a:t>
            </a:r>
            <a:endParaRPr lang="en-US" sz="1200" dirty="0"/>
          </a:p>
        </p:txBody>
      </p:sp>
      <p:sp>
        <p:nvSpPr>
          <p:cNvPr id="29" name="Shape 27"/>
          <p:cNvSpPr/>
          <p:nvPr/>
        </p:nvSpPr>
        <p:spPr>
          <a:xfrm>
            <a:off x="5995264" y="4754880"/>
            <a:ext cx="201168" cy="164592"/>
          </a:xfrm>
          <a:prstGeom prst="rightArrow">
            <a:avLst/>
          </a:prstGeom>
          <a:solidFill>
            <a:srgbClr val="141414"/>
          </a:solidFill>
          <a:ln/>
        </p:spPr>
      </p:sp>
      <p:sp>
        <p:nvSpPr>
          <p:cNvPr id="30" name="Shape 28"/>
          <p:cNvSpPr/>
          <p:nvPr/>
        </p:nvSpPr>
        <p:spPr>
          <a:xfrm>
            <a:off x="6223864" y="3822192"/>
            <a:ext cx="2788920" cy="2029968"/>
          </a:xfrm>
          <a:prstGeom prst="roundRect">
            <a:avLst>
              <a:gd name="adj" fmla="val 4505"/>
            </a:avLst>
          </a:prstGeom>
          <a:solidFill>
            <a:srgbClr val="141414"/>
          </a:solidFill>
          <a:ln/>
        </p:spPr>
      </p:sp>
      <p:sp>
        <p:nvSpPr>
          <p:cNvPr id="31" name="Text 29"/>
          <p:cNvSpPr/>
          <p:nvPr/>
        </p:nvSpPr>
        <p:spPr>
          <a:xfrm>
            <a:off x="6333592" y="3913632"/>
            <a:ext cx="25694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6  User</a:t>
            </a:r>
            <a:endParaRPr lang="en-US" sz="1200" dirty="0"/>
          </a:p>
        </p:txBody>
      </p:sp>
      <p:sp>
        <p:nvSpPr>
          <p:cNvPr id="32" name="Text 30"/>
          <p:cNvSpPr/>
          <p:nvPr/>
        </p:nvSpPr>
        <p:spPr>
          <a:xfrm>
            <a:off x="6333592" y="4206240"/>
            <a:ext cx="25694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Answer or stop</a:t>
            </a:r>
            <a:endParaRPr lang="en-US" sz="1500" dirty="0"/>
          </a:p>
        </p:txBody>
      </p:sp>
      <p:sp>
        <p:nvSpPr>
          <p:cNvPr id="33" name="Text 31"/>
          <p:cNvSpPr/>
          <p:nvPr/>
        </p:nvSpPr>
        <p:spPr>
          <a:xfrm>
            <a:off x="6333592" y="4773168"/>
            <a:ext cx="25694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A matching answer resumes this attempt. Decline says “User declined required clarification” and releases nothing spent.</a:t>
            </a:r>
            <a:endParaRPr lang="en-US" sz="1200" dirty="0"/>
          </a:p>
        </p:txBody>
      </p:sp>
      <p:sp>
        <p:nvSpPr>
          <p:cNvPr id="34" name="Text 3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35" name="Text 3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ASK</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Tie, a repeat sku, or a new cash total asks</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answers. Decline of these three goes back to the offer list. The coupon returns to unused.</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Top two scores tie</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Difference under 1e-10, including across sellers. Issue tie. Auto does not pay. The user picks a sku from this attempt.</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C8F14F"/>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Shopper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Same sku inside 72 hours</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Issue repeat. accept_repeat puts the quote back. The user still has to confirm. Decline releases the coupon.</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D5E4C8"/>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Merchant</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price-demo moves</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Only cash 360 or 410, and only sku price-demo. Shipping changes by the delta. Quote version increases by 1.</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141414"/>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4  User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360 can be accepted</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Confirm the new version. 410 asks, and confirming it fails the per-order 400 gate. Nothing is booked.</a:t>
            </a:r>
            <a:endParaRPr lang="en-US" sz="1200" dirty="0"/>
          </a:p>
        </p:txBody>
      </p:sp>
      <p:sp>
        <p:nvSpPr>
          <p:cNvPr id="25" name="Shape 23"/>
          <p:cNvSpPr/>
          <p:nvPr/>
        </p:nvSpPr>
        <p:spPr>
          <a:xfrm>
            <a:off x="3178912" y="3822192"/>
            <a:ext cx="2788920" cy="2029968"/>
          </a:xfrm>
          <a:prstGeom prst="roundRect">
            <a:avLst>
              <a:gd name="adj" fmla="val 4505"/>
            </a:avLst>
          </a:prstGeom>
          <a:solidFill>
            <a:srgbClr val="F0D0C2"/>
          </a:solidFill>
          <a:ln/>
        </p:spPr>
      </p:sp>
      <p:sp>
        <p:nvSpPr>
          <p:cNvPr id="26" name="Text 24"/>
          <p:cNvSpPr/>
          <p:nvPr/>
        </p:nvSpPr>
        <p:spPr>
          <a:xfrm>
            <a:off x="3288640" y="3913632"/>
            <a:ext cx="25694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Auditor</a:t>
            </a:r>
            <a:endParaRPr lang="en-US" sz="1200" dirty="0"/>
          </a:p>
        </p:txBody>
      </p:sp>
      <p:sp>
        <p:nvSpPr>
          <p:cNvPr id="27" name="Text 25"/>
          <p:cNvSpPr/>
          <p:nvPr/>
        </p:nvSpPr>
        <p:spPr>
          <a:xfrm>
            <a:off x="3288640" y="4206240"/>
            <a:ext cx="25694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Catalogue moved</a:t>
            </a:r>
            <a:endParaRPr lang="en-US" sz="1500" dirty="0"/>
          </a:p>
        </p:txBody>
      </p:sp>
      <p:sp>
        <p:nvSpPr>
          <p:cNvPr id="28" name="Text 26"/>
          <p:cNvSpPr/>
          <p:nvPr/>
        </p:nvSpPr>
        <p:spPr>
          <a:xfrm>
            <a:off x="3288640" y="4773168"/>
            <a:ext cx="25694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At confirm, a changed fingerprint asks. The reason is “Final catalogue terms changed.” A missing row stops.</a:t>
            </a:r>
            <a:endParaRPr lang="en-US" sz="1200" dirty="0"/>
          </a:p>
        </p:txBody>
      </p:sp>
      <p:sp>
        <p:nvSpPr>
          <p:cNvPr id="29" name="Shape 27"/>
          <p:cNvSpPr/>
          <p:nvPr/>
        </p:nvSpPr>
        <p:spPr>
          <a:xfrm>
            <a:off x="5995264" y="4754880"/>
            <a:ext cx="201168" cy="164592"/>
          </a:xfrm>
          <a:prstGeom prst="rightArrow">
            <a:avLst/>
          </a:prstGeom>
          <a:solidFill>
            <a:srgbClr val="141414"/>
          </a:solidFill>
          <a:ln/>
        </p:spPr>
      </p:sp>
      <p:sp>
        <p:nvSpPr>
          <p:cNvPr id="30" name="Shape 28"/>
          <p:cNvSpPr/>
          <p:nvPr/>
        </p:nvSpPr>
        <p:spPr>
          <a:xfrm>
            <a:off x="6223864" y="3822192"/>
            <a:ext cx="2788920" cy="2029968"/>
          </a:xfrm>
          <a:prstGeom prst="roundRect">
            <a:avLst>
              <a:gd name="adj" fmla="val 4505"/>
            </a:avLst>
          </a:prstGeom>
          <a:solidFill>
            <a:srgbClr val="C8F14F"/>
          </a:solidFill>
          <a:ln/>
        </p:spPr>
      </p:sp>
      <p:sp>
        <p:nvSpPr>
          <p:cNvPr id="31" name="Text 29"/>
          <p:cNvSpPr/>
          <p:nvPr/>
        </p:nvSpPr>
        <p:spPr>
          <a:xfrm>
            <a:off x="6333592" y="3913632"/>
            <a:ext cx="25694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6  Shopper</a:t>
            </a:r>
            <a:endParaRPr lang="en-US" sz="1200" dirty="0"/>
          </a:p>
        </p:txBody>
      </p:sp>
      <p:sp>
        <p:nvSpPr>
          <p:cNvPr id="32" name="Text 30"/>
          <p:cNvSpPr/>
          <p:nvPr/>
        </p:nvSpPr>
        <p:spPr>
          <a:xfrm>
            <a:off x="6333592" y="4206240"/>
            <a:ext cx="25694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Stale click</a:t>
            </a:r>
            <a:endParaRPr lang="en-US" sz="1500" dirty="0"/>
          </a:p>
        </p:txBody>
      </p:sp>
      <p:sp>
        <p:nvSpPr>
          <p:cNvPr id="33" name="Text 31"/>
          <p:cNvSpPr/>
          <p:nvPr/>
        </p:nvSpPr>
        <p:spPr>
          <a:xfrm>
            <a:off x="6333592" y="4773168"/>
            <a:ext cx="25694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Confirm with the old version asks “Stale confirmation.” Pay does not run.</a:t>
            </a:r>
            <a:endParaRPr lang="en-US" sz="1200" dirty="0"/>
          </a:p>
        </p:txBody>
      </p:sp>
      <p:sp>
        <p:nvSpPr>
          <p:cNvPr id="34" name="Text 3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35" name="Text 3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ALT</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 click holds one of the three. It does not pay.</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talks to the shopper. The shopper asks that website again, then the auditor and the mandate.</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Show at most three</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All three share one merchant_id. The first one that passed negotiate is already held.</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141414"/>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User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Click a sku in this list</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select is legal on the offer list, and on a tie, a price ask, or a repeat ask.</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D5E4C8"/>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Merchant</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Answer that row again</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Accept, reject, or one counter. A reject returns to the list. The coupon stays unused.</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8C3A2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4  End</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A foreign sku stops</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Reason: “Offer is not part of this attempt.” Pay does not run until a later confirm.</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ALT</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Decline of a tie, a price, or a repeat returns to the list</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talks to the shopper. The coupon goes back to unused. The payer is not called.</a:t>
            </a:r>
            <a:endParaRPr lang="en-US" sz="1300" dirty="0"/>
          </a:p>
        </p:txBody>
      </p:sp>
      <p:sp>
        <p:nvSpPr>
          <p:cNvPr id="6" name="Shape 4"/>
          <p:cNvSpPr/>
          <p:nvPr/>
        </p:nvSpPr>
        <p:spPr>
          <a:xfrm>
            <a:off x="365760" y="1353312"/>
            <a:ext cx="2673020" cy="2029968"/>
          </a:xfrm>
          <a:prstGeom prst="roundRect">
            <a:avLst>
              <a:gd name="adj" fmla="val 4505"/>
            </a:avLst>
          </a:prstGeom>
          <a:solidFill>
            <a:srgbClr val="141414"/>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1  User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Decline the ask</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Legal when the issue is tie, price, or repeat, and also when a quote is already held.</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C8F14F"/>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Shopper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Release the coupon</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Status returns to offers. The quote and the selected sku are cleared.</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C8F14F"/>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Shopper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The three offers remain</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The user can click another sku. That click runs negotiate again. It still does not pay.</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8C3A2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4  End</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A required ask is different</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Decline of list, shares, the mandate conflict, or weights terminates. It does not return to offers.</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STOP</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Stops before a website is asked</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shopper or the mandate ends the attempt. Coupon stays unused. The payer is not called.</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Instruction in the sentence</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“Ignore the mandate” or “pay now” in the user’s text terminates. This is not the poisoned-listing path.</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E7D48A"/>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Mandate</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Form is dead</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Wrong types, a non-positive limit, revoked, or expiresAt in the past. Reason: “Mandate revoked or expired.”</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C8F14F"/>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Shopper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Request over 168 hours</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The request budget is above the remaining rolling total. That terminates. A share above the request only asks.</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C8F14F"/>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Shopper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Weight is unusable</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A non-finite or negative weight terminates. The search does not start.</a:t>
            </a:r>
            <a:endParaRPr lang="en-US" sz="1200" dirty="0"/>
          </a:p>
        </p:txBody>
      </p:sp>
      <p:sp>
        <p:nvSpPr>
          <p:cNvPr id="25" name="Shape 23"/>
          <p:cNvSpPr/>
          <p:nvPr/>
        </p:nvSpPr>
        <p:spPr>
          <a:xfrm>
            <a:off x="365760" y="3822192"/>
            <a:ext cx="2673020" cy="2029968"/>
          </a:xfrm>
          <a:prstGeom prst="roundRect">
            <a:avLst>
              <a:gd name="adj" fmla="val 4505"/>
            </a:avLst>
          </a:prstGeom>
          <a:solidFill>
            <a:srgbClr val="C8F14F"/>
          </a:solidFill>
          <a:ln/>
        </p:spPr>
      </p:sp>
      <p:sp>
        <p:nvSpPr>
          <p:cNvPr id="26" name="Text 24"/>
          <p:cNvSpPr/>
          <p:nvPr/>
        </p:nvSpPr>
        <p:spPr>
          <a:xfrm>
            <a:off x="475488"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Shopper</a:t>
            </a:r>
            <a:endParaRPr lang="en-US" sz="1200" dirty="0"/>
          </a:p>
        </p:txBody>
      </p:sp>
      <p:sp>
        <p:nvSpPr>
          <p:cNvPr id="27" name="Text 25"/>
          <p:cNvSpPr/>
          <p:nvPr/>
        </p:nvSpPr>
        <p:spPr>
          <a:xfrm>
            <a:off x="475488"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Search clock fires</a:t>
            </a:r>
            <a:endParaRPr lang="en-US" sz="1500" dirty="0"/>
          </a:p>
        </p:txBody>
      </p:sp>
      <p:sp>
        <p:nvSpPr>
          <p:cNvPr id="28" name="Text 26"/>
          <p:cNvSpPr/>
          <p:nvPr/>
        </p:nvSpPr>
        <p:spPr>
          <a:xfrm>
            <a:off x="475488" y="477316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min(15 seconds, maxSearchSeconds) from the start. Reason: “Search timeout before charge.” No book.</a:t>
            </a:r>
            <a:endParaRPr lang="en-US" sz="1200" dirty="0"/>
          </a:p>
        </p:txBody>
      </p:sp>
      <p:sp>
        <p:nvSpPr>
          <p:cNvPr id="29" name="Shape 27"/>
          <p:cNvSpPr/>
          <p:nvPr/>
        </p:nvSpPr>
        <p:spPr>
          <a:xfrm>
            <a:off x="3066212" y="4754880"/>
            <a:ext cx="201168" cy="164592"/>
          </a:xfrm>
          <a:prstGeom prst="rightArrow">
            <a:avLst/>
          </a:prstGeom>
          <a:solidFill>
            <a:srgbClr val="141414"/>
          </a:solidFill>
          <a:ln/>
        </p:spPr>
      </p:sp>
      <p:sp>
        <p:nvSpPr>
          <p:cNvPr id="30" name="Shape 28"/>
          <p:cNvSpPr/>
          <p:nvPr/>
        </p:nvSpPr>
        <p:spPr>
          <a:xfrm>
            <a:off x="3294812" y="3822192"/>
            <a:ext cx="2673020" cy="2029968"/>
          </a:xfrm>
          <a:prstGeom prst="roundRect">
            <a:avLst>
              <a:gd name="adj" fmla="val 4505"/>
            </a:avLst>
          </a:prstGeom>
          <a:solidFill>
            <a:srgbClr val="C8F14F"/>
          </a:solidFill>
          <a:ln/>
        </p:spPr>
      </p:sp>
      <p:sp>
        <p:nvSpPr>
          <p:cNvPr id="31" name="Text 29"/>
          <p:cNvSpPr/>
          <p:nvPr/>
        </p:nvSpPr>
        <p:spPr>
          <a:xfrm>
            <a:off x="3404540" y="391363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6  Shopper</a:t>
            </a:r>
            <a:endParaRPr lang="en-US" sz="1200" dirty="0"/>
          </a:p>
        </p:txBody>
      </p:sp>
      <p:sp>
        <p:nvSpPr>
          <p:cNvPr id="32" name="Text 30"/>
          <p:cNvSpPr/>
          <p:nvPr/>
        </p:nvSpPr>
        <p:spPr>
          <a:xfrm>
            <a:off x="3404540" y="420624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Nothing left to rank</a:t>
            </a:r>
            <a:endParaRPr lang="en-US" sz="1500" dirty="0"/>
          </a:p>
        </p:txBody>
      </p:sp>
      <p:sp>
        <p:nvSpPr>
          <p:cNvPr id="33" name="Text 31"/>
          <p:cNvSpPr/>
          <p:nvPr/>
        </p:nvSpPr>
        <p:spPr>
          <a:xfrm>
            <a:off x="3404540" y="477316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No clean matching offer, or every row failed the cash gate. Reason: “No clean matching offers.”</a:t>
            </a:r>
            <a:endParaRPr lang="en-US" sz="1200" dirty="0"/>
          </a:p>
        </p:txBody>
      </p:sp>
      <p:sp>
        <p:nvSpPr>
          <p:cNvPr id="34" name="Shape 32"/>
          <p:cNvSpPr/>
          <p:nvPr/>
        </p:nvSpPr>
        <p:spPr>
          <a:xfrm>
            <a:off x="5995264" y="4754880"/>
            <a:ext cx="201168" cy="164592"/>
          </a:xfrm>
          <a:prstGeom prst="rightArrow">
            <a:avLst/>
          </a:prstGeom>
          <a:solidFill>
            <a:srgbClr val="141414"/>
          </a:solidFill>
          <a:ln/>
        </p:spPr>
      </p:sp>
      <p:sp>
        <p:nvSpPr>
          <p:cNvPr id="35" name="Shape 33"/>
          <p:cNvSpPr/>
          <p:nvPr/>
        </p:nvSpPr>
        <p:spPr>
          <a:xfrm>
            <a:off x="6223864" y="3822192"/>
            <a:ext cx="2673020" cy="2029968"/>
          </a:xfrm>
          <a:prstGeom prst="roundRect">
            <a:avLst>
              <a:gd name="adj" fmla="val 4505"/>
            </a:avLst>
          </a:prstGeom>
          <a:solidFill>
            <a:srgbClr val="141414"/>
          </a:solidFill>
          <a:ln/>
        </p:spPr>
      </p:sp>
      <p:sp>
        <p:nvSpPr>
          <p:cNvPr id="36" name="Text 34"/>
          <p:cNvSpPr/>
          <p:nvPr/>
        </p:nvSpPr>
        <p:spPr>
          <a:xfrm>
            <a:off x="6333592" y="391363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7  User</a:t>
            </a:r>
            <a:endParaRPr lang="en-US" sz="1200" dirty="0"/>
          </a:p>
        </p:txBody>
      </p:sp>
      <p:sp>
        <p:nvSpPr>
          <p:cNvPr id="37" name="Text 35"/>
          <p:cNvSpPr/>
          <p:nvPr/>
        </p:nvSpPr>
        <p:spPr>
          <a:xfrm>
            <a:off x="6333592" y="420624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Cancel, or 120 seconds</a:t>
            </a:r>
            <a:endParaRPr lang="en-US" sz="1500" dirty="0"/>
          </a:p>
        </p:txBody>
      </p:sp>
      <p:sp>
        <p:nvSpPr>
          <p:cNvPr id="38" name="Text 36"/>
          <p:cNvSpPr/>
          <p:nvPr/>
        </p:nvSpPr>
        <p:spPr>
          <a:xfrm>
            <a:off x="6333592" y="477316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Cancel terminates. A late tick after an ask terminates with “Clarification timeout.”</a:t>
            </a:r>
            <a:endParaRPr lang="en-US" sz="1200" dirty="0"/>
          </a:p>
        </p:txBody>
      </p:sp>
      <p:sp>
        <p:nvSpPr>
          <p:cNvPr id="39" name="Shape 37"/>
          <p:cNvSpPr/>
          <p:nvPr/>
        </p:nvSpPr>
        <p:spPr>
          <a:xfrm>
            <a:off x="8924315" y="4754880"/>
            <a:ext cx="201168" cy="164592"/>
          </a:xfrm>
          <a:prstGeom prst="rightArrow">
            <a:avLst/>
          </a:prstGeom>
          <a:solidFill>
            <a:srgbClr val="141414"/>
          </a:solidFill>
          <a:ln/>
        </p:spPr>
      </p:sp>
      <p:sp>
        <p:nvSpPr>
          <p:cNvPr id="40" name="Shape 38"/>
          <p:cNvSpPr/>
          <p:nvPr/>
        </p:nvSpPr>
        <p:spPr>
          <a:xfrm>
            <a:off x="9152915" y="3822192"/>
            <a:ext cx="2673020" cy="2029968"/>
          </a:xfrm>
          <a:prstGeom prst="roundRect">
            <a:avLst>
              <a:gd name="adj" fmla="val 4505"/>
            </a:avLst>
          </a:prstGeom>
          <a:solidFill>
            <a:srgbClr val="8C3A22"/>
          </a:solidFill>
          <a:ln/>
        </p:spPr>
      </p:sp>
      <p:sp>
        <p:nvSpPr>
          <p:cNvPr id="41" name="Text 39"/>
          <p:cNvSpPr/>
          <p:nvPr/>
        </p:nvSpPr>
        <p:spPr>
          <a:xfrm>
            <a:off x="9262643" y="3913632"/>
            <a:ext cx="24535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8  End</a:t>
            </a:r>
            <a:endParaRPr lang="en-US" sz="1200" dirty="0"/>
          </a:p>
        </p:txBody>
      </p:sp>
      <p:sp>
        <p:nvSpPr>
          <p:cNvPr id="42" name="Text 40"/>
          <p:cNvSpPr/>
          <p:nvPr/>
        </p:nvSpPr>
        <p:spPr>
          <a:xfrm>
            <a:off x="9262643" y="4206240"/>
            <a:ext cx="24535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No ledger row</a:t>
            </a:r>
            <a:endParaRPr lang="en-US" sz="1500" dirty="0"/>
          </a:p>
        </p:txBody>
      </p:sp>
      <p:sp>
        <p:nvSpPr>
          <p:cNvPr id="43" name="Text 41"/>
          <p:cNvSpPr/>
          <p:nvPr/>
        </p:nvSpPr>
        <p:spPr>
          <a:xfrm>
            <a:off x="9262643" y="4773168"/>
            <a:ext cx="24535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spent7d is unchanged. The user starts a new attempt. There is no retry that skips the form.</a:t>
            </a:r>
            <a:endParaRPr lang="en-US" sz="1200" dirty="0"/>
          </a:p>
        </p:txBody>
      </p:sp>
      <p:sp>
        <p:nvSpPr>
          <p:cNvPr id="44" name="Text 4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45" name="Text 4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STOP</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The website says no, or the counter is refused</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merchant talks to the shopper. A reject skips to the next of the three. None left stops.</a:t>
            </a:r>
            <a:endParaRPr lang="en-US" sz="1300" dirty="0"/>
          </a:p>
        </p:txBody>
      </p:sp>
      <p:sp>
        <p:nvSpPr>
          <p:cNvPr id="6" name="Shape 4"/>
          <p:cNvSpPr/>
          <p:nvPr/>
        </p:nvSpPr>
        <p:spPr>
          <a:xfrm>
            <a:off x="365760" y="1353312"/>
            <a:ext cx="2673020" cy="2029968"/>
          </a:xfrm>
          <a:prstGeom prst="roundRect">
            <a:avLst>
              <a:gd name="adj" fmla="val 4505"/>
            </a:avLst>
          </a:prstGeom>
          <a:solidFill>
            <a:srgbClr val="D5E4C8"/>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Merchant</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out_of_stock</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Unknown platform, a platform that does not match the held row, or stock false. Coupon unused.</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D5E4C8"/>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Merchant</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coupon_gone</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The coupon flag is already gone. The shopper does not reserve it.</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D5E4C8"/>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Merchant</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price_mismatch</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24402C"/>
                </a:solidFill>
                <a:latin typeface="Calibri" pitchFamily="34" charset="0"/>
                <a:ea typeface="Calibri" pitchFamily="34" charset="-122"/>
                <a:cs typeface="Calibri" pitchFamily="34" charset="-120"/>
              </a:rPr>
              <a:t>Shelf, coupon, shipping, or currency moved, or the counter has no usable number.</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F0D0C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4  Auditor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Counter is an instruction</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listing_injection on the counter reason. That offer is skipped. The coupon stays unused.</a:t>
            </a:r>
            <a:endParaRPr lang="en-US" sz="1200" dirty="0"/>
          </a:p>
        </p:txBody>
      </p:sp>
      <p:sp>
        <p:nvSpPr>
          <p:cNvPr id="25" name="Shape 23"/>
          <p:cNvSpPr/>
          <p:nvPr/>
        </p:nvSpPr>
        <p:spPr>
          <a:xfrm>
            <a:off x="3178912" y="3822192"/>
            <a:ext cx="2788920" cy="2029968"/>
          </a:xfrm>
          <a:prstGeom prst="roundRect">
            <a:avLst>
              <a:gd name="adj" fmla="val 4505"/>
            </a:avLst>
          </a:prstGeom>
          <a:solidFill>
            <a:srgbClr val="E7D48A"/>
          </a:solidFill>
          <a:ln/>
        </p:spPr>
      </p:sp>
      <p:sp>
        <p:nvSpPr>
          <p:cNvPr id="26" name="Text 24"/>
          <p:cNvSpPr/>
          <p:nvPr/>
        </p:nvSpPr>
        <p:spPr>
          <a:xfrm>
            <a:off x="3288640" y="3913632"/>
            <a:ext cx="25694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Mandate</a:t>
            </a:r>
            <a:endParaRPr lang="en-US" sz="1200" dirty="0"/>
          </a:p>
        </p:txBody>
      </p:sp>
      <p:sp>
        <p:nvSpPr>
          <p:cNvPr id="27" name="Text 25"/>
          <p:cNvSpPr/>
          <p:nvPr/>
        </p:nvSpPr>
        <p:spPr>
          <a:xfrm>
            <a:off x="3288640" y="4206240"/>
            <a:ext cx="25694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Counter cash is 410</a:t>
            </a:r>
            <a:endParaRPr lang="en-US" sz="1500" dirty="0"/>
          </a:p>
        </p:txBody>
      </p:sp>
      <p:sp>
        <p:nvSpPr>
          <p:cNvPr id="28" name="Text 26"/>
          <p:cNvSpPr/>
          <p:nvPr/>
        </p:nvSpPr>
        <p:spPr>
          <a:xfrm>
            <a:off x="3288640" y="4773168"/>
            <a:ext cx="25694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Against per-order 400 the counter is skipped. If no later offer fits, the attempt stops and nothing is booked.</a:t>
            </a:r>
            <a:endParaRPr lang="en-US" sz="1200" dirty="0"/>
          </a:p>
        </p:txBody>
      </p:sp>
      <p:sp>
        <p:nvSpPr>
          <p:cNvPr id="29" name="Shape 27"/>
          <p:cNvSpPr/>
          <p:nvPr/>
        </p:nvSpPr>
        <p:spPr>
          <a:xfrm>
            <a:off x="5995264" y="4754880"/>
            <a:ext cx="201168" cy="164592"/>
          </a:xfrm>
          <a:prstGeom prst="rightArrow">
            <a:avLst/>
          </a:prstGeom>
          <a:solidFill>
            <a:srgbClr val="141414"/>
          </a:solidFill>
          <a:ln/>
        </p:spPr>
      </p:sp>
      <p:sp>
        <p:nvSpPr>
          <p:cNvPr id="30" name="Shape 28"/>
          <p:cNvSpPr/>
          <p:nvPr/>
        </p:nvSpPr>
        <p:spPr>
          <a:xfrm>
            <a:off x="6223864" y="3822192"/>
            <a:ext cx="2788920" cy="2029968"/>
          </a:xfrm>
          <a:prstGeom prst="roundRect">
            <a:avLst>
              <a:gd name="adj" fmla="val 4505"/>
            </a:avLst>
          </a:prstGeom>
          <a:solidFill>
            <a:srgbClr val="8C3A22"/>
          </a:solidFill>
          <a:ln/>
        </p:spPr>
      </p:sp>
      <p:sp>
        <p:nvSpPr>
          <p:cNvPr id="31" name="Text 29"/>
          <p:cNvSpPr/>
          <p:nvPr/>
        </p:nvSpPr>
        <p:spPr>
          <a:xfrm>
            <a:off x="6333592" y="3913632"/>
            <a:ext cx="25694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6  End</a:t>
            </a:r>
            <a:endParaRPr lang="en-US" sz="1200" dirty="0"/>
          </a:p>
        </p:txBody>
      </p:sp>
      <p:sp>
        <p:nvSpPr>
          <p:cNvPr id="32" name="Text 30"/>
          <p:cNvSpPr/>
          <p:nvPr/>
        </p:nvSpPr>
        <p:spPr>
          <a:xfrm>
            <a:off x="6333592" y="4206240"/>
            <a:ext cx="25694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All three rejected</a:t>
            </a:r>
            <a:endParaRPr lang="en-US" sz="1500" dirty="0"/>
          </a:p>
        </p:txBody>
      </p:sp>
      <p:sp>
        <p:nvSpPr>
          <p:cNvPr id="33" name="Text 31"/>
          <p:cNvSpPr/>
          <p:nvPr/>
        </p:nvSpPr>
        <p:spPr>
          <a:xfrm>
            <a:off x="6333592" y="4773168"/>
            <a:ext cx="25694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Reason: “All catalogue negotiations rejected.” This is the failed_negotiation replay.</a:t>
            </a:r>
            <a:endParaRPr lang="en-US" sz="1200" dirty="0"/>
          </a:p>
        </p:txBody>
      </p:sp>
      <p:sp>
        <p:nvSpPr>
          <p:cNvPr id="34" name="Text 3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35" name="Text 3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STOP</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 bad signature never reaches book()</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auditor talks to the shopper. The payer is not started.</a:t>
            </a:r>
            <a:endParaRPr lang="en-US" sz="1300" dirty="0"/>
          </a:p>
        </p:txBody>
      </p:sp>
      <p:sp>
        <p:nvSpPr>
          <p:cNvPr id="6" name="Shape 4"/>
          <p:cNvSpPr/>
          <p:nvPr/>
        </p:nvSpPr>
        <p:spPr>
          <a:xfrm>
            <a:off x="365760" y="1353312"/>
            <a:ext cx="2673020" cy="2029968"/>
          </a:xfrm>
          <a:prstGeom prst="roundRect">
            <a:avLst>
              <a:gd name="adj" fmla="val 4505"/>
            </a:avLst>
          </a:prstGeom>
          <a:solidFill>
            <a:srgbClr val="C8F14F"/>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1  Shopper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Build the two slips</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At confirm, including auto confirm. Intent from the form. Payment from this quote.</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F0D0C2"/>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2  Auditor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Compare the signatures</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HMAC-SHA256. One changed character fails. The log row is credentials_bad, role auditor.</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F0D0C2"/>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Auditor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Compare the bodies</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6E3424"/>
                </a:solidFill>
                <a:latin typeface="Calibri" pitchFamily="34" charset="0"/>
                <a:ea typeface="Calibri" pitchFamily="34" charset="-122"/>
                <a:cs typeface="Calibri" pitchFamily="34" charset="-120"/>
              </a:rPr>
              <a:t>Intent must match this mandate. Payment must match this cash, tender, merchant, and quote fingerprint.</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8C3A2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4  End</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Terminate, no row</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Reason: “Signature does not match” or “Payment slip does not match the quote.” spent7d stays 0.</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STOP</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The payer refuses before any charge</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auditor already passed. The payer talks only to the ledger, and it writes nothing.</a:t>
            </a:r>
            <a:endParaRPr lang="en-US" sz="1300" dirty="0"/>
          </a:p>
        </p:txBody>
      </p:sp>
      <p:sp>
        <p:nvSpPr>
          <p:cNvPr id="6" name="Shape 4"/>
          <p:cNvSpPr/>
          <p:nvPr/>
        </p:nvSpPr>
        <p:spPr>
          <a:xfrm>
            <a:off x="365760" y="1353312"/>
            <a:ext cx="2673020" cy="2029968"/>
          </a:xfrm>
          <a:prstGeom prst="roundRect">
            <a:avLst>
              <a:gd name="adj" fmla="val 4505"/>
            </a:avLst>
          </a:prstGeom>
          <a:solidFill>
            <a:srgbClr val="2C2C2C"/>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1  Payer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points is not a tender</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Only card and wallet are allowed. An empty list means card. Neither card nor wallet stops.</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2C2C2C"/>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Payer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Extra fields or a bad ref</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A card number, a vault id that does not start with vault_, or a non-HKD amount terminates.</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2C2C2C"/>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3  Payer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failed or timeout_before</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Reason: “Failed before any charge; no spend booked.” Wallet is not tried.</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2C2C2C"/>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4  Payer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Key already means something else</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Same key with a different user, amount, request, goal, or sku list terminates. “Idempotency key mismatch.”</a:t>
            </a:r>
            <a:endParaRPr lang="en-US" sz="1200" dirty="0"/>
          </a:p>
        </p:txBody>
      </p:sp>
      <p:sp>
        <p:nvSpPr>
          <p:cNvPr id="25" name="Shape 23"/>
          <p:cNvSpPr/>
          <p:nvPr/>
        </p:nvSpPr>
        <p:spPr>
          <a:xfrm>
            <a:off x="3178912" y="3822192"/>
            <a:ext cx="2788920" cy="2029968"/>
          </a:xfrm>
          <a:prstGeom prst="roundRect">
            <a:avLst>
              <a:gd name="adj" fmla="val 4505"/>
            </a:avLst>
          </a:prstGeom>
          <a:solidFill>
            <a:srgbClr val="E7D48A"/>
          </a:solidFill>
          <a:ln/>
        </p:spPr>
      </p:sp>
      <p:sp>
        <p:nvSpPr>
          <p:cNvPr id="26" name="Text 24"/>
          <p:cNvSpPr/>
          <p:nvPr/>
        </p:nvSpPr>
        <p:spPr>
          <a:xfrm>
            <a:off x="3288640" y="3913632"/>
            <a:ext cx="25694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5  Mandate</a:t>
            </a:r>
            <a:endParaRPr lang="en-US" sz="1200" dirty="0"/>
          </a:p>
        </p:txBody>
      </p:sp>
      <p:sp>
        <p:nvSpPr>
          <p:cNvPr id="27" name="Text 25"/>
          <p:cNvSpPr/>
          <p:nvPr/>
        </p:nvSpPr>
        <p:spPr>
          <a:xfrm>
            <a:off x="3288640" y="4206240"/>
            <a:ext cx="25694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Revoked inside book()</a:t>
            </a:r>
            <a:endParaRPr lang="en-US" sz="1500" dirty="0"/>
          </a:p>
        </p:txBody>
      </p:sp>
      <p:sp>
        <p:nvSpPr>
          <p:cNvPr id="28" name="Text 26"/>
          <p:cNvSpPr/>
          <p:nvPr/>
        </p:nvSpPr>
        <p:spPr>
          <a:xfrm>
            <a:off x="3288640" y="4773168"/>
            <a:ext cx="25694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The guard re-checks the form, the quote, the share, and the 168-hour remainder. A throw writes no row.</a:t>
            </a:r>
            <a:endParaRPr lang="en-US" sz="1200" dirty="0"/>
          </a:p>
        </p:txBody>
      </p:sp>
      <p:sp>
        <p:nvSpPr>
          <p:cNvPr id="29" name="Shape 27"/>
          <p:cNvSpPr/>
          <p:nvPr/>
        </p:nvSpPr>
        <p:spPr>
          <a:xfrm>
            <a:off x="5995264" y="4754880"/>
            <a:ext cx="201168" cy="164592"/>
          </a:xfrm>
          <a:prstGeom prst="rightArrow">
            <a:avLst/>
          </a:prstGeom>
          <a:solidFill>
            <a:srgbClr val="141414"/>
          </a:solidFill>
          <a:ln/>
        </p:spPr>
      </p:sp>
      <p:sp>
        <p:nvSpPr>
          <p:cNvPr id="30" name="Shape 28"/>
          <p:cNvSpPr/>
          <p:nvPr/>
        </p:nvSpPr>
        <p:spPr>
          <a:xfrm>
            <a:off x="6223864" y="3822192"/>
            <a:ext cx="2788920" cy="2029968"/>
          </a:xfrm>
          <a:prstGeom prst="roundRect">
            <a:avLst>
              <a:gd name="adj" fmla="val 4505"/>
            </a:avLst>
          </a:prstGeom>
          <a:solidFill>
            <a:srgbClr val="8C3A22"/>
          </a:solidFill>
          <a:ln/>
        </p:spPr>
      </p:sp>
      <p:sp>
        <p:nvSpPr>
          <p:cNvPr id="31" name="Text 29"/>
          <p:cNvSpPr/>
          <p:nvPr/>
        </p:nvSpPr>
        <p:spPr>
          <a:xfrm>
            <a:off x="6333592" y="3913632"/>
            <a:ext cx="25694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6  End</a:t>
            </a:r>
            <a:endParaRPr lang="en-US" sz="1200" dirty="0"/>
          </a:p>
        </p:txBody>
      </p:sp>
      <p:sp>
        <p:nvSpPr>
          <p:cNvPr id="32" name="Text 30"/>
          <p:cNvSpPr/>
          <p:nvPr/>
        </p:nvSpPr>
        <p:spPr>
          <a:xfrm>
            <a:off x="6333592" y="4206240"/>
            <a:ext cx="25694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Quote already expired</a:t>
            </a:r>
            <a:endParaRPr lang="en-US" sz="1500" dirty="0"/>
          </a:p>
        </p:txBody>
      </p:sp>
      <p:sp>
        <p:nvSpPr>
          <p:cNvPr id="33" name="Text 31"/>
          <p:cNvSpPr/>
          <p:nvPr/>
        </p:nvSpPr>
        <p:spPr>
          <a:xfrm>
            <a:off x="6333592" y="4773168"/>
            <a:ext cx="25694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120 seconds on the quote, separate from the 120-second ask. Reason: “Quote expired” or “Tender or authorization is invalid or expired.”</a:t>
            </a:r>
            <a:endParaRPr lang="en-US" sz="1200" dirty="0"/>
          </a:p>
        </p:txBody>
      </p:sp>
      <p:sp>
        <p:nvSpPr>
          <p:cNvPr id="34" name="Text 32"/>
          <p:cNvSpPr/>
          <p:nvPr/>
        </p:nvSpPr>
        <p:spPr>
          <a:xfrm>
            <a:off x="411480" y="3456432"/>
            <a:ext cx="1280160" cy="201168"/>
          </a:xfrm>
          <a:prstGeom prst="rect">
            <a:avLst/>
          </a:prstGeom>
          <a:noFill/>
          <a:ln/>
        </p:spPr>
        <p:txBody>
          <a:bodyPr wrap="square" lIns="0" tIns="0" rIns="0" bIns="0" rtlCol="0" anchor="ctr"/>
          <a:lstStyle/>
          <a:p>
            <a:pPr indent="0" marL="0">
              <a:buNone/>
            </a:pPr>
            <a:r>
              <a:rPr lang="en-US" sz="1200" i="1" dirty="0">
                <a:solidFill>
                  <a:srgbClr val="5A584F"/>
                </a:solidFill>
                <a:latin typeface="Calibri" pitchFamily="34" charset="0"/>
                <a:ea typeface="Calibri" pitchFamily="34" charset="-122"/>
                <a:cs typeface="Calibri" pitchFamily="34" charset="-120"/>
              </a:rPr>
              <a:t>continues</a:t>
            </a:r>
            <a:endParaRPr lang="en-US" sz="1200" dirty="0"/>
          </a:p>
        </p:txBody>
      </p:sp>
      <p:sp>
        <p:nvSpPr>
          <p:cNvPr id="35" name="Text 3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EDGE</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 timeout after the charge retries the same key</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payer talks to the ledger. It does not ask the merchant, and it does not start wallet.</a:t>
            </a:r>
            <a:endParaRPr lang="en-US" sz="1300" dirty="0"/>
          </a:p>
        </p:txBody>
      </p:sp>
      <p:sp>
        <p:nvSpPr>
          <p:cNvPr id="6" name="Shape 4"/>
          <p:cNvSpPr/>
          <p:nvPr/>
        </p:nvSpPr>
        <p:spPr>
          <a:xfrm>
            <a:off x="365760" y="1353312"/>
            <a:ext cx="2673020" cy="2029968"/>
          </a:xfrm>
          <a:prstGeom prst="roundRect">
            <a:avLst>
              <a:gd name="adj" fmla="val 4505"/>
            </a:avLst>
          </a:prstGeom>
          <a:solidFill>
            <a:srgbClr val="2C2C2C"/>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1  Payer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book() already ran</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timeout_after returns an ask: “Response timed out after pay attempt; retry the same key.”</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2C2C2C"/>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Payer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The key is frozen</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Card’s key stays the original key. Wallet is not started, even if wallet is next on the list.</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C8F14F"/>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Shopper</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Retry is the same pay</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3D4A1E"/>
                </a:solidFill>
                <a:latin typeface="Calibri" pitchFamily="34" charset="0"/>
                <a:ea typeface="Calibri" pitchFamily="34" charset="-122"/>
                <a:cs typeface="Calibri" pitchFamily="34" charset="-120"/>
              </a:rPr>
              <a:t>Issue pay. A tick 120 seconds later terminates and leaves the coupon unused only if no row exists.</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2C2C2C"/>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4  Payer</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The second call reconciles</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The existing row matches user, cash, request, goal, and skus. Status becomes paid. No second cash row.</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457200" y="256032"/>
            <a:ext cx="1554480" cy="274320"/>
          </a:xfrm>
          <a:prstGeom prst="roundRect">
            <a:avLst>
              <a:gd name="adj" fmla="val 26667"/>
            </a:avLst>
          </a:prstGeom>
          <a:solidFill>
            <a:srgbClr val="C8F14F"/>
          </a:solidFill>
          <a:ln/>
        </p:spPr>
      </p:sp>
      <p:sp>
        <p:nvSpPr>
          <p:cNvPr id="3" name="Text 1"/>
          <p:cNvSpPr/>
          <p:nvPr/>
        </p:nvSpPr>
        <p:spPr>
          <a:xfrm>
            <a:off x="457200" y="256032"/>
            <a:ext cx="1554480" cy="274320"/>
          </a:xfrm>
          <a:prstGeom prst="rect">
            <a:avLst/>
          </a:prstGeom>
          <a:noFill/>
          <a:ln/>
        </p:spPr>
        <p:txBody>
          <a:bodyPr wrap="square" lIns="0" tIns="0" rIns="0" bIns="0" rtlCol="0" anchor="ctr"/>
          <a:lstStyle/>
          <a:p>
            <a:pPr algn="ctr" indent="0" marL="0">
              <a:buNone/>
            </a:pPr>
            <a:r>
              <a:rPr lang="en-US" sz="1100" b="1" dirty="0">
                <a:solidFill>
                  <a:srgbClr val="141414"/>
                </a:solidFill>
                <a:latin typeface="Calibri" pitchFamily="34" charset="0"/>
                <a:ea typeface="Calibri" pitchFamily="34" charset="-122"/>
                <a:cs typeface="Calibri" pitchFamily="34" charset="-120"/>
              </a:rPr>
              <a:t>EDGE</a:t>
            </a:r>
            <a:endParaRPr lang="en-US" sz="1100" dirty="0"/>
          </a:p>
        </p:txBody>
      </p:sp>
      <p:sp>
        <p:nvSpPr>
          <p:cNvPr id="4" name="Text 2"/>
          <p:cNvSpPr/>
          <p:nvPr/>
        </p:nvSpPr>
        <p:spPr>
          <a:xfrm>
            <a:off x="411480" y="585216"/>
            <a:ext cx="11338560" cy="347472"/>
          </a:xfrm>
          <a:prstGeom prst="rect">
            <a:avLst/>
          </a:prstGeom>
          <a:noFill/>
          <a:ln/>
        </p:spPr>
        <p:txBody>
          <a:bodyPr wrap="square" lIns="0" tIns="0" rIns="0" bIns="0" rtlCol="0" anchor="ctr"/>
          <a:lstStyle/>
          <a:p>
            <a:pPr indent="0" marL="0">
              <a:buNone/>
            </a:pPr>
            <a:r>
              <a:rPr lang="en-US" sz="2400" dirty="0">
                <a:solidFill>
                  <a:srgbClr val="141414"/>
                </a:solidFill>
                <a:latin typeface="Cambria" pitchFamily="34" charset="0"/>
                <a:ea typeface="Cambria" pitchFamily="34" charset="-122"/>
                <a:cs typeface="Cambria" pitchFamily="34" charset="-120"/>
              </a:rPr>
              <a:t>A refund does not give the week back</a:t>
            </a:r>
            <a:endParaRPr lang="en-US" sz="2400" dirty="0"/>
          </a:p>
        </p:txBody>
      </p:sp>
      <p:sp>
        <p:nvSpPr>
          <p:cNvPr id="5" name="Text 3"/>
          <p:cNvSpPr/>
          <p:nvPr/>
        </p:nvSpPr>
        <p:spPr>
          <a:xfrm>
            <a:off x="411480" y="969264"/>
            <a:ext cx="11338560" cy="256032"/>
          </a:xfrm>
          <a:prstGeom prst="rect">
            <a:avLst/>
          </a:prstGeom>
          <a:noFill/>
          <a:ln/>
        </p:spPr>
        <p:txBody>
          <a:bodyPr wrap="square" lIns="0" tIns="0" rIns="0" bIns="0" rtlCol="0" anchor="ctr"/>
          <a:lstStyle/>
          <a:p>
            <a:pPr indent="0" marL="0">
              <a:buNone/>
            </a:pPr>
            <a:r>
              <a:rPr lang="en-US" sz="1300" dirty="0">
                <a:solidFill>
                  <a:srgbClr val="5A584F"/>
                </a:solidFill>
                <a:latin typeface="Calibri" pitchFamily="34" charset="0"/>
                <a:ea typeface="Calibri" pitchFamily="34" charset="-122"/>
                <a:cs typeface="Calibri" pitchFamily="34" charset="-120"/>
              </a:rPr>
              <a:t>The user talks to the account page. The ledger talks to the next attempt’s mandate.</a:t>
            </a:r>
            <a:endParaRPr lang="en-US" sz="1300" dirty="0"/>
          </a:p>
        </p:txBody>
      </p:sp>
      <p:sp>
        <p:nvSpPr>
          <p:cNvPr id="6" name="Shape 4"/>
          <p:cNvSpPr/>
          <p:nvPr/>
        </p:nvSpPr>
        <p:spPr>
          <a:xfrm>
            <a:off x="365760" y="1353312"/>
            <a:ext cx="2673020" cy="2029968"/>
          </a:xfrm>
          <a:prstGeom prst="roundRect">
            <a:avLst>
              <a:gd name="adj" fmla="val 4505"/>
            </a:avLst>
          </a:prstGeom>
          <a:solidFill>
            <a:srgbClr val="141414"/>
          </a:solidFill>
          <a:ln/>
        </p:spPr>
      </p:sp>
      <p:sp>
        <p:nvSpPr>
          <p:cNvPr id="7" name="Text 5"/>
          <p:cNvSpPr/>
          <p:nvPr/>
        </p:nvSpPr>
        <p:spPr>
          <a:xfrm>
            <a:off x="475488"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1  User</a:t>
            </a:r>
            <a:endParaRPr lang="en-US" sz="1200" dirty="0"/>
          </a:p>
        </p:txBody>
      </p:sp>
      <p:sp>
        <p:nvSpPr>
          <p:cNvPr id="8" name="Text 6"/>
          <p:cNvSpPr/>
          <p:nvPr/>
        </p:nvSpPr>
        <p:spPr>
          <a:xfrm>
            <a:off x="475488"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Refund this receipt</a:t>
            </a:r>
            <a:endParaRPr lang="en-US" sz="1500" dirty="0"/>
          </a:p>
        </p:txBody>
      </p:sp>
      <p:sp>
        <p:nvSpPr>
          <p:cNvPr id="9" name="Text 7"/>
          <p:cNvSpPr/>
          <p:nvPr/>
        </p:nvSpPr>
        <p:spPr>
          <a:xfrm>
            <a:off x="475488"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The button sends that receipt’s key. Another user’s key is ignored.</a:t>
            </a:r>
            <a:endParaRPr lang="en-US" sz="1200" dirty="0"/>
          </a:p>
        </p:txBody>
      </p:sp>
      <p:sp>
        <p:nvSpPr>
          <p:cNvPr id="10" name="Shape 8"/>
          <p:cNvSpPr/>
          <p:nvPr/>
        </p:nvSpPr>
        <p:spPr>
          <a:xfrm>
            <a:off x="3066212" y="2286000"/>
            <a:ext cx="201168" cy="164592"/>
          </a:xfrm>
          <a:prstGeom prst="rightArrow">
            <a:avLst/>
          </a:prstGeom>
          <a:solidFill>
            <a:srgbClr val="141414"/>
          </a:solidFill>
          <a:ln/>
        </p:spPr>
      </p:sp>
      <p:sp>
        <p:nvSpPr>
          <p:cNvPr id="11" name="Shape 9"/>
          <p:cNvSpPr/>
          <p:nvPr/>
        </p:nvSpPr>
        <p:spPr>
          <a:xfrm>
            <a:off x="3294812" y="1353312"/>
            <a:ext cx="2673020" cy="2029968"/>
          </a:xfrm>
          <a:prstGeom prst="roundRect">
            <a:avLst>
              <a:gd name="adj" fmla="val 4505"/>
            </a:avLst>
          </a:prstGeom>
          <a:solidFill>
            <a:srgbClr val="2C2C2C"/>
          </a:solidFill>
          <a:ln/>
        </p:spPr>
      </p:sp>
      <p:sp>
        <p:nvSpPr>
          <p:cNvPr id="12" name="Text 10"/>
          <p:cNvSpPr/>
          <p:nvPr/>
        </p:nvSpPr>
        <p:spPr>
          <a:xfrm>
            <a:off x="3404540" y="1444752"/>
            <a:ext cx="2453564" cy="256032"/>
          </a:xfrm>
          <a:prstGeom prst="rect">
            <a:avLst/>
          </a:prstGeom>
          <a:noFill/>
          <a:ln/>
        </p:spPr>
        <p:txBody>
          <a:bodyPr wrap="square" lIns="0" tIns="0" rIns="0" bIns="0" rtlCol="0" anchor="ctr"/>
          <a:lstStyle/>
          <a:p>
            <a:pPr indent="0" marL="0">
              <a:buNone/>
            </a:pPr>
            <a:r>
              <a:rPr lang="en-US" sz="1200" b="1" dirty="0">
                <a:solidFill>
                  <a:srgbClr val="F3F1EA"/>
                </a:solidFill>
                <a:latin typeface="Calibri" pitchFamily="34" charset="0"/>
                <a:ea typeface="Calibri" pitchFamily="34" charset="-122"/>
                <a:cs typeface="Calibri" pitchFamily="34" charset="-120"/>
              </a:rPr>
              <a:t>2  Payer</a:t>
            </a:r>
            <a:endParaRPr lang="en-US" sz="1200" dirty="0"/>
          </a:p>
        </p:txBody>
      </p:sp>
      <p:sp>
        <p:nvSpPr>
          <p:cNvPr id="13" name="Text 11"/>
          <p:cNvSpPr/>
          <p:nvPr/>
        </p:nvSpPr>
        <p:spPr>
          <a:xfrm>
            <a:off x="3404540" y="1737360"/>
            <a:ext cx="2453564" cy="530352"/>
          </a:xfrm>
          <a:prstGeom prst="rect">
            <a:avLst/>
          </a:prstGeom>
          <a:noFill/>
          <a:ln/>
        </p:spPr>
        <p:txBody>
          <a:bodyPr wrap="square" lIns="0" tIns="0" rIns="0" bIns="0" rtlCol="0" anchor="ctr"/>
          <a:lstStyle/>
          <a:p>
            <a:pPr indent="0" marL="0">
              <a:buNone/>
            </a:pPr>
            <a:r>
              <a:rPr lang="en-US" sz="1500" dirty="0">
                <a:solidFill>
                  <a:srgbClr val="F3F1EA"/>
                </a:solidFill>
                <a:latin typeface="Cambria" pitchFamily="34" charset="0"/>
                <a:ea typeface="Cambria" pitchFamily="34" charset="-122"/>
                <a:cs typeface="Cambria" pitchFamily="34" charset="-120"/>
              </a:rPr>
              <a:t>Mark it refunded</a:t>
            </a:r>
            <a:endParaRPr lang="en-US" sz="1500" dirty="0"/>
          </a:p>
        </p:txBody>
      </p:sp>
      <p:sp>
        <p:nvSpPr>
          <p:cNvPr id="14" name="Text 12"/>
          <p:cNvSpPr/>
          <p:nvPr/>
        </p:nvSpPr>
        <p:spPr>
          <a:xfrm>
            <a:off x="3404540" y="2304288"/>
            <a:ext cx="2453564" cy="960120"/>
          </a:xfrm>
          <a:prstGeom prst="rect">
            <a:avLst/>
          </a:prstGeom>
          <a:noFill/>
          <a:ln/>
        </p:spPr>
        <p:txBody>
          <a:bodyPr wrap="square" lIns="0" tIns="0" rIns="0" bIns="0" rtlCol="0" anchor="ctr"/>
          <a:lstStyle/>
          <a:p>
            <a:pPr indent="0" marL="0">
              <a:buNone/>
            </a:pPr>
            <a:r>
              <a:rPr lang="en-US" sz="1200" dirty="0">
                <a:solidFill>
                  <a:srgbClr val="D9D6CC"/>
                </a:solidFill>
                <a:latin typeface="Calibri" pitchFamily="34" charset="0"/>
                <a:ea typeface="Calibri" pitchFamily="34" charset="-122"/>
                <a:cs typeface="Calibri" pitchFamily="34" charset="-120"/>
              </a:rPr>
              <a:t>refunded_at is set. cashback_cents becomes 0. The order row stays.</a:t>
            </a:r>
            <a:endParaRPr lang="en-US" sz="1200" dirty="0"/>
          </a:p>
        </p:txBody>
      </p:sp>
      <p:sp>
        <p:nvSpPr>
          <p:cNvPr id="15" name="Shape 13"/>
          <p:cNvSpPr/>
          <p:nvPr/>
        </p:nvSpPr>
        <p:spPr>
          <a:xfrm>
            <a:off x="5995264" y="2286000"/>
            <a:ext cx="201168" cy="164592"/>
          </a:xfrm>
          <a:prstGeom prst="rightArrow">
            <a:avLst/>
          </a:prstGeom>
          <a:solidFill>
            <a:srgbClr val="141414"/>
          </a:solidFill>
          <a:ln/>
        </p:spPr>
      </p:sp>
      <p:sp>
        <p:nvSpPr>
          <p:cNvPr id="16" name="Shape 14"/>
          <p:cNvSpPr/>
          <p:nvPr/>
        </p:nvSpPr>
        <p:spPr>
          <a:xfrm>
            <a:off x="6223864" y="1353312"/>
            <a:ext cx="2673020" cy="2029968"/>
          </a:xfrm>
          <a:prstGeom prst="roundRect">
            <a:avLst>
              <a:gd name="adj" fmla="val 4505"/>
            </a:avLst>
          </a:prstGeom>
          <a:solidFill>
            <a:srgbClr val="E7D48A"/>
          </a:solidFill>
          <a:ln/>
        </p:spPr>
      </p:sp>
      <p:sp>
        <p:nvSpPr>
          <p:cNvPr id="17" name="Text 15"/>
          <p:cNvSpPr/>
          <p:nvPr/>
        </p:nvSpPr>
        <p:spPr>
          <a:xfrm>
            <a:off x="6333592" y="1444752"/>
            <a:ext cx="2453564" cy="256032"/>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3  Mandate</a:t>
            </a:r>
            <a:endParaRPr lang="en-US" sz="1200" dirty="0"/>
          </a:p>
        </p:txBody>
      </p:sp>
      <p:sp>
        <p:nvSpPr>
          <p:cNvPr id="18" name="Text 16"/>
          <p:cNvSpPr/>
          <p:nvPr/>
        </p:nvSpPr>
        <p:spPr>
          <a:xfrm>
            <a:off x="6333592" y="1737360"/>
            <a:ext cx="2453564" cy="530352"/>
          </a:xfrm>
          <a:prstGeom prst="rect">
            <a:avLst/>
          </a:prstGeom>
          <a:noFill/>
          <a:ln/>
        </p:spPr>
        <p:txBody>
          <a:bodyPr wrap="square" lIns="0" tIns="0" rIns="0" bIns="0" rtlCol="0" anchor="ctr"/>
          <a:lstStyle/>
          <a:p>
            <a:pPr indent="0" marL="0">
              <a:buNone/>
            </a:pPr>
            <a:r>
              <a:rPr lang="en-US" sz="1500" dirty="0">
                <a:solidFill>
                  <a:srgbClr val="141414"/>
                </a:solidFill>
                <a:latin typeface="Cambria" pitchFamily="34" charset="0"/>
                <a:ea typeface="Cambria" pitchFamily="34" charset="-122"/>
                <a:cs typeface="Cambria" pitchFamily="34" charset="-120"/>
              </a:rPr>
              <a:t>168 hours ignore the refund</a:t>
            </a:r>
            <a:endParaRPr lang="en-US" sz="1500" dirty="0"/>
          </a:p>
        </p:txBody>
      </p:sp>
      <p:sp>
        <p:nvSpPr>
          <p:cNvPr id="19" name="Text 17"/>
          <p:cNvSpPr/>
          <p:nvPr/>
        </p:nvSpPr>
        <p:spPr>
          <a:xfrm>
            <a:off x="6333592" y="2304288"/>
            <a:ext cx="2453564" cy="960120"/>
          </a:xfrm>
          <a:prstGeom prst="rect">
            <a:avLst/>
          </a:prstGeom>
          <a:noFill/>
          <a:ln/>
        </p:spPr>
        <p:txBody>
          <a:bodyPr wrap="square" lIns="0" tIns="0" rIns="0" bIns="0" rtlCol="0" anchor="ctr"/>
          <a:lstStyle/>
          <a:p>
            <a:pPr indent="0" marL="0">
              <a:buNone/>
            </a:pPr>
            <a:r>
              <a:rPr lang="en-US" sz="1200" dirty="0">
                <a:solidFill>
                  <a:srgbClr val="5C4C18"/>
                </a:solidFill>
                <a:latin typeface="Calibri" pitchFamily="34" charset="0"/>
                <a:ea typeface="Calibri" pitchFamily="34" charset="-122"/>
                <a:cs typeface="Calibri" pitchFamily="34" charset="-120"/>
              </a:rPr>
              <a:t>spent7d sums cash_cents and does not look at refunded_at. The figure on the account page does not fall.</a:t>
            </a:r>
            <a:endParaRPr lang="en-US" sz="1200" dirty="0"/>
          </a:p>
        </p:txBody>
      </p:sp>
      <p:sp>
        <p:nvSpPr>
          <p:cNvPr id="20" name="Shape 18"/>
          <p:cNvSpPr/>
          <p:nvPr/>
        </p:nvSpPr>
        <p:spPr>
          <a:xfrm>
            <a:off x="8924315" y="2286000"/>
            <a:ext cx="201168" cy="164592"/>
          </a:xfrm>
          <a:prstGeom prst="rightArrow">
            <a:avLst/>
          </a:prstGeom>
          <a:solidFill>
            <a:srgbClr val="141414"/>
          </a:solidFill>
          <a:ln/>
        </p:spPr>
      </p:sp>
      <p:sp>
        <p:nvSpPr>
          <p:cNvPr id="21" name="Shape 19"/>
          <p:cNvSpPr/>
          <p:nvPr/>
        </p:nvSpPr>
        <p:spPr>
          <a:xfrm>
            <a:off x="9152915" y="1353312"/>
            <a:ext cx="2673020" cy="2029968"/>
          </a:xfrm>
          <a:prstGeom prst="roundRect">
            <a:avLst>
              <a:gd name="adj" fmla="val 4505"/>
            </a:avLst>
          </a:prstGeom>
          <a:solidFill>
            <a:srgbClr val="8C3A22"/>
          </a:solidFill>
          <a:ln/>
        </p:spPr>
      </p:sp>
      <p:sp>
        <p:nvSpPr>
          <p:cNvPr id="22" name="Text 20"/>
          <p:cNvSpPr/>
          <p:nvPr/>
        </p:nvSpPr>
        <p:spPr>
          <a:xfrm>
            <a:off x="9262643" y="1444752"/>
            <a:ext cx="2453564" cy="256032"/>
          </a:xfrm>
          <a:prstGeom prst="rect">
            <a:avLst/>
          </a:prstGeom>
          <a:noFill/>
          <a:ln/>
        </p:spPr>
        <p:txBody>
          <a:bodyPr wrap="square" lIns="0" tIns="0" rIns="0" bIns="0" rtlCol="0" anchor="ctr"/>
          <a:lstStyle/>
          <a:p>
            <a:pPr indent="0" marL="0">
              <a:buNone/>
            </a:pPr>
            <a:r>
              <a:rPr lang="en-US" sz="1200" b="1" dirty="0">
                <a:solidFill>
                  <a:srgbClr val="FFFCF6"/>
                </a:solidFill>
                <a:latin typeface="Calibri" pitchFamily="34" charset="0"/>
                <a:ea typeface="Calibri" pitchFamily="34" charset="-122"/>
                <a:cs typeface="Calibri" pitchFamily="34" charset="-120"/>
              </a:rPr>
              <a:t>4  End</a:t>
            </a:r>
            <a:endParaRPr lang="en-US" sz="1200" dirty="0"/>
          </a:p>
        </p:txBody>
      </p:sp>
      <p:sp>
        <p:nvSpPr>
          <p:cNvPr id="23" name="Text 21"/>
          <p:cNvSpPr/>
          <p:nvPr/>
        </p:nvSpPr>
        <p:spPr>
          <a:xfrm>
            <a:off x="9262643" y="1737360"/>
            <a:ext cx="2453564" cy="530352"/>
          </a:xfrm>
          <a:prstGeom prst="rect">
            <a:avLst/>
          </a:prstGeom>
          <a:noFill/>
          <a:ln/>
        </p:spPr>
        <p:txBody>
          <a:bodyPr wrap="square" lIns="0" tIns="0" rIns="0" bIns="0" rtlCol="0" anchor="ctr"/>
          <a:lstStyle/>
          <a:p>
            <a:pPr indent="0" marL="0">
              <a:buNone/>
            </a:pPr>
            <a:r>
              <a:rPr lang="en-US" sz="1500" dirty="0">
                <a:solidFill>
                  <a:srgbClr val="FFFCF6"/>
                </a:solidFill>
                <a:latin typeface="Cambria" pitchFamily="34" charset="0"/>
                <a:ea typeface="Cambria" pitchFamily="34" charset="-122"/>
                <a:cs typeface="Cambria" pitchFamily="34" charset="-120"/>
              </a:rPr>
              <a:t>The next buy can still stop</a:t>
            </a:r>
            <a:endParaRPr lang="en-US" sz="1500" dirty="0"/>
          </a:p>
        </p:txBody>
      </p:sp>
      <p:sp>
        <p:nvSpPr>
          <p:cNvPr id="24" name="Text 22"/>
          <p:cNvSpPr/>
          <p:nvPr/>
        </p:nvSpPr>
        <p:spPr>
          <a:xfrm>
            <a:off x="9262643" y="2304288"/>
            <a:ext cx="2453564" cy="960120"/>
          </a:xfrm>
          <a:prstGeom prst="rect">
            <a:avLst/>
          </a:prstGeom>
          <a:noFill/>
          <a:ln/>
        </p:spPr>
        <p:txBody>
          <a:bodyPr wrap="square" lIns="0" tIns="0" rIns="0" bIns="0" rtlCol="0" anchor="ctr"/>
          <a:lstStyle/>
          <a:p>
            <a:pPr indent="0" marL="0">
              <a:buNone/>
            </a:pPr>
            <a:r>
              <a:rPr lang="en-US" sz="1200" dirty="0">
                <a:solidFill>
                  <a:srgbClr val="F6D5CB"/>
                </a:solidFill>
                <a:latin typeface="Calibri" pitchFamily="34" charset="0"/>
                <a:ea typeface="Calibri" pitchFamily="34" charset="-122"/>
                <a:cs typeface="Calibri" pitchFamily="34" charset="-120"/>
              </a:rPr>
              <a:t>A later attempt that needed that cash terminates. This is the refund_no_restore replay.</a:t>
            </a:r>
            <a:endParaRPr lang="en-US" sz="1200" dirty="0"/>
          </a:p>
        </p:txBody>
      </p:sp>
      <p:sp>
        <p:nvSpPr>
          <p:cNvPr id="25" name="Text 23"/>
          <p:cNvSpPr/>
          <p:nvPr/>
        </p:nvSpPr>
        <p:spPr>
          <a:xfrm>
            <a:off x="457200" y="6528816"/>
            <a:ext cx="9144000" cy="201168"/>
          </a:xfrm>
          <a:prstGeom prst="rect">
            <a:avLst/>
          </a:prstGeom>
          <a:noFill/>
          <a:ln/>
        </p:spPr>
        <p:txBody>
          <a:bodyPr wrap="square" lIns="0" tIns="0" rIns="0" bIns="0" rtlCol="0" anchor="ctr"/>
          <a:lstStyle/>
          <a:p>
            <a:pPr indent="0" marL="0">
              <a:buNone/>
            </a:pPr>
            <a:r>
              <a:rPr lang="en-US" sz="1100" dirty="0">
                <a:solidFill>
                  <a:srgbClr val="5A584F"/>
                </a:solidFill>
                <a:latin typeface="Calibri" pitchFamily="34" charset="0"/>
                <a:ea typeface="Calibri" pitchFamily="34" charset="-122"/>
                <a:cs typeface="Calibri" pitchFamily="34" charset="-120"/>
              </a:rPr>
              <a:t>Scout  ·  tasks/agent-roles.md  ·  3 Oct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Scout — roles, cases, and design</dc:title>
  <dc:subject>Hackathon contract for five commerce roles</dc:subject>
  <dc:creator>Scout</dc:creator>
  <cp:lastModifiedBy>Scout</cp:lastModifiedBy>
  <cp:revision>1</cp:revision>
  <dcterms:created xsi:type="dcterms:W3CDTF">2026-10-03T08:50:41Z</dcterms:created>
  <dcterms:modified xsi:type="dcterms:W3CDTF">2026-10-03T08:50:41Z</dcterms:modified>
</cp:coreProperties>
</file>