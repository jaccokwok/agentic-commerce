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the shopper asks, the other roles answer, and only the payer books. Tell the room the deck follows the use cases, with the decision notes as the reason each choice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60 is the demo balloon, not the big worked example. The big example, 350 cash and 300 score cost, comes later with the formulas. Caps are the unset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sentence is the decision note in one line. Spend time here. Judges should leave knowing the shopper is the only chooser.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Shopper examples are from the decision notes: weights, product, card. Mandate’s 250 and 400 are the default form. The payer does not pick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diagram, read left to right, then the second row. Brand, colour, and category are gates before any score. A row that fails one of them never receives a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are the decision file’s examples, not new stories. The card numbers return as a full scene later. The one-cent proof is 0.25 times 0.01 over 1,000, which is 0.0000025, above the tie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Promise the room that each gate is drawn, then read exit by exit. Do not rush the pay gate: the decline paths are where overspend would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top row first: four ways to never search. Then the filter row. Then the three score exits. The tie line is one ten-billionth. A tie includes two sellers.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Seller is merchant_id. Website is platform_id. One order keeps one seller. Top three means that seller’s three best rows, not three websites.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difference judges should hear: a counter that fails the cash gate tries the next row. An accept that fails the cash gate ends the attempt. The coupon stays unused until the new cash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13, 14, and 15. Say the punchline out loud: a bad counter is a skip, a bad accept is a stop, an instruction is a veto.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 is not a second cashier. It runs the same three asks: form, slips, charge. A tie never takes the auto path. A charge sent before credentials_ok is refused and the payer is not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Checkout copies one idea from Stripe’s Agentic Commerce Protocol: pay by a stored reference. This release does not call Stripe and does not mint a shared payment token. The login cookie is not part of the pay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tone. These are scenes. Read the result line of each beat, not every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ask who was not called: HKTV and Pinduoduo stay silent because they do not own the winning row. Clicking an offer in manual mode selects it. Confirm is a separate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25 is the forbidden shortcut: a 40 card discount declined before charge must not book 260 on the wallet. The next scene shows the named-card version of that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 card, flow 25, is the same rule with one name: HKTV at 260 on card, Taobao at 270. A decline asks for wallet at 300. Nothing is booked at 260. Wallet-only, flow 26, never sees the card rule, so Taobao at 270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is the point of this slide: a poisoned listing continues; a poisoned user sentence, shown earlier, stops the whole request before search. A refund reverses cashback and leaves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line in the air: two numbers, two jobs. Everything after this slide is a definition of one or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check on a quote: cash must equal merchandise minus card discount plus shipping. If it does not, the quote is invalid. A published discount larger than the merchandise does not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the gift is this release’s own rule, from the worked example in the prompt. It is not a fitted rate. Highest cash and highest purchase count are at least 1, so one row does not divide by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Balanced shares: 0.35, 0.25, 0.15, 0.10, 0.15. Lowest cash: 0.20, 0.60, 0.10, 0.05, 0.05. A remaining sku tie after the scores is broken by sku id. The reward part is the sixth. The five shares are the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Qualifying merchandise is merchandise after the shelf coupon, before the card discount, shipping excluded. That is the minimum a card rule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definitions are done. The next slides are the justification from the decision notes, including why the roles are split and why each share has that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Belton and Stewart: constraints versus criteria. Stars, cash, purchases, and history are criteria. The money limits are constraints. Say that the model is refused if it names the payer, a charge, or a retry.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explicit override that does not add to 1, such as cash 0.50 with the others left alone, is used as written. Rescaling would change numbers the person did not edit. A negative or missing share stops the attempt before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Relevance sits on both bars and does not decide. Row A cash part is 0.25 times 40 over 300. Read the two score pairs, then say the chart is the balanced vector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flip is 1 minus this cash over highest cash, the linear cost scale when the floor is treated as 0. Do not claim the shares were learned. They are a prior for snacks and balloons.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unset form means manual confirm, one merchant, rewards on, and no expiry. The person still confirms a form that language filled in. They do not type the vault id or the address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language may fill the form. The person still checks it. A proposal that contradicts the form opens a clarification. Refusal or timeout ends the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26 is the negative: wallet only, so HKTV’s card rule is invisible and Taobao at 270 wins over HKTV at 300. The generic card flow is 25: decline asks for wallet at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stay quiet because the test runner sets VITEST. The app and the demo print. A write failure is reported and does not abort the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say the model cannot invent a charge. If its proposed next message names the payer, charge, or retry, the proposal is refused and the tool’s message is sent. Overspend on the replay set is 0: cash broke a mandate, reward reduced cash, or shipping was omitted. A real card discount that lowers cash is not an overspend.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If there is one question, take the card decline: why 260 is not booked on Citi. Answer from flow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C2E"/>
        </a:solidFill>
      </p:bgPr>
    </p:bg>
    <p:spTree>
      <p:nvGrpSpPr>
        <p:cNvPr id="1" name=""/>
        <p:cNvGrpSpPr/>
        <p:nvPr/>
      </p:nvGrpSpPr>
      <p:grpSpPr>
        <a:xfrm>
          <a:off x="0" y="0"/>
          <a:ext cx="0" cy="0"/>
          <a:chOff x="0" y="0"/>
          <a:chExt cx="0" cy="0"/>
        </a:xfrm>
      </p:grpSpPr>
      <p:sp>
        <p:nvSpPr>
          <p:cNvPr id="2" name="Text 0"/>
          <p:cNvSpPr/>
          <p:nvPr/>
        </p:nvSpPr>
        <p:spPr>
          <a:xfrm>
            <a:off x="640080" y="1234440"/>
            <a:ext cx="5486400" cy="256032"/>
          </a:xfrm>
          <a:prstGeom prst="rect">
            <a:avLst/>
          </a:prstGeom>
          <a:noFill/>
          <a:ln/>
        </p:spPr>
        <p:txBody>
          <a:bodyPr wrap="square" lIns="0" tIns="0" rIns="0" bIns="0" rtlCol="0" anchor="t"/>
          <a:lstStyle/>
          <a:p>
            <a:pPr algn="l" indent="0" marL="0">
              <a:buNone/>
            </a:pPr>
            <a:r>
              <a:rPr lang="en-US" sz="1300" b="1" dirty="0">
                <a:solidFill>
                  <a:srgbClr val="A67C2D"/>
                </a:solidFill>
                <a:latin typeface="Calibri" pitchFamily="34" charset="0"/>
                <a:ea typeface="Calibri" pitchFamily="34" charset="-122"/>
                <a:cs typeface="Calibri" pitchFamily="34" charset="-120"/>
              </a:rPr>
              <a:t>HACKATHON</a:t>
            </a:r>
            <a:endParaRPr lang="en-US" sz="1300" dirty="0"/>
          </a:p>
        </p:txBody>
      </p:sp>
      <p:sp>
        <p:nvSpPr>
          <p:cNvPr id="3" name="Text 1"/>
          <p:cNvSpPr/>
          <p:nvPr/>
        </p:nvSpPr>
        <p:spPr>
          <a:xfrm>
            <a:off x="640080" y="1554480"/>
            <a:ext cx="7315200" cy="822960"/>
          </a:xfrm>
          <a:prstGeom prst="rect">
            <a:avLst/>
          </a:prstGeom>
          <a:noFill/>
          <a:ln/>
        </p:spPr>
        <p:txBody>
          <a:bodyPr wrap="square" lIns="0" tIns="0" rIns="0" bIns="0" rtlCol="0" anchor="t"/>
          <a:lstStyle/>
          <a:p>
            <a:pPr algn="l" indent="0" marL="0">
              <a:buNone/>
            </a:pPr>
            <a:r>
              <a:rPr lang="en-US" sz="7200" b="1" dirty="0">
                <a:solidFill>
                  <a:srgbClr val="FFFFFF"/>
                </a:solidFill>
                <a:latin typeface="Cambria" pitchFamily="34" charset="0"/>
                <a:ea typeface="Cambria" pitchFamily="34" charset="-122"/>
                <a:cs typeface="Cambria" pitchFamily="34" charset="-120"/>
              </a:rPr>
              <a:t>Scout</a:t>
            </a:r>
            <a:endParaRPr lang="en-US" sz="7200" dirty="0"/>
          </a:p>
        </p:txBody>
      </p:sp>
      <p:sp>
        <p:nvSpPr>
          <p:cNvPr id="4" name="Text 2"/>
          <p:cNvSpPr/>
          <p:nvPr/>
        </p:nvSpPr>
        <p:spPr>
          <a:xfrm>
            <a:off x="640080" y="2560320"/>
            <a:ext cx="7498080" cy="1005840"/>
          </a:xfrm>
          <a:prstGeom prst="rect">
            <a:avLst/>
          </a:prstGeom>
          <a:noFill/>
          <a:ln/>
        </p:spPr>
        <p:txBody>
          <a:bodyPr wrap="square" lIns="0" tIns="0" rIns="0" bIns="0" rtlCol="0" anchor="t"/>
          <a:lstStyle/>
          <a:p>
            <a:pPr algn="l" indent="0" marL="0">
              <a:buNone/>
            </a:pPr>
            <a:r>
              <a:rPr lang="en-US" sz="2400" dirty="0">
                <a:solidFill>
                  <a:srgbClr val="E6EDF4"/>
                </a:solidFill>
                <a:latin typeface="Cambria" pitchFamily="34" charset="0"/>
                <a:ea typeface="Cambria" pitchFamily="34" charset="-122"/>
                <a:cs typeface="Cambria" pitchFamily="34" charset="-120"/>
              </a:rPr>
              <a:t>A purchase is a series of asks.</a:t>
            </a:r>
            <a:endParaRPr lang="en-US" sz="2400" dirty="0"/>
          </a:p>
          <a:p>
            <a:pPr algn="l" indent="0" marL="0">
              <a:buNone/>
            </a:pPr>
            <a:r>
              <a:rPr lang="en-US" sz="2400" dirty="0">
                <a:solidFill>
                  <a:srgbClr val="E6EDF4"/>
                </a:solidFill>
                <a:latin typeface="Cambria" pitchFamily="34" charset="0"/>
                <a:ea typeface="Cambria" pitchFamily="34" charset="-122"/>
                <a:cs typeface="Cambria" pitchFamily="34" charset="-120"/>
              </a:rPr>
              <a:t>Only one role is allowed to book the money.</a:t>
            </a:r>
            <a:endParaRPr lang="en-US" sz="2400" dirty="0"/>
          </a:p>
        </p:txBody>
      </p:sp>
      <p:sp>
        <p:nvSpPr>
          <p:cNvPr id="5" name="Shape 3"/>
          <p:cNvSpPr/>
          <p:nvPr/>
        </p:nvSpPr>
        <p:spPr>
          <a:xfrm>
            <a:off x="7955280" y="1554480"/>
            <a:ext cx="3566160" cy="3383280"/>
          </a:xfrm>
          <a:prstGeom prst="roundRect">
            <a:avLst>
              <a:gd name="adj" fmla="val 2162"/>
            </a:avLst>
          </a:prstGeom>
          <a:solidFill>
            <a:srgbClr val="1A3048"/>
          </a:solidFill>
          <a:ln/>
          <a:effectLst>
            <a:outerShdw sx="100000" sy="100000" kx="0" ky="0" algn="bl" rotWithShape="0" blurRad="152400" dist="38100" dir="5400000">
              <a:srgbClr val="0F1C2E">
                <a:alpha val="10000"/>
              </a:srgbClr>
            </a:outerShdw>
          </a:effectLst>
        </p:spPr>
      </p:sp>
      <p:sp>
        <p:nvSpPr>
          <p:cNvPr id="6" name="Text 4"/>
          <p:cNvSpPr/>
          <p:nvPr/>
        </p:nvSpPr>
        <p:spPr>
          <a:xfrm>
            <a:off x="8183880" y="1783080"/>
            <a:ext cx="3108960" cy="384048"/>
          </a:xfrm>
          <a:prstGeom prst="rect">
            <a:avLst/>
          </a:prstGeom>
          <a:noFill/>
          <a:ln/>
        </p:spPr>
        <p:txBody>
          <a:bodyPr wrap="square" lIns="0" tIns="0" rIns="0" bIns="0" rtlCol="0" anchor="t"/>
          <a:lstStyle/>
          <a:p>
            <a:pPr algn="l" indent="0" marL="0">
              <a:buNone/>
            </a:pPr>
            <a:r>
              <a:rPr lang="en-US" sz="2600" b="1" dirty="0">
                <a:solidFill>
                  <a:srgbClr val="F3D48A"/>
                </a:solidFill>
                <a:latin typeface="Cambria" pitchFamily="34" charset="0"/>
                <a:ea typeface="Cambria" pitchFamily="34" charset="-122"/>
                <a:cs typeface="Cambria" pitchFamily="34" charset="-120"/>
              </a:rPr>
              <a:t>5</a:t>
            </a:r>
            <a:endParaRPr lang="en-US" sz="2600" dirty="0"/>
          </a:p>
        </p:txBody>
      </p:sp>
      <p:sp>
        <p:nvSpPr>
          <p:cNvPr id="7" name="Text 5"/>
          <p:cNvSpPr/>
          <p:nvPr/>
        </p:nvSpPr>
        <p:spPr>
          <a:xfrm>
            <a:off x="8183880" y="2148840"/>
            <a:ext cx="3108960" cy="274320"/>
          </a:xfrm>
          <a:prstGeom prst="rect">
            <a:avLst/>
          </a:prstGeom>
          <a:noFill/>
          <a:ln/>
        </p:spPr>
        <p:txBody>
          <a:bodyPr wrap="square" lIns="0" tIns="0" rIns="0" bIns="0" rtlCol="0" anchor="t"/>
          <a:lstStyle/>
          <a:p>
            <a:pPr algn="l" indent="0" marL="0">
              <a:buNone/>
            </a:pPr>
            <a:r>
              <a:rPr lang="en-US" sz="1400" dirty="0">
                <a:solidFill>
                  <a:srgbClr val="D5E0EA"/>
                </a:solidFill>
                <a:latin typeface="Calibri" pitchFamily="34" charset="0"/>
                <a:ea typeface="Calibri" pitchFamily="34" charset="-122"/>
                <a:cs typeface="Calibri" pitchFamily="34" charset="-120"/>
              </a:rPr>
              <a:t>roles, one cashier</a:t>
            </a:r>
            <a:endParaRPr lang="en-US" sz="1400" dirty="0"/>
          </a:p>
        </p:txBody>
      </p:sp>
      <p:sp>
        <p:nvSpPr>
          <p:cNvPr id="8" name="Text 6"/>
          <p:cNvSpPr/>
          <p:nvPr/>
        </p:nvSpPr>
        <p:spPr>
          <a:xfrm>
            <a:off x="8183880" y="2788920"/>
            <a:ext cx="3108960" cy="384048"/>
          </a:xfrm>
          <a:prstGeom prst="rect">
            <a:avLst/>
          </a:prstGeom>
          <a:noFill/>
          <a:ln/>
        </p:spPr>
        <p:txBody>
          <a:bodyPr wrap="square" lIns="0" tIns="0" rIns="0" bIns="0" rtlCol="0" anchor="t"/>
          <a:lstStyle/>
          <a:p>
            <a:pPr algn="l" indent="0" marL="0">
              <a:buNone/>
            </a:pPr>
            <a:r>
              <a:rPr lang="en-US" sz="2600" b="1" dirty="0">
                <a:solidFill>
                  <a:srgbClr val="F3D48A"/>
                </a:solidFill>
                <a:latin typeface="Cambria" pitchFamily="34" charset="0"/>
                <a:ea typeface="Cambria" pitchFamily="34" charset="-122"/>
                <a:cs typeface="Cambria" pitchFamily="34" charset="-120"/>
              </a:rPr>
              <a:t>3</a:t>
            </a:r>
            <a:endParaRPr lang="en-US" sz="2600" dirty="0"/>
          </a:p>
        </p:txBody>
      </p:sp>
      <p:sp>
        <p:nvSpPr>
          <p:cNvPr id="9" name="Text 7"/>
          <p:cNvSpPr/>
          <p:nvPr/>
        </p:nvSpPr>
        <p:spPr>
          <a:xfrm>
            <a:off x="8183880" y="3154680"/>
            <a:ext cx="3108960" cy="274320"/>
          </a:xfrm>
          <a:prstGeom prst="rect">
            <a:avLst/>
          </a:prstGeom>
          <a:noFill/>
          <a:ln/>
        </p:spPr>
        <p:txBody>
          <a:bodyPr wrap="square" lIns="0" tIns="0" rIns="0" bIns="0" rtlCol="0" anchor="t"/>
          <a:lstStyle/>
          <a:p>
            <a:pPr algn="l" indent="0" marL="0">
              <a:buNone/>
            </a:pPr>
            <a:r>
              <a:rPr lang="en-US" sz="1400" dirty="0">
                <a:solidFill>
                  <a:srgbClr val="D5E0EA"/>
                </a:solidFill>
                <a:latin typeface="Calibri" pitchFamily="34" charset="0"/>
                <a:ea typeface="Calibri" pitchFamily="34" charset="-122"/>
                <a:cs typeface="Calibri" pitchFamily="34" charset="-120"/>
              </a:rPr>
              <a:t>gates before money moves</a:t>
            </a:r>
            <a:endParaRPr lang="en-US" sz="1400" dirty="0"/>
          </a:p>
        </p:txBody>
      </p:sp>
      <p:sp>
        <p:nvSpPr>
          <p:cNvPr id="10" name="Text 8"/>
          <p:cNvSpPr/>
          <p:nvPr/>
        </p:nvSpPr>
        <p:spPr>
          <a:xfrm>
            <a:off x="8183880" y="3794760"/>
            <a:ext cx="3108960" cy="384048"/>
          </a:xfrm>
          <a:prstGeom prst="rect">
            <a:avLst/>
          </a:prstGeom>
          <a:noFill/>
          <a:ln/>
        </p:spPr>
        <p:txBody>
          <a:bodyPr wrap="square" lIns="0" tIns="0" rIns="0" bIns="0" rtlCol="0" anchor="t"/>
          <a:lstStyle/>
          <a:p>
            <a:pPr algn="l" indent="0" marL="0">
              <a:buNone/>
            </a:pPr>
            <a:r>
              <a:rPr lang="en-US" sz="2600" b="1" dirty="0">
                <a:solidFill>
                  <a:srgbClr val="F3D48A"/>
                </a:solidFill>
                <a:latin typeface="Cambria" pitchFamily="34" charset="0"/>
                <a:ea typeface="Cambria" pitchFamily="34" charset="-122"/>
                <a:cs typeface="Cambria" pitchFamily="34" charset="-120"/>
              </a:rPr>
              <a:t>HKD</a:t>
            </a:r>
            <a:endParaRPr lang="en-US" sz="2600" dirty="0"/>
          </a:p>
        </p:txBody>
      </p:sp>
      <p:sp>
        <p:nvSpPr>
          <p:cNvPr id="11" name="Text 9"/>
          <p:cNvSpPr/>
          <p:nvPr/>
        </p:nvSpPr>
        <p:spPr>
          <a:xfrm>
            <a:off x="8183880" y="4160520"/>
            <a:ext cx="3108960" cy="274320"/>
          </a:xfrm>
          <a:prstGeom prst="rect">
            <a:avLst/>
          </a:prstGeom>
          <a:noFill/>
          <a:ln/>
        </p:spPr>
        <p:txBody>
          <a:bodyPr wrap="square" lIns="0" tIns="0" rIns="0" bIns="0" rtlCol="0" anchor="t"/>
          <a:lstStyle/>
          <a:p>
            <a:pPr algn="l" indent="0" marL="0">
              <a:buNone/>
            </a:pPr>
            <a:r>
              <a:rPr lang="en-US" sz="1400" dirty="0">
                <a:solidFill>
                  <a:srgbClr val="D5E0EA"/>
                </a:solidFill>
                <a:latin typeface="Calibri" pitchFamily="34" charset="0"/>
                <a:ea typeface="Calibri" pitchFamily="34" charset="-122"/>
                <a:cs typeface="Calibri" pitchFamily="34" charset="-120"/>
              </a:rPr>
              <a:t>every quote, every booking</a:t>
            </a:r>
            <a:endParaRPr lang="en-US" sz="1400" dirty="0"/>
          </a:p>
        </p:txBody>
      </p:sp>
      <p:sp>
        <p:nvSpPr>
          <p:cNvPr id="12" name="Text 10"/>
          <p:cNvSpPr/>
          <p:nvPr/>
        </p:nvSpPr>
        <p:spPr>
          <a:xfrm>
            <a:off x="640080" y="5212080"/>
            <a:ext cx="10789920" cy="548640"/>
          </a:xfrm>
          <a:prstGeom prst="rect">
            <a:avLst/>
          </a:prstGeom>
          <a:noFill/>
          <a:ln/>
        </p:spPr>
        <p:txBody>
          <a:bodyPr wrap="square" lIns="0" tIns="0" rIns="0" bIns="0" rtlCol="0" anchor="t"/>
          <a:lstStyle/>
          <a:p>
            <a:pPr algn="l" indent="0" marL="0">
              <a:buNone/>
            </a:pPr>
            <a:r>
              <a:rPr lang="en-US" sz="1600" dirty="0">
                <a:solidFill>
                  <a:srgbClr val="C5D2DF"/>
                </a:solidFill>
                <a:latin typeface="Calibri" pitchFamily="34" charset="0"/>
                <a:ea typeface="Calibri" pitchFamily="34" charset="-122"/>
                <a:cs typeface="Calibri" pitchFamily="34" charset="-120"/>
              </a:rPr>
              <a:t>Roles, then the three gates, then a few full purchases, then every number and why it is that number.</a:t>
            </a:r>
            <a:endParaRPr lang="en-US" sz="1600" dirty="0"/>
          </a:p>
        </p:txBody>
      </p:sp>
      <p:sp>
        <p:nvSpPr>
          <p:cNvPr id="14" name="Text 11"/>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8EA0B3"/>
                </a:solidFill>
                <a:latin typeface="Calibri" pitchFamily="34" charset="0"/>
                <a:ea typeface="Calibri" pitchFamily="34" charset="-122"/>
                <a:cs typeface="Calibri" pitchFamily="34" charset="-120"/>
              </a:rPr>
              <a:t>Scout</a:t>
            </a:r>
            <a:endParaRPr lang="en-US" sz="1200" dirty="0"/>
          </a:p>
        </p:txBody>
      </p:sp>
      <p:sp>
        <p:nvSpPr>
          <p:cNvPr id="15" name="Text 12"/>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8EA0B3"/>
                </a:solidFill>
                <a:latin typeface="Calibri" pitchFamily="34" charset="0"/>
                <a:ea typeface="Calibri" pitchFamily="34" charset="-122"/>
                <a:cs typeface="Calibri"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THE SHOP</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One sentence in. One booking out.</a:t>
            </a:r>
            <a:endParaRPr lang="en-US" sz="3200" dirty="0"/>
          </a:p>
        </p:txBody>
      </p:sp>
      <p:sp>
        <p:nvSpPr>
          <p:cNvPr id="4" name="Text 2"/>
          <p:cNvSpPr/>
          <p:nvPr/>
        </p:nvSpPr>
        <p:spPr>
          <a:xfrm>
            <a:off x="502920" y="1097280"/>
            <a:ext cx="6675120" cy="1234440"/>
          </a:xfrm>
          <a:prstGeom prst="rect">
            <a:avLst/>
          </a:prstGeom>
          <a:noFill/>
          <a:ln/>
        </p:spPr>
        <p:txBody>
          <a:bodyPr wrap="square" lIns="0" tIns="0" rIns="0" bIns="0" rtlCol="0" anchor="t"/>
          <a:lstStyle/>
          <a:p>
            <a:pPr algn="l" indent="0" marL="0">
              <a:buNone/>
            </a:pPr>
            <a:r>
              <a:rPr lang="en-US" sz="1600" dirty="0">
                <a:solidFill>
                  <a:srgbClr val="14202C"/>
                </a:solidFill>
                <a:latin typeface="Calibri" pitchFamily="34" charset="0"/>
                <a:ea typeface="Calibri" pitchFamily="34" charset="-122"/>
                <a:cs typeface="Calibri" pitchFamily="34" charset="-120"/>
              </a:rPr>
              <a:t>The person names a goal and has already signed a spending form. Scout ranks only the rows that survive the auditor and the form, asks one website, and charges the tender and the cash already stored on the quote.</a:t>
            </a:r>
            <a:endParaRPr lang="en-US" sz="1600" dirty="0"/>
          </a:p>
        </p:txBody>
      </p:sp>
      <p:sp>
        <p:nvSpPr>
          <p:cNvPr id="5" name="Shape 3"/>
          <p:cNvSpPr/>
          <p:nvPr/>
        </p:nvSpPr>
        <p:spPr>
          <a:xfrm>
            <a:off x="502920" y="2468880"/>
            <a:ext cx="6675120" cy="621792"/>
          </a:xfrm>
          <a:prstGeom prst="roundRect">
            <a:avLst>
              <a:gd name="adj" fmla="val 11765"/>
            </a:avLst>
          </a:prstGeom>
          <a:solidFill>
            <a:srgbClr val="EEF2F5"/>
          </a:solidFill>
          <a:ln/>
          <a:effectLst>
            <a:outerShdw sx="100000" sy="100000" kx="0" ky="0" algn="bl" rotWithShape="0" blurRad="152400" dist="38100" dir="5400000">
              <a:srgbClr val="0F1C2E">
                <a:alpha val="10000"/>
              </a:srgbClr>
            </a:outerShdw>
          </a:effectLst>
        </p:spPr>
      </p:sp>
      <p:sp>
        <p:nvSpPr>
          <p:cNvPr id="6" name="Text 4"/>
          <p:cNvSpPr/>
          <p:nvPr/>
        </p:nvSpPr>
        <p:spPr>
          <a:xfrm>
            <a:off x="685800" y="2615184"/>
            <a:ext cx="1554480" cy="329184"/>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Shopper</a:t>
            </a:r>
            <a:endParaRPr lang="en-US" sz="1500" dirty="0"/>
          </a:p>
        </p:txBody>
      </p:sp>
      <p:sp>
        <p:nvSpPr>
          <p:cNvPr id="7" name="Text 5"/>
          <p:cNvSpPr/>
          <p:nvPr/>
        </p:nvSpPr>
        <p:spPr>
          <a:xfrm>
            <a:off x="2286000" y="2615184"/>
            <a:ext cx="4663440" cy="329184"/>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Chooses the row and the card.</a:t>
            </a:r>
            <a:endParaRPr lang="en-US" sz="1500" dirty="0"/>
          </a:p>
        </p:txBody>
      </p:sp>
      <p:sp>
        <p:nvSpPr>
          <p:cNvPr id="8" name="Shape 6"/>
          <p:cNvSpPr/>
          <p:nvPr/>
        </p:nvSpPr>
        <p:spPr>
          <a:xfrm>
            <a:off x="502920" y="3182112"/>
            <a:ext cx="6675120" cy="621792"/>
          </a:xfrm>
          <a:prstGeom prst="roundRect">
            <a:avLst>
              <a:gd name="adj" fmla="val 11765"/>
            </a:avLst>
          </a:prstGeom>
          <a:solidFill>
            <a:srgbClr val="EEF2F5"/>
          </a:solidFill>
          <a:ln/>
          <a:effectLst>
            <a:outerShdw sx="100000" sy="100000" kx="0" ky="0" algn="bl" rotWithShape="0" blurRad="152400" dist="38100" dir="5400000">
              <a:srgbClr val="0F1C2E">
                <a:alpha val="10000"/>
              </a:srgbClr>
            </a:outerShdw>
          </a:effectLst>
        </p:spPr>
      </p:sp>
      <p:sp>
        <p:nvSpPr>
          <p:cNvPr id="9" name="Text 7"/>
          <p:cNvSpPr/>
          <p:nvPr/>
        </p:nvSpPr>
        <p:spPr>
          <a:xfrm>
            <a:off x="685800" y="3328416"/>
            <a:ext cx="1554480" cy="329184"/>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Mandate</a:t>
            </a:r>
            <a:endParaRPr lang="en-US" sz="1500" dirty="0"/>
          </a:p>
        </p:txBody>
      </p:sp>
      <p:sp>
        <p:nvSpPr>
          <p:cNvPr id="10" name="Text 8"/>
          <p:cNvSpPr/>
          <p:nvPr/>
        </p:nvSpPr>
        <p:spPr>
          <a:xfrm>
            <a:off x="2286000" y="3328416"/>
            <a:ext cx="4663440" cy="329184"/>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Allows or stops. A sentence cannot raise it.</a:t>
            </a:r>
            <a:endParaRPr lang="en-US" sz="1500" dirty="0"/>
          </a:p>
        </p:txBody>
      </p:sp>
      <p:sp>
        <p:nvSpPr>
          <p:cNvPr id="11" name="Shape 9"/>
          <p:cNvSpPr/>
          <p:nvPr/>
        </p:nvSpPr>
        <p:spPr>
          <a:xfrm>
            <a:off x="502920" y="3895344"/>
            <a:ext cx="6675120" cy="621792"/>
          </a:xfrm>
          <a:prstGeom prst="roundRect">
            <a:avLst>
              <a:gd name="adj" fmla="val 11765"/>
            </a:avLst>
          </a:prstGeom>
          <a:solidFill>
            <a:srgbClr val="EEF2F5"/>
          </a:solidFill>
          <a:ln/>
          <a:effectLst>
            <a:outerShdw sx="100000" sy="100000" kx="0" ky="0" algn="bl" rotWithShape="0" blurRad="152400" dist="38100" dir="5400000">
              <a:srgbClr val="0F1C2E">
                <a:alpha val="10000"/>
              </a:srgbClr>
            </a:outerShdw>
          </a:effectLst>
        </p:spPr>
      </p:sp>
      <p:sp>
        <p:nvSpPr>
          <p:cNvPr id="12" name="Text 10"/>
          <p:cNvSpPr/>
          <p:nvPr/>
        </p:nvSpPr>
        <p:spPr>
          <a:xfrm>
            <a:off x="685800" y="4041648"/>
            <a:ext cx="1554480" cy="329184"/>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Merchant</a:t>
            </a:r>
            <a:endParaRPr lang="en-US" sz="1500" dirty="0"/>
          </a:p>
        </p:txBody>
      </p:sp>
      <p:sp>
        <p:nvSpPr>
          <p:cNvPr id="13" name="Text 11"/>
          <p:cNvSpPr/>
          <p:nvPr/>
        </p:nvSpPr>
        <p:spPr>
          <a:xfrm>
            <a:off x="2286000" y="4041648"/>
            <a:ext cx="4663440" cy="329184"/>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Accepts, rejects, or counters once.</a:t>
            </a:r>
            <a:endParaRPr lang="en-US" sz="1500" dirty="0"/>
          </a:p>
        </p:txBody>
      </p:sp>
      <p:sp>
        <p:nvSpPr>
          <p:cNvPr id="14" name="Shape 12"/>
          <p:cNvSpPr/>
          <p:nvPr/>
        </p:nvSpPr>
        <p:spPr>
          <a:xfrm>
            <a:off x="502920" y="4608576"/>
            <a:ext cx="6675120" cy="621792"/>
          </a:xfrm>
          <a:prstGeom prst="roundRect">
            <a:avLst>
              <a:gd name="adj" fmla="val 11765"/>
            </a:avLst>
          </a:prstGeom>
          <a:solidFill>
            <a:srgbClr val="EEF2F5"/>
          </a:solidFill>
          <a:ln/>
          <a:effectLst>
            <a:outerShdw sx="100000" sy="100000" kx="0" ky="0" algn="bl" rotWithShape="0" blurRad="152400" dist="38100" dir="5400000">
              <a:srgbClr val="0F1C2E">
                <a:alpha val="10000"/>
              </a:srgbClr>
            </a:outerShdw>
          </a:effectLst>
        </p:spPr>
      </p:sp>
      <p:sp>
        <p:nvSpPr>
          <p:cNvPr id="15" name="Text 13"/>
          <p:cNvSpPr/>
          <p:nvPr/>
        </p:nvSpPr>
        <p:spPr>
          <a:xfrm>
            <a:off x="685800" y="4754880"/>
            <a:ext cx="1554480" cy="329184"/>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Auditor</a:t>
            </a:r>
            <a:endParaRPr lang="en-US" sz="1500" dirty="0"/>
          </a:p>
        </p:txBody>
      </p:sp>
      <p:sp>
        <p:nvSpPr>
          <p:cNvPr id="16" name="Text 14"/>
          <p:cNvSpPr/>
          <p:nvPr/>
        </p:nvSpPr>
        <p:spPr>
          <a:xfrm>
            <a:off x="2286000" y="4754880"/>
            <a:ext cx="4663440" cy="329184"/>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Drops a bad listing. Checks both slips.</a:t>
            </a:r>
            <a:endParaRPr lang="en-US" sz="1500" dirty="0"/>
          </a:p>
        </p:txBody>
      </p:sp>
      <p:sp>
        <p:nvSpPr>
          <p:cNvPr id="17" name="Shape 15"/>
          <p:cNvSpPr/>
          <p:nvPr/>
        </p:nvSpPr>
        <p:spPr>
          <a:xfrm>
            <a:off x="502920" y="5321808"/>
            <a:ext cx="6675120" cy="621792"/>
          </a:xfrm>
          <a:prstGeom prst="roundRect">
            <a:avLst>
              <a:gd name="adj" fmla="val 11765"/>
            </a:avLst>
          </a:prstGeom>
          <a:solidFill>
            <a:srgbClr val="0F1C2E"/>
          </a:solidFill>
          <a:ln/>
          <a:effectLst>
            <a:outerShdw sx="100000" sy="100000" kx="0" ky="0" algn="bl" rotWithShape="0" blurRad="152400" dist="38100" dir="5400000">
              <a:srgbClr val="0F1C2E">
                <a:alpha val="10000"/>
              </a:srgbClr>
            </a:outerShdw>
          </a:effectLst>
        </p:spPr>
      </p:sp>
      <p:sp>
        <p:nvSpPr>
          <p:cNvPr id="18" name="Text 16"/>
          <p:cNvSpPr/>
          <p:nvPr/>
        </p:nvSpPr>
        <p:spPr>
          <a:xfrm>
            <a:off x="685800" y="5468112"/>
            <a:ext cx="1554480" cy="329184"/>
          </a:xfrm>
          <a:prstGeom prst="rect">
            <a:avLst/>
          </a:prstGeom>
          <a:noFill/>
          <a:ln/>
        </p:spPr>
        <p:txBody>
          <a:bodyPr wrap="square" lIns="0" tIns="0" rIns="0" bIns="0" rtlCol="0" anchor="t"/>
          <a:lstStyle/>
          <a:p>
            <a:pPr algn="l" indent="0" marL="0">
              <a:buNone/>
            </a:pPr>
            <a:r>
              <a:rPr lang="en-US" sz="1500" b="1" dirty="0">
                <a:solidFill>
                  <a:srgbClr val="F3D48A"/>
                </a:solidFill>
                <a:latin typeface="Calibri" pitchFamily="34" charset="0"/>
                <a:ea typeface="Calibri" pitchFamily="34" charset="-122"/>
                <a:cs typeface="Calibri" pitchFamily="34" charset="-120"/>
              </a:rPr>
              <a:t>Payer</a:t>
            </a:r>
            <a:endParaRPr lang="en-US" sz="1500" dirty="0"/>
          </a:p>
        </p:txBody>
      </p:sp>
      <p:sp>
        <p:nvSpPr>
          <p:cNvPr id="19" name="Text 17"/>
          <p:cNvSpPr/>
          <p:nvPr/>
        </p:nvSpPr>
        <p:spPr>
          <a:xfrm>
            <a:off x="2286000" y="5468112"/>
            <a:ext cx="4663440" cy="329184"/>
          </a:xfrm>
          <a:prstGeom prst="rect">
            <a:avLst/>
          </a:prstGeom>
          <a:noFill/>
          <a:ln/>
        </p:spPr>
        <p:txBody>
          <a:bodyPr wrap="square" lIns="0" tIns="0" rIns="0" bIns="0" rtlCol="0" anchor="t"/>
          <a:lstStyle/>
          <a:p>
            <a:pPr algn="l" indent="0" marL="0">
              <a:buNone/>
            </a:pPr>
            <a:r>
              <a:rPr lang="en-US" sz="1500" dirty="0">
                <a:solidFill>
                  <a:srgbClr val="FFFFFF"/>
                </a:solidFill>
                <a:latin typeface="Calibri" pitchFamily="34" charset="0"/>
                <a:ea typeface="Calibri" pitchFamily="34" charset="-122"/>
                <a:cs typeface="Calibri" pitchFamily="34" charset="-120"/>
              </a:rPr>
              <a:t>Books that quote once, or refuses.</a:t>
            </a:r>
            <a:endParaRPr lang="en-US" sz="1500" dirty="0"/>
          </a:p>
        </p:txBody>
      </p:sp>
      <p:sp>
        <p:nvSpPr>
          <p:cNvPr id="20" name="Shape 18"/>
          <p:cNvSpPr/>
          <p:nvPr/>
        </p:nvSpPr>
        <p:spPr>
          <a:xfrm>
            <a:off x="7452360" y="1097280"/>
            <a:ext cx="4160520" cy="4983480"/>
          </a:xfrm>
          <a:prstGeom prst="roundRect">
            <a:avLst>
              <a:gd name="adj" fmla="val 1758"/>
            </a:avLst>
          </a:prstGeom>
          <a:solidFill>
            <a:srgbClr val="0F1C2E"/>
          </a:solidFill>
          <a:ln/>
          <a:effectLst>
            <a:outerShdw sx="100000" sy="100000" kx="0" ky="0" algn="bl" rotWithShape="0" blurRad="152400" dist="38100" dir="5400000">
              <a:srgbClr val="0F1C2E">
                <a:alpha val="10000"/>
              </a:srgbClr>
            </a:outerShdw>
          </a:effectLst>
        </p:spPr>
      </p:sp>
      <p:sp>
        <p:nvSpPr>
          <p:cNvPr id="21" name="Text 19"/>
          <p:cNvSpPr/>
          <p:nvPr/>
        </p:nvSpPr>
        <p:spPr>
          <a:xfrm>
            <a:off x="7680960" y="1325880"/>
            <a:ext cx="3749040" cy="274320"/>
          </a:xfrm>
          <a:prstGeom prst="rect">
            <a:avLst/>
          </a:prstGeom>
          <a:noFill/>
          <a:ln/>
        </p:spPr>
        <p:txBody>
          <a:bodyPr wrap="square" lIns="0" tIns="0" rIns="0" bIns="0" rtlCol="0" anchor="t"/>
          <a:lstStyle/>
          <a:p>
            <a:pPr algn="l" indent="0" marL="0">
              <a:buNone/>
            </a:pPr>
            <a:r>
              <a:rPr lang="en-US" sz="1300" b="1" dirty="0">
                <a:solidFill>
                  <a:srgbClr val="A67C2D"/>
                </a:solidFill>
                <a:latin typeface="Calibri" pitchFamily="34" charset="0"/>
                <a:ea typeface="Calibri" pitchFamily="34" charset="-122"/>
                <a:cs typeface="Calibri" pitchFamily="34" charset="-120"/>
              </a:rPr>
              <a:t>The worked purchase</a:t>
            </a:r>
            <a:endParaRPr lang="en-US" sz="1300" dirty="0"/>
          </a:p>
        </p:txBody>
      </p:sp>
      <p:sp>
        <p:nvSpPr>
          <p:cNvPr id="22" name="Text 20"/>
          <p:cNvSpPr/>
          <p:nvPr/>
        </p:nvSpPr>
        <p:spPr>
          <a:xfrm>
            <a:off x="7680960" y="1691640"/>
            <a:ext cx="3749040" cy="777240"/>
          </a:xfrm>
          <a:prstGeom prst="rect">
            <a:avLst/>
          </a:prstGeom>
          <a:noFill/>
          <a:ln/>
        </p:spPr>
        <p:txBody>
          <a:bodyPr wrap="square" lIns="0" tIns="0" rIns="0" bIns="0" rtlCol="0" anchor="t"/>
          <a:lstStyle/>
          <a:p>
            <a:pPr algn="l" indent="0" marL="0">
              <a:buNone/>
            </a:pPr>
            <a:r>
              <a:rPr lang="en-US" sz="6000" b="1" dirty="0">
                <a:solidFill>
                  <a:srgbClr val="FFFFFF"/>
                </a:solidFill>
                <a:latin typeface="Cambria" pitchFamily="34" charset="0"/>
                <a:ea typeface="Cambria" pitchFamily="34" charset="-122"/>
                <a:cs typeface="Cambria" pitchFamily="34" charset="-120"/>
              </a:rPr>
              <a:t>60</a:t>
            </a:r>
            <a:endParaRPr lang="en-US" sz="6000" dirty="0"/>
          </a:p>
        </p:txBody>
      </p:sp>
      <p:sp>
        <p:nvSpPr>
          <p:cNvPr id="23" name="Text 21"/>
          <p:cNvSpPr/>
          <p:nvPr/>
        </p:nvSpPr>
        <p:spPr>
          <a:xfrm>
            <a:off x="7680960" y="2606040"/>
            <a:ext cx="3703320" cy="1051560"/>
          </a:xfrm>
          <a:prstGeom prst="rect">
            <a:avLst/>
          </a:prstGeom>
          <a:noFill/>
          <a:ln/>
        </p:spPr>
        <p:txBody>
          <a:bodyPr wrap="square" lIns="0" tIns="0" rIns="0" bIns="0" rtlCol="0" anchor="t"/>
          <a:lstStyle/>
          <a:p>
            <a:pPr algn="l" indent="0" marL="0">
              <a:buNone/>
            </a:pPr>
            <a:r>
              <a:rPr lang="en-US" sz="1500" dirty="0">
                <a:solidFill>
                  <a:srgbClr val="E6EDF4"/>
                </a:solidFill>
                <a:latin typeface="Calibri" pitchFamily="34" charset="0"/>
                <a:ea typeface="Calibri" pitchFamily="34" charset="-122"/>
                <a:cs typeface="Calibri" pitchFamily="34" charset="-120"/>
              </a:rPr>
              <a:t>Red balloons. Shelf 50 plus shipping 10. One card charge. The week rises by 60, not by the score.</a:t>
            </a:r>
            <a:endParaRPr lang="en-US" sz="1500" dirty="0"/>
          </a:p>
        </p:txBody>
      </p:sp>
      <p:sp>
        <p:nvSpPr>
          <p:cNvPr id="24" name="Text 22"/>
          <p:cNvSpPr/>
          <p:nvPr/>
        </p:nvSpPr>
        <p:spPr>
          <a:xfrm>
            <a:off x="7680960" y="3794760"/>
            <a:ext cx="3749040" cy="274320"/>
          </a:xfrm>
          <a:prstGeom prst="rect">
            <a:avLst/>
          </a:prstGeom>
          <a:noFill/>
          <a:ln/>
        </p:spPr>
        <p:txBody>
          <a:bodyPr wrap="square" lIns="0" tIns="0" rIns="0" bIns="0" rtlCol="0" anchor="t"/>
          <a:lstStyle/>
          <a:p>
            <a:pPr algn="l" indent="0" marL="0">
              <a:buNone/>
            </a:pPr>
            <a:r>
              <a:rPr lang="en-US" sz="1300" b="1" dirty="0">
                <a:solidFill>
                  <a:srgbClr val="A67C2D"/>
                </a:solidFill>
                <a:latin typeface="Calibri" pitchFamily="34" charset="0"/>
                <a:ea typeface="Calibri" pitchFamily="34" charset="-122"/>
                <a:cs typeface="Calibri" pitchFamily="34" charset="-120"/>
              </a:rPr>
              <a:t>Default caps on the form</a:t>
            </a:r>
            <a:endParaRPr lang="en-US" sz="1300" dirty="0"/>
          </a:p>
        </p:txBody>
      </p:sp>
      <p:sp>
        <p:nvSpPr>
          <p:cNvPr id="25" name="Text 23"/>
          <p:cNvSpPr/>
          <p:nvPr/>
        </p:nvSpPr>
        <p:spPr>
          <a:xfrm>
            <a:off x="7680960" y="4114800"/>
            <a:ext cx="3749040" cy="1097280"/>
          </a:xfrm>
          <a:prstGeom prst="rect">
            <a:avLst/>
          </a:prstGeom>
          <a:noFill/>
          <a:ln/>
        </p:spPr>
        <p:txBody>
          <a:bodyPr wrap="square" lIns="0" tIns="0" rIns="0" bIns="0" rtlCol="0" anchor="t"/>
          <a:lstStyle/>
          <a:p>
            <a:pPr algn="l" indent="0" marL="0">
              <a:buNone/>
            </a:pPr>
            <a:r>
              <a:rPr lang="en-US" sz="1500" dirty="0">
                <a:solidFill>
                  <a:srgbClr val="FFFFFF"/>
                </a:solidFill>
                <a:latin typeface="Calibri" pitchFamily="34" charset="0"/>
                <a:ea typeface="Calibri" pitchFamily="34" charset="-122"/>
                <a:cs typeface="Calibri" pitchFamily="34" charset="-120"/>
              </a:rPr>
              <a:t>250 per item, before any coupon</a:t>
            </a: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400 per order, after the card discount</a:t>
            </a: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1,000 in the past 168 hours</a:t>
            </a:r>
            <a:endParaRPr lang="en-US" sz="1500" dirty="0"/>
          </a:p>
        </p:txBody>
      </p:sp>
      <p:sp>
        <p:nvSpPr>
          <p:cNvPr id="27" name="Text 24"/>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28" name="Text 25"/>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C2E"/>
        </a:solidFill>
      </p:bgPr>
    </p:bg>
    <p:spTree>
      <p:nvGrpSpPr>
        <p:cNvPr id="1" name=""/>
        <p:cNvGrpSpPr/>
        <p:nvPr/>
      </p:nvGrpSpPr>
      <p:grpSpPr>
        <a:xfrm>
          <a:off x="0" y="0"/>
          <a:ext cx="0" cy="0"/>
          <a:chOff x="0" y="0"/>
          <a:chExt cx="0" cy="0"/>
        </a:xfrm>
      </p:grpSpPr>
      <p:sp>
        <p:nvSpPr>
          <p:cNvPr id="2" name="Text 0"/>
          <p:cNvSpPr/>
          <p:nvPr/>
        </p:nvSpPr>
        <p:spPr>
          <a:xfrm>
            <a:off x="640080" y="1965960"/>
            <a:ext cx="3657600" cy="640080"/>
          </a:xfrm>
          <a:prstGeom prst="rect">
            <a:avLst/>
          </a:prstGeom>
          <a:noFill/>
          <a:ln/>
        </p:spPr>
        <p:txBody>
          <a:bodyPr wrap="square" lIns="0" tIns="0" rIns="0" bIns="0" rtlCol="0" anchor="t"/>
          <a:lstStyle/>
          <a:p>
            <a:pPr algn="l" indent="0" marL="0">
              <a:buNone/>
            </a:pPr>
            <a:r>
              <a:rPr lang="en-US" sz="5400" dirty="0">
                <a:solidFill>
                  <a:srgbClr val="A67C2D"/>
                </a:solidFill>
                <a:latin typeface="Cambria" pitchFamily="34" charset="0"/>
                <a:ea typeface="Cambria" pitchFamily="34" charset="-122"/>
                <a:cs typeface="Cambria" pitchFamily="34" charset="-120"/>
              </a:rPr>
              <a:t>01</a:t>
            </a:r>
            <a:endParaRPr lang="en-US" sz="5400" dirty="0"/>
          </a:p>
        </p:txBody>
      </p:sp>
      <p:sp>
        <p:nvSpPr>
          <p:cNvPr id="3" name="Text 1"/>
          <p:cNvSpPr/>
          <p:nvPr/>
        </p:nvSpPr>
        <p:spPr>
          <a:xfrm>
            <a:off x="640080" y="2697480"/>
            <a:ext cx="9144000" cy="64008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Five roles</a:t>
            </a:r>
            <a:endParaRPr lang="en-US" sz="4400" dirty="0"/>
          </a:p>
        </p:txBody>
      </p:sp>
      <p:sp>
        <p:nvSpPr>
          <p:cNvPr id="4" name="Text 2"/>
          <p:cNvSpPr/>
          <p:nvPr/>
        </p:nvSpPr>
        <p:spPr>
          <a:xfrm>
            <a:off x="640080" y="3474720"/>
            <a:ext cx="9144000" cy="731520"/>
          </a:xfrm>
          <a:prstGeom prst="rect">
            <a:avLst/>
          </a:prstGeom>
          <a:noFill/>
          <a:ln/>
        </p:spPr>
        <p:txBody>
          <a:bodyPr wrap="square" lIns="0" tIns="0" rIns="0" bIns="0" rtlCol="0" anchor="t"/>
          <a:lstStyle/>
          <a:p>
            <a:pPr algn="l" indent="0" marL="0">
              <a:buNone/>
            </a:pPr>
            <a:r>
              <a:rPr lang="en-US" sz="2000" dirty="0">
                <a:solidFill>
                  <a:srgbClr val="D5E0EA"/>
                </a:solidFill>
                <a:latin typeface="Calibri" pitchFamily="34" charset="0"/>
                <a:ea typeface="Calibri" pitchFamily="34" charset="-122"/>
                <a:cs typeface="Calibri" pitchFamily="34" charset="-120"/>
              </a:rPr>
              <a:t>Only the shopper ranks. The other four allow, refuse, or charge what the shopper already held.</a:t>
            </a:r>
            <a:endParaRPr lang="en-US" sz="2000" dirty="0"/>
          </a:p>
        </p:txBody>
      </p:sp>
      <p:sp>
        <p:nvSpPr>
          <p:cNvPr id="6" name="Text 3"/>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8EA0B3"/>
                </a:solidFill>
                <a:latin typeface="Calibri" pitchFamily="34" charset="0"/>
                <a:ea typeface="Calibri" pitchFamily="34" charset="-122"/>
                <a:cs typeface="Calibri" pitchFamily="34" charset="-120"/>
              </a:rPr>
              <a:t>Scout</a:t>
            </a:r>
            <a:endParaRPr lang="en-US" sz="1200" dirty="0"/>
          </a:p>
        </p:txBody>
      </p:sp>
      <p:sp>
        <p:nvSpPr>
          <p:cNvPr id="7" name="Text 4"/>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8EA0B3"/>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WHO ACTS</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Five jobs. No shared cashier.</a:t>
            </a:r>
            <a:endParaRPr lang="en-US" sz="3200" dirty="0"/>
          </a:p>
        </p:txBody>
      </p:sp>
      <p:sp>
        <p:nvSpPr>
          <p:cNvPr id="4" name="Shape 2"/>
          <p:cNvSpPr/>
          <p:nvPr/>
        </p:nvSpPr>
        <p:spPr>
          <a:xfrm>
            <a:off x="457200" y="1188720"/>
            <a:ext cx="3977640" cy="4983480"/>
          </a:xfrm>
          <a:prstGeom prst="roundRect">
            <a:avLst>
              <a:gd name="adj" fmla="val 1839"/>
            </a:avLst>
          </a:prstGeom>
          <a:solidFill>
            <a:srgbClr val="0F1C2E"/>
          </a:solidFill>
          <a:ln/>
          <a:effectLst>
            <a:outerShdw sx="100000" sy="100000" kx="0" ky="0" algn="bl" rotWithShape="0" blurRad="152400" dist="38100" dir="5400000">
              <a:srgbClr val="0F1C2E">
                <a:alpha val="10000"/>
              </a:srgbClr>
            </a:outerShdw>
          </a:effectLst>
        </p:spPr>
      </p:sp>
      <p:sp>
        <p:nvSpPr>
          <p:cNvPr id="5" name="Text 3"/>
          <p:cNvSpPr/>
          <p:nvPr/>
        </p:nvSpPr>
        <p:spPr>
          <a:xfrm>
            <a:off x="685800" y="1417320"/>
            <a:ext cx="3566160" cy="411480"/>
          </a:xfrm>
          <a:prstGeom prst="rect">
            <a:avLst/>
          </a:prstGeom>
          <a:noFill/>
          <a:ln/>
        </p:spPr>
        <p:txBody>
          <a:bodyPr wrap="square" lIns="0" tIns="0" rIns="0" bIns="0" rtlCol="0" anchor="t"/>
          <a:lstStyle/>
          <a:p>
            <a:pPr algn="l" indent="0" marL="0">
              <a:buNone/>
            </a:pPr>
            <a:r>
              <a:rPr lang="en-US" sz="2800" b="1" dirty="0">
                <a:solidFill>
                  <a:srgbClr val="FFFFFF"/>
                </a:solidFill>
                <a:latin typeface="Cambria" pitchFamily="34" charset="0"/>
                <a:ea typeface="Cambria" pitchFamily="34" charset="-122"/>
                <a:cs typeface="Cambria" pitchFamily="34" charset="-120"/>
              </a:rPr>
              <a:t>Shopper</a:t>
            </a:r>
            <a:endParaRPr lang="en-US" sz="2800" dirty="0"/>
          </a:p>
        </p:txBody>
      </p:sp>
      <p:sp>
        <p:nvSpPr>
          <p:cNvPr id="6" name="Text 4"/>
          <p:cNvSpPr/>
          <p:nvPr/>
        </p:nvSpPr>
        <p:spPr>
          <a:xfrm>
            <a:off x="685800" y="1920240"/>
            <a:ext cx="3520440" cy="502920"/>
          </a:xfrm>
          <a:prstGeom prst="rect">
            <a:avLst/>
          </a:prstGeom>
          <a:noFill/>
          <a:ln/>
        </p:spPr>
        <p:txBody>
          <a:bodyPr wrap="square" lIns="0" tIns="0" rIns="0" bIns="0" rtlCol="0" anchor="t"/>
          <a:lstStyle/>
          <a:p>
            <a:pPr algn="l" indent="0" marL="0">
              <a:buNone/>
            </a:pPr>
            <a:r>
              <a:rPr lang="en-US" sz="1500" dirty="0">
                <a:solidFill>
                  <a:srgbClr val="E6EDF4"/>
                </a:solidFill>
                <a:latin typeface="Calibri" pitchFamily="34" charset="0"/>
                <a:ea typeface="Calibri" pitchFamily="34" charset="-122"/>
                <a:cs typeface="Calibri" pitchFamily="34" charset="-120"/>
              </a:rPr>
              <a:t>The buyer. The only role that ranks.</a:t>
            </a:r>
            <a:endParaRPr lang="en-US" sz="1500" dirty="0"/>
          </a:p>
        </p:txBody>
      </p:sp>
      <p:sp>
        <p:nvSpPr>
          <p:cNvPr id="7" name="Text 5"/>
          <p:cNvSpPr/>
          <p:nvPr/>
        </p:nvSpPr>
        <p:spPr>
          <a:xfrm>
            <a:off x="685800" y="2606040"/>
            <a:ext cx="3520440" cy="274320"/>
          </a:xfrm>
          <a:prstGeom prst="rect">
            <a:avLst/>
          </a:prstGeom>
          <a:noFill/>
          <a:ln/>
        </p:spPr>
        <p:txBody>
          <a:bodyPr wrap="square" lIns="0" tIns="0" rIns="0" bIns="0" rtlCol="0" anchor="t"/>
          <a:lstStyle/>
          <a:p>
            <a:pPr algn="l" indent="0" marL="0">
              <a:buNone/>
            </a:pPr>
            <a:r>
              <a:rPr lang="en-US" sz="1400" b="1" dirty="0">
                <a:solidFill>
                  <a:srgbClr val="F3D48A"/>
                </a:solidFill>
                <a:latin typeface="Calibri" pitchFamily="34" charset="0"/>
                <a:ea typeface="Calibri" pitchFamily="34" charset="-122"/>
                <a:cs typeface="Calibri" pitchFamily="34" charset="-120"/>
              </a:rPr>
              <a:t>Weights</a:t>
            </a:r>
            <a:endParaRPr lang="en-US" sz="1400" dirty="0"/>
          </a:p>
        </p:txBody>
      </p:sp>
      <p:sp>
        <p:nvSpPr>
          <p:cNvPr id="8" name="Text 6"/>
          <p:cNvSpPr/>
          <p:nvPr/>
        </p:nvSpPr>
        <p:spPr>
          <a:xfrm>
            <a:off x="685800" y="2898648"/>
            <a:ext cx="3520440" cy="594360"/>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The form’s five shares, unless this attempt set its own.</a:t>
            </a:r>
            <a:endParaRPr lang="en-US" sz="1400" dirty="0"/>
          </a:p>
        </p:txBody>
      </p:sp>
      <p:sp>
        <p:nvSpPr>
          <p:cNvPr id="9" name="Text 7"/>
          <p:cNvSpPr/>
          <p:nvPr/>
        </p:nvSpPr>
        <p:spPr>
          <a:xfrm>
            <a:off x="685800" y="3657600"/>
            <a:ext cx="3520440" cy="274320"/>
          </a:xfrm>
          <a:prstGeom prst="rect">
            <a:avLst/>
          </a:prstGeom>
          <a:noFill/>
          <a:ln/>
        </p:spPr>
        <p:txBody>
          <a:bodyPr wrap="square" lIns="0" tIns="0" rIns="0" bIns="0" rtlCol="0" anchor="t"/>
          <a:lstStyle/>
          <a:p>
            <a:pPr algn="l" indent="0" marL="0">
              <a:buNone/>
            </a:pPr>
            <a:r>
              <a:rPr lang="en-US" sz="1400" b="1" dirty="0">
                <a:solidFill>
                  <a:srgbClr val="F3D48A"/>
                </a:solidFill>
                <a:latin typeface="Calibri" pitchFamily="34" charset="0"/>
                <a:ea typeface="Calibri" pitchFamily="34" charset="-122"/>
                <a:cs typeface="Calibri" pitchFamily="34" charset="-120"/>
              </a:rPr>
              <a:t>Product</a:t>
            </a:r>
            <a:endParaRPr lang="en-US" sz="1400" dirty="0"/>
          </a:p>
        </p:txBody>
      </p:sp>
      <p:sp>
        <p:nvSpPr>
          <p:cNvPr id="10" name="Text 8"/>
          <p:cNvSpPr/>
          <p:nvPr/>
        </p:nvSpPr>
        <p:spPr>
          <a:xfrm>
            <a:off x="685800" y="3950208"/>
            <a:ext cx="3520440" cy="594360"/>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Highest score. A tie closer than 0.0000000001 asks the person.</a:t>
            </a:r>
            <a:endParaRPr lang="en-US" sz="1400" dirty="0"/>
          </a:p>
        </p:txBody>
      </p:sp>
      <p:sp>
        <p:nvSpPr>
          <p:cNvPr id="11" name="Text 9"/>
          <p:cNvSpPr/>
          <p:nvPr/>
        </p:nvSpPr>
        <p:spPr>
          <a:xfrm>
            <a:off x="685800" y="4709160"/>
            <a:ext cx="3520440" cy="274320"/>
          </a:xfrm>
          <a:prstGeom prst="rect">
            <a:avLst/>
          </a:prstGeom>
          <a:noFill/>
          <a:ln/>
        </p:spPr>
        <p:txBody>
          <a:bodyPr wrap="square" lIns="0" tIns="0" rIns="0" bIns="0" rtlCol="0" anchor="t"/>
          <a:lstStyle/>
          <a:p>
            <a:pPr algn="l" indent="0" marL="0">
              <a:buNone/>
            </a:pPr>
            <a:r>
              <a:rPr lang="en-US" sz="1400" b="1" dirty="0">
                <a:solidFill>
                  <a:srgbClr val="F3D48A"/>
                </a:solidFill>
                <a:latin typeface="Calibri" pitchFamily="34" charset="0"/>
                <a:ea typeface="Calibri" pitchFamily="34" charset="-122"/>
                <a:cs typeface="Calibri" pitchFamily="34" charset="-120"/>
              </a:rPr>
              <a:t>Card</a:t>
            </a:r>
            <a:endParaRPr lang="en-US" sz="1400" dirty="0"/>
          </a:p>
        </p:txBody>
      </p:sp>
      <p:sp>
        <p:nvSpPr>
          <p:cNvPr id="12" name="Text 10"/>
          <p:cNvSpPr/>
          <p:nvPr/>
        </p:nvSpPr>
        <p:spPr>
          <a:xfrm>
            <a:off x="685800" y="5001768"/>
            <a:ext cx="3520440" cy="594360"/>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Each allowed tender is priced alone. Lowest cash is stored.</a:t>
            </a:r>
            <a:endParaRPr lang="en-US" sz="1400" dirty="0"/>
          </a:p>
        </p:txBody>
      </p:sp>
      <p:sp>
        <p:nvSpPr>
          <p:cNvPr id="13" name="Shape 11"/>
          <p:cNvSpPr/>
          <p:nvPr/>
        </p:nvSpPr>
        <p:spPr>
          <a:xfrm>
            <a:off x="4617720" y="1188720"/>
            <a:ext cx="3520440" cy="2377440"/>
          </a:xfrm>
          <a:prstGeom prst="roundRect">
            <a:avLst>
              <a:gd name="adj" fmla="val 3077"/>
            </a:avLst>
          </a:prstGeom>
          <a:solidFill>
            <a:srgbClr val="EEF2F5"/>
          </a:solidFill>
          <a:ln/>
          <a:effectLst>
            <a:outerShdw sx="100000" sy="100000" kx="0" ky="0" algn="bl" rotWithShape="0" blurRad="152400" dist="38100" dir="5400000">
              <a:srgbClr val="0F1C2E">
                <a:alpha val="10000"/>
              </a:srgbClr>
            </a:outerShdw>
          </a:effectLst>
        </p:spPr>
      </p:sp>
      <p:sp>
        <p:nvSpPr>
          <p:cNvPr id="14" name="Text 12"/>
          <p:cNvSpPr/>
          <p:nvPr/>
        </p:nvSpPr>
        <p:spPr>
          <a:xfrm>
            <a:off x="4818888" y="1371600"/>
            <a:ext cx="3108960" cy="329184"/>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Mandate</a:t>
            </a:r>
            <a:endParaRPr lang="en-US" sz="2200" dirty="0"/>
          </a:p>
        </p:txBody>
      </p:sp>
      <p:sp>
        <p:nvSpPr>
          <p:cNvPr id="15" name="Text 13"/>
          <p:cNvSpPr/>
          <p:nvPr/>
        </p:nvSpPr>
        <p:spPr>
          <a:xfrm>
            <a:off x="4818888" y="1755648"/>
            <a:ext cx="3108960" cy="274320"/>
          </a:xfrm>
          <a:prstGeom prst="rect">
            <a:avLst/>
          </a:prstGeom>
          <a:noFill/>
          <a:ln/>
        </p:spPr>
        <p:txBody>
          <a:bodyPr wrap="square" lIns="0" tIns="0" rIns="0" bIns="0" rtlCol="0" anchor="t"/>
          <a:lstStyle/>
          <a:p>
            <a:pPr algn="l" indent="0" marL="0">
              <a:buNone/>
            </a:pPr>
            <a:r>
              <a:rPr lang="en-US" sz="1300" b="1" dirty="0">
                <a:solidFill>
                  <a:srgbClr val="A67C2D"/>
                </a:solidFill>
                <a:latin typeface="Calibri" pitchFamily="34" charset="0"/>
                <a:ea typeface="Calibri" pitchFamily="34" charset="-122"/>
                <a:cs typeface="Calibri" pitchFamily="34" charset="-120"/>
              </a:rPr>
              <a:t>The signed form</a:t>
            </a:r>
            <a:endParaRPr lang="en-US" sz="1300" dirty="0"/>
          </a:p>
        </p:txBody>
      </p:sp>
      <p:sp>
        <p:nvSpPr>
          <p:cNvPr id="16" name="Text 14"/>
          <p:cNvSpPr/>
          <p:nvPr/>
        </p:nvSpPr>
        <p:spPr>
          <a:xfrm>
            <a:off x="4818888" y="2148840"/>
            <a:ext cx="3108960" cy="11887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Compares the line with 250 and the cash with 400, the share, and the week. A confirm cannot raise a limit.</a:t>
            </a:r>
            <a:endParaRPr lang="en-US" sz="1400" dirty="0"/>
          </a:p>
        </p:txBody>
      </p:sp>
      <p:sp>
        <p:nvSpPr>
          <p:cNvPr id="17" name="Shape 15"/>
          <p:cNvSpPr/>
          <p:nvPr/>
        </p:nvSpPr>
        <p:spPr>
          <a:xfrm>
            <a:off x="8275320" y="1188720"/>
            <a:ext cx="3520440" cy="2377440"/>
          </a:xfrm>
          <a:prstGeom prst="roundRect">
            <a:avLst>
              <a:gd name="adj" fmla="val 3077"/>
            </a:avLst>
          </a:prstGeom>
          <a:solidFill>
            <a:srgbClr val="EEF2F5"/>
          </a:solidFill>
          <a:ln/>
          <a:effectLst>
            <a:outerShdw sx="100000" sy="100000" kx="0" ky="0" algn="bl" rotWithShape="0" blurRad="152400" dist="38100" dir="5400000">
              <a:srgbClr val="0F1C2E">
                <a:alpha val="10000"/>
              </a:srgbClr>
            </a:outerShdw>
          </a:effectLst>
        </p:spPr>
      </p:sp>
      <p:sp>
        <p:nvSpPr>
          <p:cNvPr id="18" name="Text 16"/>
          <p:cNvSpPr/>
          <p:nvPr/>
        </p:nvSpPr>
        <p:spPr>
          <a:xfrm>
            <a:off x="8476488" y="1371600"/>
            <a:ext cx="3108960" cy="329184"/>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Merchant</a:t>
            </a:r>
            <a:endParaRPr lang="en-US" sz="2200" dirty="0"/>
          </a:p>
        </p:txBody>
      </p:sp>
      <p:sp>
        <p:nvSpPr>
          <p:cNvPr id="19" name="Text 17"/>
          <p:cNvSpPr/>
          <p:nvPr/>
        </p:nvSpPr>
        <p:spPr>
          <a:xfrm>
            <a:off x="8476488" y="1755648"/>
            <a:ext cx="3108960" cy="274320"/>
          </a:xfrm>
          <a:prstGeom prst="rect">
            <a:avLst/>
          </a:prstGeom>
          <a:noFill/>
          <a:ln/>
        </p:spPr>
        <p:txBody>
          <a:bodyPr wrap="square" lIns="0" tIns="0" rIns="0" bIns="0" rtlCol="0" anchor="t"/>
          <a:lstStyle/>
          <a:p>
            <a:pPr algn="l" indent="0" marL="0">
              <a:buNone/>
            </a:pPr>
            <a:r>
              <a:rPr lang="en-US" sz="1300" b="1" dirty="0">
                <a:solidFill>
                  <a:srgbClr val="A67C2D"/>
                </a:solidFill>
                <a:latin typeface="Calibri" pitchFamily="34" charset="0"/>
                <a:ea typeface="Calibri" pitchFamily="34" charset="-122"/>
                <a:cs typeface="Calibri" pitchFamily="34" charset="-120"/>
              </a:rPr>
              <a:t>One website</a:t>
            </a:r>
            <a:endParaRPr lang="en-US" sz="1300" dirty="0"/>
          </a:p>
        </p:txBody>
      </p:sp>
      <p:sp>
        <p:nvSpPr>
          <p:cNvPr id="20" name="Text 18"/>
          <p:cNvSpPr/>
          <p:nvPr/>
        </p:nvSpPr>
        <p:spPr>
          <a:xfrm>
            <a:off x="8476488" y="2148840"/>
            <a:ext cx="3108960" cy="11887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Taobao, HKTV Mall, or Pinduoduo. Accepts the shelf, rejects it, or sends one counter on shipping or the coupon.</a:t>
            </a:r>
            <a:endParaRPr lang="en-US" sz="1400" dirty="0"/>
          </a:p>
        </p:txBody>
      </p:sp>
      <p:sp>
        <p:nvSpPr>
          <p:cNvPr id="21" name="Shape 19"/>
          <p:cNvSpPr/>
          <p:nvPr/>
        </p:nvSpPr>
        <p:spPr>
          <a:xfrm>
            <a:off x="4617720" y="3749040"/>
            <a:ext cx="3520440" cy="2377440"/>
          </a:xfrm>
          <a:prstGeom prst="roundRect">
            <a:avLst>
              <a:gd name="adj" fmla="val 3077"/>
            </a:avLst>
          </a:prstGeom>
          <a:solidFill>
            <a:srgbClr val="EEF2F5"/>
          </a:solidFill>
          <a:ln/>
          <a:effectLst>
            <a:outerShdw sx="100000" sy="100000" kx="0" ky="0" algn="bl" rotWithShape="0" blurRad="152400" dist="38100" dir="5400000">
              <a:srgbClr val="0F1C2E">
                <a:alpha val="10000"/>
              </a:srgbClr>
            </a:outerShdw>
          </a:effectLst>
        </p:spPr>
      </p:sp>
      <p:sp>
        <p:nvSpPr>
          <p:cNvPr id="22" name="Text 20"/>
          <p:cNvSpPr/>
          <p:nvPr/>
        </p:nvSpPr>
        <p:spPr>
          <a:xfrm>
            <a:off x="4818888" y="3931920"/>
            <a:ext cx="3108960" cy="329184"/>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Auditor</a:t>
            </a:r>
            <a:endParaRPr lang="en-US" sz="2200" dirty="0"/>
          </a:p>
        </p:txBody>
      </p:sp>
      <p:sp>
        <p:nvSpPr>
          <p:cNvPr id="23" name="Text 21"/>
          <p:cNvSpPr/>
          <p:nvPr/>
        </p:nvSpPr>
        <p:spPr>
          <a:xfrm>
            <a:off x="4818888" y="4315968"/>
            <a:ext cx="3108960" cy="274320"/>
          </a:xfrm>
          <a:prstGeom prst="rect">
            <a:avLst/>
          </a:prstGeom>
          <a:noFill/>
          <a:ln/>
        </p:spPr>
        <p:txBody>
          <a:bodyPr wrap="square" lIns="0" tIns="0" rIns="0" bIns="0" rtlCol="0" anchor="t"/>
          <a:lstStyle/>
          <a:p>
            <a:pPr algn="l" indent="0" marL="0">
              <a:buNone/>
            </a:pPr>
            <a:r>
              <a:rPr lang="en-US" sz="1300" b="1" dirty="0">
                <a:solidFill>
                  <a:srgbClr val="A67C2D"/>
                </a:solidFill>
                <a:latin typeface="Calibri" pitchFamily="34" charset="0"/>
                <a:ea typeface="Calibri" pitchFamily="34" charset="-122"/>
                <a:cs typeface="Calibri" pitchFamily="34" charset="-120"/>
              </a:rPr>
              <a:t>Listings and slips</a:t>
            </a:r>
            <a:endParaRPr lang="en-US" sz="1300" dirty="0"/>
          </a:p>
        </p:txBody>
      </p:sp>
      <p:sp>
        <p:nvSpPr>
          <p:cNvPr id="24" name="Text 22"/>
          <p:cNvSpPr/>
          <p:nvPr/>
        </p:nvSpPr>
        <p:spPr>
          <a:xfrm>
            <a:off x="4818888" y="4709160"/>
            <a:ext cx="3108960" cy="11887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Drops a poisoned row, a higher agent price, or missing shipping. Later, both signatures must match.</a:t>
            </a:r>
            <a:endParaRPr lang="en-US" sz="1400" dirty="0"/>
          </a:p>
        </p:txBody>
      </p:sp>
      <p:sp>
        <p:nvSpPr>
          <p:cNvPr id="25" name="Shape 23"/>
          <p:cNvSpPr/>
          <p:nvPr/>
        </p:nvSpPr>
        <p:spPr>
          <a:xfrm>
            <a:off x="8275320" y="3749040"/>
            <a:ext cx="3520440" cy="2377440"/>
          </a:xfrm>
          <a:prstGeom prst="roundRect">
            <a:avLst>
              <a:gd name="adj" fmla="val 3077"/>
            </a:avLst>
          </a:prstGeom>
          <a:solidFill>
            <a:srgbClr val="EEF2F5"/>
          </a:solidFill>
          <a:ln/>
          <a:effectLst>
            <a:outerShdw sx="100000" sy="100000" kx="0" ky="0" algn="bl" rotWithShape="0" blurRad="152400" dist="38100" dir="5400000">
              <a:srgbClr val="0F1C2E">
                <a:alpha val="10000"/>
              </a:srgbClr>
            </a:outerShdw>
          </a:effectLst>
        </p:spPr>
      </p:sp>
      <p:sp>
        <p:nvSpPr>
          <p:cNvPr id="26" name="Text 24"/>
          <p:cNvSpPr/>
          <p:nvPr/>
        </p:nvSpPr>
        <p:spPr>
          <a:xfrm>
            <a:off x="8476488" y="3931920"/>
            <a:ext cx="3108960" cy="329184"/>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Payer</a:t>
            </a:r>
            <a:endParaRPr lang="en-US" sz="2200" dirty="0"/>
          </a:p>
        </p:txBody>
      </p:sp>
      <p:sp>
        <p:nvSpPr>
          <p:cNvPr id="27" name="Text 25"/>
          <p:cNvSpPr/>
          <p:nvPr/>
        </p:nvSpPr>
        <p:spPr>
          <a:xfrm>
            <a:off x="8476488" y="4315968"/>
            <a:ext cx="3108960" cy="274320"/>
          </a:xfrm>
          <a:prstGeom prst="rect">
            <a:avLst/>
          </a:prstGeom>
          <a:noFill/>
          <a:ln/>
        </p:spPr>
        <p:txBody>
          <a:bodyPr wrap="square" lIns="0" tIns="0" rIns="0" bIns="0" rtlCol="0" anchor="t"/>
          <a:lstStyle/>
          <a:p>
            <a:pPr algn="l" indent="0" marL="0">
              <a:buNone/>
            </a:pPr>
            <a:r>
              <a:rPr lang="en-US" sz="1300" b="1" dirty="0">
                <a:solidFill>
                  <a:srgbClr val="A67C2D"/>
                </a:solidFill>
                <a:latin typeface="Calibri" pitchFamily="34" charset="0"/>
                <a:ea typeface="Calibri" pitchFamily="34" charset="-122"/>
                <a:cs typeface="Calibri" pitchFamily="34" charset="-120"/>
              </a:rPr>
              <a:t>The only cashier</a:t>
            </a:r>
            <a:endParaRPr lang="en-US" sz="1300" dirty="0"/>
          </a:p>
        </p:txBody>
      </p:sp>
      <p:sp>
        <p:nvSpPr>
          <p:cNvPr id="28" name="Text 26"/>
          <p:cNvSpPr/>
          <p:nvPr/>
        </p:nvSpPr>
        <p:spPr>
          <a:xfrm>
            <a:off x="8476488" y="4709160"/>
            <a:ext cx="3108960" cy="11887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Charges the tender and the cash on the quote, using the vault id created with the account.</a:t>
            </a:r>
            <a:endParaRPr lang="en-US" sz="1400" dirty="0"/>
          </a:p>
        </p:txBody>
      </p:sp>
      <p:sp>
        <p:nvSpPr>
          <p:cNvPr id="30" name="Text 27"/>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31" name="Text 28"/>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THE ORDER OF A CHOICE</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The person writes. The shopper asks.</a:t>
            </a:r>
            <a:endParaRPr lang="en-US" sz="3200" dirty="0"/>
          </a:p>
        </p:txBody>
      </p:sp>
      <p:sp>
        <p:nvSpPr>
          <p:cNvPr id="4" name="Shape 2"/>
          <p:cNvSpPr/>
          <p:nvPr/>
        </p:nvSpPr>
        <p:spPr>
          <a:xfrm>
            <a:off x="457200" y="1234440"/>
            <a:ext cx="2761488" cy="1783080"/>
          </a:xfrm>
          <a:prstGeom prst="roundRect">
            <a:avLst>
              <a:gd name="adj" fmla="val 4103"/>
            </a:avLst>
          </a:prstGeom>
          <a:solidFill>
            <a:srgbClr val="0F1C2E"/>
          </a:solidFill>
          <a:ln/>
          <a:effectLst>
            <a:outerShdw sx="100000" sy="100000" kx="0" ky="0" algn="bl" rotWithShape="0" blurRad="152400" dist="38100" dir="5400000">
              <a:srgbClr val="0F1C2E">
                <a:alpha val="10000"/>
              </a:srgbClr>
            </a:outerShdw>
          </a:effectLst>
        </p:spPr>
      </p:sp>
      <p:sp>
        <p:nvSpPr>
          <p:cNvPr id="5" name="Text 3"/>
          <p:cNvSpPr/>
          <p:nvPr/>
        </p:nvSpPr>
        <p:spPr>
          <a:xfrm>
            <a:off x="621792" y="1380744"/>
            <a:ext cx="457200" cy="365760"/>
          </a:xfrm>
          <a:prstGeom prst="rect">
            <a:avLst/>
          </a:prstGeom>
          <a:noFill/>
          <a:ln/>
        </p:spPr>
        <p:txBody>
          <a:bodyPr wrap="square" lIns="0" tIns="0" rIns="0" bIns="0" rtlCol="0" anchor="t"/>
          <a:lstStyle/>
          <a:p>
            <a:pPr algn="l" indent="0" marL="0">
              <a:buNone/>
            </a:pPr>
            <a:r>
              <a:rPr lang="en-US" sz="2200" b="1" dirty="0">
                <a:solidFill>
                  <a:srgbClr val="F3D48A"/>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097280" y="1435608"/>
            <a:ext cx="1920240" cy="329184"/>
          </a:xfrm>
          <a:prstGeom prst="rect">
            <a:avLst/>
          </a:prstGeom>
          <a:noFill/>
          <a:ln/>
        </p:spPr>
        <p:txBody>
          <a:bodyPr wrap="square" lIns="0" tIns="0" rIns="0" bIns="0" rtlCol="0" anchor="t"/>
          <a:lstStyle/>
          <a:p>
            <a:pPr algn="l" indent="0" marL="0">
              <a:buNone/>
            </a:pPr>
            <a:r>
              <a:rPr lang="en-US" sz="1400" b="1" dirty="0">
                <a:solidFill>
                  <a:srgbClr val="FFFFFF"/>
                </a:solidFill>
                <a:latin typeface="Calibri" pitchFamily="34" charset="0"/>
                <a:ea typeface="Calibri" pitchFamily="34" charset="-122"/>
                <a:cs typeface="Calibri" pitchFamily="34" charset="-120"/>
              </a:rPr>
              <a:t>Person</a:t>
            </a:r>
            <a:endParaRPr lang="en-US" sz="1400" dirty="0"/>
          </a:p>
        </p:txBody>
      </p:sp>
      <p:sp>
        <p:nvSpPr>
          <p:cNvPr id="7" name="Text 5"/>
          <p:cNvSpPr/>
          <p:nvPr/>
        </p:nvSpPr>
        <p:spPr>
          <a:xfrm>
            <a:off x="621792" y="1965960"/>
            <a:ext cx="2432304" cy="822960"/>
          </a:xfrm>
          <a:prstGeom prst="rect">
            <a:avLst/>
          </a:prstGeom>
          <a:noFill/>
          <a:ln/>
        </p:spPr>
        <p:txBody>
          <a:bodyPr wrap="square" lIns="0" tIns="0" rIns="0" bIns="0" rtlCol="0" anchor="t"/>
          <a:lstStyle/>
          <a:p>
            <a:pPr algn="l" indent="0" marL="0">
              <a:buNone/>
            </a:pPr>
            <a:r>
              <a:rPr lang="en-US" sz="1500" dirty="0">
                <a:solidFill>
                  <a:srgbClr val="E6EDF4"/>
                </a:solidFill>
                <a:latin typeface="Calibri" pitchFamily="34" charset="0"/>
                <a:ea typeface="Calibri" pitchFamily="34" charset="-122"/>
                <a:cs typeface="Calibri" pitchFamily="34" charset="-120"/>
              </a:rPr>
              <a:t>A sentence and a signed form.</a:t>
            </a:r>
            <a:endParaRPr lang="en-US" sz="1500" dirty="0"/>
          </a:p>
        </p:txBody>
      </p:sp>
      <p:sp>
        <p:nvSpPr>
          <p:cNvPr id="8" name="Shape 6"/>
          <p:cNvSpPr/>
          <p:nvPr/>
        </p:nvSpPr>
        <p:spPr>
          <a:xfrm>
            <a:off x="3383280" y="1234440"/>
            <a:ext cx="2761488" cy="1783080"/>
          </a:xfrm>
          <a:prstGeom prst="roundRect">
            <a:avLst>
              <a:gd name="adj" fmla="val 4103"/>
            </a:avLst>
          </a:prstGeom>
          <a:solidFill>
            <a:srgbClr val="FFFFFF"/>
          </a:solidFill>
          <a:ln/>
          <a:effectLst>
            <a:outerShdw sx="100000" sy="100000" kx="0" ky="0" algn="bl" rotWithShape="0" blurRad="152400" dist="38100" dir="5400000">
              <a:srgbClr val="0F1C2E">
                <a:alpha val="10000"/>
              </a:srgbClr>
            </a:outerShdw>
          </a:effectLst>
        </p:spPr>
      </p:sp>
      <p:sp>
        <p:nvSpPr>
          <p:cNvPr id="9" name="Text 7"/>
          <p:cNvSpPr/>
          <p:nvPr/>
        </p:nvSpPr>
        <p:spPr>
          <a:xfrm>
            <a:off x="3547872" y="1380744"/>
            <a:ext cx="45720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2</a:t>
            </a:r>
            <a:endParaRPr lang="en-US" sz="2200" dirty="0"/>
          </a:p>
        </p:txBody>
      </p:sp>
      <p:sp>
        <p:nvSpPr>
          <p:cNvPr id="10" name="Text 8"/>
          <p:cNvSpPr/>
          <p:nvPr/>
        </p:nvSpPr>
        <p:spPr>
          <a:xfrm>
            <a:off x="4023360" y="1435608"/>
            <a:ext cx="1920240" cy="329184"/>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Shopper</a:t>
            </a:r>
            <a:endParaRPr lang="en-US" sz="1400" dirty="0"/>
          </a:p>
        </p:txBody>
      </p:sp>
      <p:sp>
        <p:nvSpPr>
          <p:cNvPr id="11" name="Text 9"/>
          <p:cNvSpPr/>
          <p:nvPr/>
        </p:nvSpPr>
        <p:spPr>
          <a:xfrm>
            <a:off x="3547872" y="1965960"/>
            <a:ext cx="2432304" cy="82296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Resolve the five shares.</a:t>
            </a:r>
            <a:endParaRPr lang="en-US" sz="1500" dirty="0"/>
          </a:p>
        </p:txBody>
      </p:sp>
      <p:sp>
        <p:nvSpPr>
          <p:cNvPr id="12" name="Shape 10"/>
          <p:cNvSpPr/>
          <p:nvPr/>
        </p:nvSpPr>
        <p:spPr>
          <a:xfrm>
            <a:off x="6309360" y="1234440"/>
            <a:ext cx="2761488" cy="1783080"/>
          </a:xfrm>
          <a:prstGeom prst="roundRect">
            <a:avLst>
              <a:gd name="adj" fmla="val 4103"/>
            </a:avLst>
          </a:prstGeom>
          <a:solidFill>
            <a:srgbClr val="FFFFFF"/>
          </a:solidFill>
          <a:ln/>
          <a:effectLst>
            <a:outerShdw sx="100000" sy="100000" kx="0" ky="0" algn="bl" rotWithShape="0" blurRad="152400" dist="38100" dir="5400000">
              <a:srgbClr val="0F1C2E">
                <a:alpha val="10000"/>
              </a:srgbClr>
            </a:outerShdw>
          </a:effectLst>
        </p:spPr>
      </p:sp>
      <p:sp>
        <p:nvSpPr>
          <p:cNvPr id="13" name="Text 11"/>
          <p:cNvSpPr/>
          <p:nvPr/>
        </p:nvSpPr>
        <p:spPr>
          <a:xfrm>
            <a:off x="6473952" y="1380744"/>
            <a:ext cx="45720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3</a:t>
            </a:r>
            <a:endParaRPr lang="en-US" sz="2200" dirty="0"/>
          </a:p>
        </p:txBody>
      </p:sp>
      <p:sp>
        <p:nvSpPr>
          <p:cNvPr id="14" name="Text 12"/>
          <p:cNvSpPr/>
          <p:nvPr/>
        </p:nvSpPr>
        <p:spPr>
          <a:xfrm>
            <a:off x="6949440" y="1435608"/>
            <a:ext cx="1920240" cy="329184"/>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Auditor</a:t>
            </a:r>
            <a:endParaRPr lang="en-US" sz="1400" dirty="0"/>
          </a:p>
        </p:txBody>
      </p:sp>
      <p:sp>
        <p:nvSpPr>
          <p:cNvPr id="15" name="Text 13"/>
          <p:cNvSpPr/>
          <p:nvPr/>
        </p:nvSpPr>
        <p:spPr>
          <a:xfrm>
            <a:off x="6473952" y="1965960"/>
            <a:ext cx="2432304" cy="82296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Drop unsafe rows.</a:t>
            </a:r>
            <a:endParaRPr lang="en-US" sz="1500" dirty="0"/>
          </a:p>
        </p:txBody>
      </p:sp>
      <p:sp>
        <p:nvSpPr>
          <p:cNvPr id="16" name="Shape 14"/>
          <p:cNvSpPr/>
          <p:nvPr/>
        </p:nvSpPr>
        <p:spPr>
          <a:xfrm>
            <a:off x="9235440" y="1234440"/>
            <a:ext cx="2761488" cy="1783080"/>
          </a:xfrm>
          <a:prstGeom prst="roundRect">
            <a:avLst>
              <a:gd name="adj" fmla="val 4103"/>
            </a:avLst>
          </a:prstGeom>
          <a:solidFill>
            <a:srgbClr val="FFFFFF"/>
          </a:solidFill>
          <a:ln/>
          <a:effectLst>
            <a:outerShdw sx="100000" sy="100000" kx="0" ky="0" algn="bl" rotWithShape="0" blurRad="152400" dist="38100" dir="5400000">
              <a:srgbClr val="0F1C2E">
                <a:alpha val="10000"/>
              </a:srgbClr>
            </a:outerShdw>
          </a:effectLst>
        </p:spPr>
      </p:sp>
      <p:sp>
        <p:nvSpPr>
          <p:cNvPr id="17" name="Text 15"/>
          <p:cNvSpPr/>
          <p:nvPr/>
        </p:nvSpPr>
        <p:spPr>
          <a:xfrm>
            <a:off x="9400032" y="1380744"/>
            <a:ext cx="45720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4</a:t>
            </a:r>
            <a:endParaRPr lang="en-US" sz="2200" dirty="0"/>
          </a:p>
        </p:txBody>
      </p:sp>
      <p:sp>
        <p:nvSpPr>
          <p:cNvPr id="18" name="Text 16"/>
          <p:cNvSpPr/>
          <p:nvPr/>
        </p:nvSpPr>
        <p:spPr>
          <a:xfrm>
            <a:off x="9875520" y="1435608"/>
            <a:ext cx="1920240" cy="329184"/>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Mandate</a:t>
            </a:r>
            <a:endParaRPr lang="en-US" sz="1400" dirty="0"/>
          </a:p>
        </p:txBody>
      </p:sp>
      <p:sp>
        <p:nvSpPr>
          <p:cNvPr id="19" name="Text 17"/>
          <p:cNvSpPr/>
          <p:nvPr/>
        </p:nvSpPr>
        <p:spPr>
          <a:xfrm>
            <a:off x="9400032" y="1965960"/>
            <a:ext cx="2432304" cy="82296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Drop rows over the limits.</a:t>
            </a:r>
            <a:endParaRPr lang="en-US" sz="1500" dirty="0"/>
          </a:p>
        </p:txBody>
      </p:sp>
      <p:sp>
        <p:nvSpPr>
          <p:cNvPr id="20" name="Shape 18"/>
          <p:cNvSpPr/>
          <p:nvPr/>
        </p:nvSpPr>
        <p:spPr>
          <a:xfrm>
            <a:off x="457200" y="3200400"/>
            <a:ext cx="2761488" cy="1783080"/>
          </a:xfrm>
          <a:prstGeom prst="roundRect">
            <a:avLst>
              <a:gd name="adj" fmla="val 4103"/>
            </a:avLst>
          </a:prstGeom>
          <a:solidFill>
            <a:srgbClr val="FFFFFF"/>
          </a:solidFill>
          <a:ln/>
          <a:effectLst>
            <a:outerShdw sx="100000" sy="100000" kx="0" ky="0" algn="bl" rotWithShape="0" blurRad="152400" dist="38100" dir="5400000">
              <a:srgbClr val="0F1C2E">
                <a:alpha val="10000"/>
              </a:srgbClr>
            </a:outerShdw>
          </a:effectLst>
        </p:spPr>
      </p:sp>
      <p:sp>
        <p:nvSpPr>
          <p:cNvPr id="21" name="Text 19"/>
          <p:cNvSpPr/>
          <p:nvPr/>
        </p:nvSpPr>
        <p:spPr>
          <a:xfrm>
            <a:off x="621792" y="3346704"/>
            <a:ext cx="45720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5</a:t>
            </a:r>
            <a:endParaRPr lang="en-US" sz="2200" dirty="0"/>
          </a:p>
        </p:txBody>
      </p:sp>
      <p:sp>
        <p:nvSpPr>
          <p:cNvPr id="22" name="Text 20"/>
          <p:cNvSpPr/>
          <p:nvPr/>
        </p:nvSpPr>
        <p:spPr>
          <a:xfrm>
            <a:off x="1097280" y="3401568"/>
            <a:ext cx="1920240" cy="329184"/>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Shopper</a:t>
            </a:r>
            <a:endParaRPr lang="en-US" sz="1400" dirty="0"/>
          </a:p>
        </p:txBody>
      </p:sp>
      <p:sp>
        <p:nvSpPr>
          <p:cNvPr id="23" name="Text 21"/>
          <p:cNvSpPr/>
          <p:nvPr/>
        </p:nvSpPr>
        <p:spPr>
          <a:xfrm>
            <a:off x="621792" y="3931920"/>
            <a:ext cx="2432304" cy="82296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Score what remains.</a:t>
            </a:r>
            <a:endParaRPr lang="en-US" sz="1500" dirty="0"/>
          </a:p>
        </p:txBody>
      </p:sp>
      <p:sp>
        <p:nvSpPr>
          <p:cNvPr id="24" name="Shape 22"/>
          <p:cNvSpPr/>
          <p:nvPr/>
        </p:nvSpPr>
        <p:spPr>
          <a:xfrm>
            <a:off x="3383280" y="3200400"/>
            <a:ext cx="2761488" cy="1783080"/>
          </a:xfrm>
          <a:prstGeom prst="roundRect">
            <a:avLst>
              <a:gd name="adj" fmla="val 4103"/>
            </a:avLst>
          </a:prstGeom>
          <a:solidFill>
            <a:srgbClr val="FFFFFF"/>
          </a:solidFill>
          <a:ln/>
          <a:effectLst>
            <a:outerShdw sx="100000" sy="100000" kx="0" ky="0" algn="bl" rotWithShape="0" blurRad="152400" dist="38100" dir="5400000">
              <a:srgbClr val="0F1C2E">
                <a:alpha val="10000"/>
              </a:srgbClr>
            </a:outerShdw>
          </a:effectLst>
        </p:spPr>
      </p:sp>
      <p:sp>
        <p:nvSpPr>
          <p:cNvPr id="25" name="Text 23"/>
          <p:cNvSpPr/>
          <p:nvPr/>
        </p:nvSpPr>
        <p:spPr>
          <a:xfrm>
            <a:off x="3547872" y="3346704"/>
            <a:ext cx="45720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6</a:t>
            </a:r>
            <a:endParaRPr lang="en-US" sz="2200" dirty="0"/>
          </a:p>
        </p:txBody>
      </p:sp>
      <p:sp>
        <p:nvSpPr>
          <p:cNvPr id="26" name="Text 24"/>
          <p:cNvSpPr/>
          <p:nvPr/>
        </p:nvSpPr>
        <p:spPr>
          <a:xfrm>
            <a:off x="4023360" y="3401568"/>
            <a:ext cx="1920240" cy="329184"/>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Shopper</a:t>
            </a:r>
            <a:endParaRPr lang="en-US" sz="1400" dirty="0"/>
          </a:p>
        </p:txBody>
      </p:sp>
      <p:sp>
        <p:nvSpPr>
          <p:cNvPr id="27" name="Text 25"/>
          <p:cNvSpPr/>
          <p:nvPr/>
        </p:nvSpPr>
        <p:spPr>
          <a:xfrm>
            <a:off x="3547872" y="3931920"/>
            <a:ext cx="2432304" cy="82296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One seller. Best three. Lowest cash.</a:t>
            </a:r>
            <a:endParaRPr lang="en-US" sz="1500" dirty="0"/>
          </a:p>
        </p:txBody>
      </p:sp>
      <p:sp>
        <p:nvSpPr>
          <p:cNvPr id="28" name="Shape 26"/>
          <p:cNvSpPr/>
          <p:nvPr/>
        </p:nvSpPr>
        <p:spPr>
          <a:xfrm>
            <a:off x="6309360" y="3200400"/>
            <a:ext cx="2761488" cy="1783080"/>
          </a:xfrm>
          <a:prstGeom prst="roundRect">
            <a:avLst>
              <a:gd name="adj" fmla="val 4103"/>
            </a:avLst>
          </a:prstGeom>
          <a:solidFill>
            <a:srgbClr val="FFFFFF"/>
          </a:solidFill>
          <a:ln/>
          <a:effectLst>
            <a:outerShdw sx="100000" sy="100000" kx="0" ky="0" algn="bl" rotWithShape="0" blurRad="152400" dist="38100" dir="5400000">
              <a:srgbClr val="0F1C2E">
                <a:alpha val="10000"/>
              </a:srgbClr>
            </a:outerShdw>
          </a:effectLst>
        </p:spPr>
      </p:sp>
      <p:sp>
        <p:nvSpPr>
          <p:cNvPr id="29" name="Text 27"/>
          <p:cNvSpPr/>
          <p:nvPr/>
        </p:nvSpPr>
        <p:spPr>
          <a:xfrm>
            <a:off x="6473952" y="3346704"/>
            <a:ext cx="45720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7</a:t>
            </a:r>
            <a:endParaRPr lang="en-US" sz="2200" dirty="0"/>
          </a:p>
        </p:txBody>
      </p:sp>
      <p:sp>
        <p:nvSpPr>
          <p:cNvPr id="30" name="Text 28"/>
          <p:cNvSpPr/>
          <p:nvPr/>
        </p:nvSpPr>
        <p:spPr>
          <a:xfrm>
            <a:off x="6949440" y="3401568"/>
            <a:ext cx="1920240" cy="329184"/>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Merchant</a:t>
            </a:r>
            <a:endParaRPr lang="en-US" sz="1400" dirty="0"/>
          </a:p>
        </p:txBody>
      </p:sp>
      <p:sp>
        <p:nvSpPr>
          <p:cNvPr id="31" name="Text 29"/>
          <p:cNvSpPr/>
          <p:nvPr/>
        </p:nvSpPr>
        <p:spPr>
          <a:xfrm>
            <a:off x="6473952" y="3931920"/>
            <a:ext cx="2432304" cy="82296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Accept, reject, or one counter.</a:t>
            </a:r>
            <a:endParaRPr lang="en-US" sz="1500" dirty="0"/>
          </a:p>
        </p:txBody>
      </p:sp>
      <p:sp>
        <p:nvSpPr>
          <p:cNvPr id="32" name="Shape 30"/>
          <p:cNvSpPr/>
          <p:nvPr/>
        </p:nvSpPr>
        <p:spPr>
          <a:xfrm>
            <a:off x="9235440" y="3200400"/>
            <a:ext cx="2761488" cy="1783080"/>
          </a:xfrm>
          <a:prstGeom prst="roundRect">
            <a:avLst>
              <a:gd name="adj" fmla="val 4103"/>
            </a:avLst>
          </a:prstGeom>
          <a:solidFill>
            <a:srgbClr val="FFFFFF"/>
          </a:solidFill>
          <a:ln/>
          <a:effectLst>
            <a:outerShdw sx="100000" sy="100000" kx="0" ky="0" algn="bl" rotWithShape="0" blurRad="152400" dist="38100" dir="5400000">
              <a:srgbClr val="0F1C2E">
                <a:alpha val="10000"/>
              </a:srgbClr>
            </a:outerShdw>
          </a:effectLst>
        </p:spPr>
      </p:sp>
      <p:sp>
        <p:nvSpPr>
          <p:cNvPr id="33" name="Text 31"/>
          <p:cNvSpPr/>
          <p:nvPr/>
        </p:nvSpPr>
        <p:spPr>
          <a:xfrm>
            <a:off x="9400032" y="3346704"/>
            <a:ext cx="45720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8</a:t>
            </a:r>
            <a:endParaRPr lang="en-US" sz="2200" dirty="0"/>
          </a:p>
        </p:txBody>
      </p:sp>
      <p:sp>
        <p:nvSpPr>
          <p:cNvPr id="34" name="Text 32"/>
          <p:cNvSpPr/>
          <p:nvPr/>
        </p:nvSpPr>
        <p:spPr>
          <a:xfrm>
            <a:off x="9875520" y="3401568"/>
            <a:ext cx="1920240" cy="329184"/>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Auditor, then payer</a:t>
            </a:r>
            <a:endParaRPr lang="en-US" sz="1400" dirty="0"/>
          </a:p>
        </p:txBody>
      </p:sp>
      <p:sp>
        <p:nvSpPr>
          <p:cNvPr id="35" name="Text 33"/>
          <p:cNvSpPr/>
          <p:nvPr/>
        </p:nvSpPr>
        <p:spPr>
          <a:xfrm>
            <a:off x="9400032" y="3931920"/>
            <a:ext cx="2432304" cy="82296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Slips match. Then one charge.</a:t>
            </a:r>
            <a:endParaRPr lang="en-US" sz="1500" dirty="0"/>
          </a:p>
        </p:txBody>
      </p:sp>
      <p:sp>
        <p:nvSpPr>
          <p:cNvPr id="37" name="Text 34"/>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38" name="Text 35"/>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A MOMENT EACH</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What each role does with a real case</a:t>
            </a:r>
            <a:endParaRPr lang="en-US" sz="3200" dirty="0"/>
          </a:p>
        </p:txBody>
      </p:sp>
      <p:sp>
        <p:nvSpPr>
          <p:cNvPr id="4" name="Shape 2"/>
          <p:cNvSpPr/>
          <p:nvPr/>
        </p:nvSpPr>
        <p:spPr>
          <a:xfrm>
            <a:off x="411480" y="1170432"/>
            <a:ext cx="370332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5" name="Shape 3"/>
          <p:cNvSpPr/>
          <p:nvPr/>
        </p:nvSpPr>
        <p:spPr>
          <a:xfrm>
            <a:off x="576072" y="1353312"/>
            <a:ext cx="164592" cy="164592"/>
          </a:xfrm>
          <a:prstGeom prst="roundRect">
            <a:avLst>
              <a:gd name="adj" fmla="val 22222"/>
            </a:avLst>
          </a:prstGeom>
          <a:solidFill>
            <a:srgbClr val="A67C2D"/>
          </a:solidFill>
          <a:ln/>
        </p:spPr>
      </p:sp>
      <p:sp>
        <p:nvSpPr>
          <p:cNvPr id="6" name="Text 4"/>
          <p:cNvSpPr/>
          <p:nvPr/>
        </p:nvSpPr>
        <p:spPr>
          <a:xfrm>
            <a:off x="850392" y="1298448"/>
            <a:ext cx="3063240" cy="292608"/>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Shopper, weights</a:t>
            </a:r>
            <a:endParaRPr lang="en-US" sz="1400" dirty="0"/>
          </a:p>
        </p:txBody>
      </p:sp>
      <p:sp>
        <p:nvSpPr>
          <p:cNvPr id="7" name="Text 5"/>
          <p:cNvSpPr/>
          <p:nvPr/>
        </p:nvSpPr>
        <p:spPr>
          <a:xfrm>
            <a:off x="594360" y="1700784"/>
            <a:ext cx="3337560" cy="6400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The form is balanced. The sentence says cheapest.</a:t>
            </a:r>
            <a:endParaRPr lang="en-US" sz="1400" dirty="0"/>
          </a:p>
        </p:txBody>
      </p:sp>
      <p:sp>
        <p:nvSpPr>
          <p:cNvPr id="8" name="Text 6"/>
          <p:cNvSpPr/>
          <p:nvPr/>
        </p:nvSpPr>
        <p:spPr>
          <a:xfrm>
            <a:off x="594360" y="2404872"/>
            <a:ext cx="3337560" cy="96012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Ask the person. Keep 0.35, 0.25, 0.15, 0.10, 0.15. A phrase does not replace the signed objective.</a:t>
            </a:r>
            <a:endParaRPr lang="en-US" sz="1300" dirty="0"/>
          </a:p>
        </p:txBody>
      </p:sp>
      <p:sp>
        <p:nvSpPr>
          <p:cNvPr id="9" name="Shape 7"/>
          <p:cNvSpPr/>
          <p:nvPr/>
        </p:nvSpPr>
        <p:spPr>
          <a:xfrm>
            <a:off x="4297680" y="1170432"/>
            <a:ext cx="370332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10" name="Shape 8"/>
          <p:cNvSpPr/>
          <p:nvPr/>
        </p:nvSpPr>
        <p:spPr>
          <a:xfrm>
            <a:off x="4462272" y="1353312"/>
            <a:ext cx="164592" cy="164592"/>
          </a:xfrm>
          <a:prstGeom prst="roundRect">
            <a:avLst>
              <a:gd name="adj" fmla="val 22222"/>
            </a:avLst>
          </a:prstGeom>
          <a:solidFill>
            <a:srgbClr val="1E6B45"/>
          </a:solidFill>
          <a:ln/>
        </p:spPr>
      </p:sp>
      <p:sp>
        <p:nvSpPr>
          <p:cNvPr id="11" name="Text 9"/>
          <p:cNvSpPr/>
          <p:nvPr/>
        </p:nvSpPr>
        <p:spPr>
          <a:xfrm>
            <a:off x="4736592" y="1298448"/>
            <a:ext cx="3063240" cy="292608"/>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Shopper, product</a:t>
            </a:r>
            <a:endParaRPr lang="en-US" sz="1400" dirty="0"/>
          </a:p>
        </p:txBody>
      </p:sp>
      <p:sp>
        <p:nvSpPr>
          <p:cNvPr id="12" name="Text 10"/>
          <p:cNvSpPr/>
          <p:nvPr/>
        </p:nvSpPr>
        <p:spPr>
          <a:xfrm>
            <a:off x="4480560" y="1700784"/>
            <a:ext cx="3337560" cy="6400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Two scores differ by less than 0.0000000001.</a:t>
            </a:r>
            <a:endParaRPr lang="en-US" sz="1400" dirty="0"/>
          </a:p>
        </p:txBody>
      </p:sp>
      <p:sp>
        <p:nvSpPr>
          <p:cNvPr id="13" name="Text 11"/>
          <p:cNvSpPr/>
          <p:nvPr/>
        </p:nvSpPr>
        <p:spPr>
          <a:xfrm>
            <a:off x="4480560" y="2404872"/>
            <a:ext cx="3337560" cy="96012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Ask. Do not negotiate. A real one-cent gap is still larger than that, and still ranks.</a:t>
            </a:r>
            <a:endParaRPr lang="en-US" sz="1300" dirty="0"/>
          </a:p>
        </p:txBody>
      </p:sp>
      <p:sp>
        <p:nvSpPr>
          <p:cNvPr id="14" name="Shape 12"/>
          <p:cNvSpPr/>
          <p:nvPr/>
        </p:nvSpPr>
        <p:spPr>
          <a:xfrm>
            <a:off x="8183880" y="1170432"/>
            <a:ext cx="370332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15" name="Shape 13"/>
          <p:cNvSpPr/>
          <p:nvPr/>
        </p:nvSpPr>
        <p:spPr>
          <a:xfrm>
            <a:off x="8348472" y="1353312"/>
            <a:ext cx="164592" cy="164592"/>
          </a:xfrm>
          <a:prstGeom prst="roundRect">
            <a:avLst>
              <a:gd name="adj" fmla="val 22222"/>
            </a:avLst>
          </a:prstGeom>
          <a:solidFill>
            <a:srgbClr val="0F1C2E"/>
          </a:solidFill>
          <a:ln/>
        </p:spPr>
      </p:sp>
      <p:sp>
        <p:nvSpPr>
          <p:cNvPr id="16" name="Text 14"/>
          <p:cNvSpPr/>
          <p:nvPr/>
        </p:nvSpPr>
        <p:spPr>
          <a:xfrm>
            <a:off x="8622792" y="1298448"/>
            <a:ext cx="3063240" cy="292608"/>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Shopper, card</a:t>
            </a:r>
            <a:endParaRPr lang="en-US" sz="1400" dirty="0"/>
          </a:p>
        </p:txBody>
      </p:sp>
      <p:sp>
        <p:nvSpPr>
          <p:cNvPr id="17" name="Text 15"/>
          <p:cNvSpPr/>
          <p:nvPr/>
        </p:nvSpPr>
        <p:spPr>
          <a:xfrm>
            <a:off x="8366760" y="1700784"/>
            <a:ext cx="3337560" cy="6400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Merchandise 280, shipping 20. Three tenders.</a:t>
            </a:r>
            <a:endParaRPr lang="en-US" sz="1400" dirty="0"/>
          </a:p>
        </p:txBody>
      </p:sp>
      <p:sp>
        <p:nvSpPr>
          <p:cNvPr id="18" name="Text 16"/>
          <p:cNvSpPr/>
          <p:nvPr/>
        </p:nvSpPr>
        <p:spPr>
          <a:xfrm>
            <a:off x="8366760" y="2404872"/>
            <a:ext cx="3337560" cy="96012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HSBC 260, Citi 290, wallet 300. The quote stores hsbc-visa and 260. Equal cash keeps the earlier name on the form.</a:t>
            </a:r>
            <a:endParaRPr lang="en-US" sz="1300" dirty="0"/>
          </a:p>
        </p:txBody>
      </p:sp>
      <p:sp>
        <p:nvSpPr>
          <p:cNvPr id="19" name="Shape 17"/>
          <p:cNvSpPr/>
          <p:nvPr/>
        </p:nvSpPr>
        <p:spPr>
          <a:xfrm>
            <a:off x="411480" y="3730752"/>
            <a:ext cx="370332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20" name="Shape 18"/>
          <p:cNvSpPr/>
          <p:nvPr/>
        </p:nvSpPr>
        <p:spPr>
          <a:xfrm>
            <a:off x="576072" y="3913632"/>
            <a:ext cx="164592" cy="164592"/>
          </a:xfrm>
          <a:prstGeom prst="roundRect">
            <a:avLst>
              <a:gd name="adj" fmla="val 22222"/>
            </a:avLst>
          </a:prstGeom>
          <a:solidFill>
            <a:srgbClr val="A33B45"/>
          </a:solidFill>
          <a:ln/>
        </p:spPr>
      </p:sp>
      <p:sp>
        <p:nvSpPr>
          <p:cNvPr id="21" name="Text 19"/>
          <p:cNvSpPr/>
          <p:nvPr/>
        </p:nvSpPr>
        <p:spPr>
          <a:xfrm>
            <a:off x="850392" y="3858768"/>
            <a:ext cx="3063240" cy="292608"/>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Mandate</a:t>
            </a:r>
            <a:endParaRPr lang="en-US" sz="1400" dirty="0"/>
          </a:p>
        </p:txBody>
      </p:sp>
      <p:sp>
        <p:nvSpPr>
          <p:cNvPr id="22" name="Text 20"/>
          <p:cNvSpPr/>
          <p:nvPr/>
        </p:nvSpPr>
        <p:spPr>
          <a:xfrm>
            <a:off x="594360" y="4261104"/>
            <a:ext cx="3337560" cy="6400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A row’s cash is 410. The order cap is 400.</a:t>
            </a:r>
            <a:endParaRPr lang="en-US" sz="1400" dirty="0"/>
          </a:p>
        </p:txBody>
      </p:sp>
      <p:sp>
        <p:nvSpPr>
          <p:cNvPr id="23" name="Text 21"/>
          <p:cNvSpPr/>
          <p:nvPr/>
        </p:nvSpPr>
        <p:spPr>
          <a:xfrm>
            <a:off x="594360" y="4965192"/>
            <a:ext cx="3337560" cy="96012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Drop it, with the gate’s reason. The website does not know the person’s limits.</a:t>
            </a:r>
            <a:endParaRPr lang="en-US" sz="1300" dirty="0"/>
          </a:p>
        </p:txBody>
      </p:sp>
      <p:sp>
        <p:nvSpPr>
          <p:cNvPr id="24" name="Shape 22"/>
          <p:cNvSpPr/>
          <p:nvPr/>
        </p:nvSpPr>
        <p:spPr>
          <a:xfrm>
            <a:off x="4297680" y="3730752"/>
            <a:ext cx="370332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25" name="Shape 23"/>
          <p:cNvSpPr/>
          <p:nvPr/>
        </p:nvSpPr>
        <p:spPr>
          <a:xfrm>
            <a:off x="4462272" y="3913632"/>
            <a:ext cx="164592" cy="164592"/>
          </a:xfrm>
          <a:prstGeom prst="roundRect">
            <a:avLst>
              <a:gd name="adj" fmla="val 22222"/>
            </a:avLst>
          </a:prstGeom>
          <a:solidFill>
            <a:srgbClr val="9A5B12"/>
          </a:solidFill>
          <a:ln/>
        </p:spPr>
      </p:sp>
      <p:sp>
        <p:nvSpPr>
          <p:cNvPr id="26" name="Text 24"/>
          <p:cNvSpPr/>
          <p:nvPr/>
        </p:nvSpPr>
        <p:spPr>
          <a:xfrm>
            <a:off x="4736592" y="3858768"/>
            <a:ext cx="3063240" cy="292608"/>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Auditor</a:t>
            </a:r>
            <a:endParaRPr lang="en-US" sz="1400" dirty="0"/>
          </a:p>
        </p:txBody>
      </p:sp>
      <p:sp>
        <p:nvSpPr>
          <p:cNvPr id="27" name="Text 25"/>
          <p:cNvSpPr/>
          <p:nvPr/>
        </p:nvSpPr>
        <p:spPr>
          <a:xfrm>
            <a:off x="4480560" y="4261104"/>
            <a:ext cx="3337560" cy="6400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One character in the payment slip is flipped.</a:t>
            </a:r>
            <a:endParaRPr lang="en-US" sz="1400" dirty="0"/>
          </a:p>
        </p:txBody>
      </p:sp>
      <p:sp>
        <p:nvSpPr>
          <p:cNvPr id="28" name="Text 26"/>
          <p:cNvSpPr/>
          <p:nvPr/>
        </p:nvSpPr>
        <p:spPr>
          <a:xfrm>
            <a:off x="4480560" y="4965192"/>
            <a:ext cx="3337560" cy="96012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credentials_bad. The payer is not asked. Nothing is booked.</a:t>
            </a:r>
            <a:endParaRPr lang="en-US" sz="1300" dirty="0"/>
          </a:p>
        </p:txBody>
      </p:sp>
      <p:sp>
        <p:nvSpPr>
          <p:cNvPr id="29" name="Shape 27"/>
          <p:cNvSpPr/>
          <p:nvPr/>
        </p:nvSpPr>
        <p:spPr>
          <a:xfrm>
            <a:off x="8183880" y="3730752"/>
            <a:ext cx="370332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30" name="Shape 28"/>
          <p:cNvSpPr/>
          <p:nvPr/>
        </p:nvSpPr>
        <p:spPr>
          <a:xfrm>
            <a:off x="8348472" y="3913632"/>
            <a:ext cx="164592" cy="164592"/>
          </a:xfrm>
          <a:prstGeom prst="roundRect">
            <a:avLst>
              <a:gd name="adj" fmla="val 22222"/>
            </a:avLst>
          </a:prstGeom>
          <a:solidFill>
            <a:srgbClr val="1A3048"/>
          </a:solidFill>
          <a:ln/>
        </p:spPr>
      </p:sp>
      <p:sp>
        <p:nvSpPr>
          <p:cNvPr id="31" name="Text 29"/>
          <p:cNvSpPr/>
          <p:nvPr/>
        </p:nvSpPr>
        <p:spPr>
          <a:xfrm>
            <a:off x="8622792" y="3858768"/>
            <a:ext cx="3063240" cy="292608"/>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Payer</a:t>
            </a:r>
            <a:endParaRPr lang="en-US" sz="1400" dirty="0"/>
          </a:p>
        </p:txBody>
      </p:sp>
      <p:sp>
        <p:nvSpPr>
          <p:cNvPr id="32" name="Text 30"/>
          <p:cNvSpPr/>
          <p:nvPr/>
        </p:nvSpPr>
        <p:spPr>
          <a:xfrm>
            <a:off x="8366760" y="4261104"/>
            <a:ext cx="3337560" cy="6400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The quote holds citi-mastercard and cash 290.</a:t>
            </a:r>
            <a:endParaRPr lang="en-US" sz="1400" dirty="0"/>
          </a:p>
        </p:txBody>
      </p:sp>
      <p:sp>
        <p:nvSpPr>
          <p:cNvPr id="33" name="Text 31"/>
          <p:cNvSpPr/>
          <p:nvPr/>
        </p:nvSpPr>
        <p:spPr>
          <a:xfrm>
            <a:off x="8366760" y="4965192"/>
            <a:ext cx="3337560" cy="96012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Book 290 on citi-mastercard:key. The same key and the same cash reconcile. A different cash stops.</a:t>
            </a:r>
            <a:endParaRPr lang="en-US" sz="1300" dirty="0"/>
          </a:p>
        </p:txBody>
      </p:sp>
      <p:sp>
        <p:nvSpPr>
          <p:cNvPr id="35" name="Text 32"/>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36" name="Text 33"/>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C2E"/>
        </a:solidFill>
      </p:bgPr>
    </p:bg>
    <p:spTree>
      <p:nvGrpSpPr>
        <p:cNvPr id="1" name=""/>
        <p:cNvGrpSpPr/>
        <p:nvPr/>
      </p:nvGrpSpPr>
      <p:grpSpPr>
        <a:xfrm>
          <a:off x="0" y="0"/>
          <a:ext cx="0" cy="0"/>
          <a:chOff x="0" y="0"/>
          <a:chExt cx="0" cy="0"/>
        </a:xfrm>
      </p:grpSpPr>
      <p:sp>
        <p:nvSpPr>
          <p:cNvPr id="2" name="Text 0"/>
          <p:cNvSpPr/>
          <p:nvPr/>
        </p:nvSpPr>
        <p:spPr>
          <a:xfrm>
            <a:off x="640080" y="1737360"/>
            <a:ext cx="3657600" cy="640080"/>
          </a:xfrm>
          <a:prstGeom prst="rect">
            <a:avLst/>
          </a:prstGeom>
          <a:noFill/>
          <a:ln/>
        </p:spPr>
        <p:txBody>
          <a:bodyPr wrap="square" lIns="0" tIns="0" rIns="0" bIns="0" rtlCol="0" anchor="t"/>
          <a:lstStyle/>
          <a:p>
            <a:pPr algn="l" indent="0" marL="0">
              <a:buNone/>
            </a:pPr>
            <a:r>
              <a:rPr lang="en-US" sz="5400" dirty="0">
                <a:solidFill>
                  <a:srgbClr val="A67C2D"/>
                </a:solidFill>
                <a:latin typeface="Cambria" pitchFamily="34" charset="0"/>
                <a:ea typeface="Cambria" pitchFamily="34" charset="-122"/>
                <a:cs typeface="Cambria" pitchFamily="34" charset="-120"/>
              </a:rPr>
              <a:t>02</a:t>
            </a:r>
            <a:endParaRPr lang="en-US" sz="5400" dirty="0"/>
          </a:p>
        </p:txBody>
      </p:sp>
      <p:sp>
        <p:nvSpPr>
          <p:cNvPr id="3" name="Text 1"/>
          <p:cNvSpPr/>
          <p:nvPr/>
        </p:nvSpPr>
        <p:spPr>
          <a:xfrm>
            <a:off x="640080" y="2468880"/>
            <a:ext cx="10058400" cy="64008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Three gates</a:t>
            </a:r>
            <a:endParaRPr lang="en-US" sz="4400" dirty="0"/>
          </a:p>
        </p:txBody>
      </p:sp>
      <p:sp>
        <p:nvSpPr>
          <p:cNvPr id="4" name="Text 2"/>
          <p:cNvSpPr/>
          <p:nvPr/>
        </p:nvSpPr>
        <p:spPr>
          <a:xfrm>
            <a:off x="640080" y="3291840"/>
            <a:ext cx="10058400" cy="1005840"/>
          </a:xfrm>
          <a:prstGeom prst="rect">
            <a:avLst/>
          </a:prstGeom>
          <a:noFill/>
          <a:ln/>
        </p:spPr>
        <p:txBody>
          <a:bodyPr wrap="square" lIns="0" tIns="0" rIns="0" bIns="0" rtlCol="0" anchor="t"/>
          <a:lstStyle/>
          <a:p>
            <a:pPr algn="l" indent="0" marL="0">
              <a:buNone/>
            </a:pPr>
            <a:r>
              <a:rPr lang="en-US" sz="2000" dirty="0">
                <a:solidFill>
                  <a:srgbClr val="D5E0EA"/>
                </a:solidFill>
                <a:latin typeface="Calibri" pitchFamily="34" charset="0"/>
                <a:ea typeface="Calibri" pitchFamily="34" charset="-122"/>
                <a:cs typeface="Calibri" pitchFamily="34" charset="-120"/>
              </a:rPr>
              <a:t>A pass continues. A fail takes the labeled exit.</a:t>
            </a:r>
            <a:endParaRPr lang="en-US" sz="2000" dirty="0"/>
          </a:p>
          <a:p>
            <a:pPr algn="l" indent="0" marL="0">
              <a:buNone/>
            </a:pPr>
            <a:r>
              <a:rPr lang="en-US" sz="2000" dirty="0">
                <a:solidFill>
                  <a:srgbClr val="D5E0EA"/>
                </a:solidFill>
                <a:latin typeface="Calibri" pitchFamily="34" charset="0"/>
                <a:ea typeface="Calibri" pitchFamily="34" charset="-122"/>
                <a:cs typeface="Calibri" pitchFamily="34" charset="-120"/>
              </a:rPr>
              <a:t>The shopper asks. The other role answers. The shopper does not skip a failed gate.</a:t>
            </a:r>
            <a:endParaRPr lang="en-US" sz="2000" dirty="0"/>
          </a:p>
        </p:txBody>
      </p:sp>
      <p:sp>
        <p:nvSpPr>
          <p:cNvPr id="5" name="Shape 3"/>
          <p:cNvSpPr/>
          <p:nvPr/>
        </p:nvSpPr>
        <p:spPr>
          <a:xfrm>
            <a:off x="640080" y="4709160"/>
            <a:ext cx="3520440" cy="1051560"/>
          </a:xfrm>
          <a:prstGeom prst="roundRect">
            <a:avLst>
              <a:gd name="adj" fmla="val 6957"/>
            </a:avLst>
          </a:prstGeom>
          <a:solidFill>
            <a:srgbClr val="1A3048"/>
          </a:solidFill>
          <a:ln/>
          <a:effectLst>
            <a:outerShdw sx="100000" sy="100000" kx="0" ky="0" algn="bl" rotWithShape="0" blurRad="152400" dist="38100" dir="5400000">
              <a:srgbClr val="0F1C2E">
                <a:alpha val="10000"/>
              </a:srgbClr>
            </a:outerShdw>
          </a:effectLst>
        </p:spPr>
      </p:sp>
      <p:sp>
        <p:nvSpPr>
          <p:cNvPr id="6" name="Text 4"/>
          <p:cNvSpPr/>
          <p:nvPr/>
        </p:nvSpPr>
        <p:spPr>
          <a:xfrm>
            <a:off x="822960" y="4864608"/>
            <a:ext cx="365760" cy="365760"/>
          </a:xfrm>
          <a:prstGeom prst="rect">
            <a:avLst/>
          </a:prstGeom>
          <a:noFill/>
          <a:ln/>
        </p:spPr>
        <p:txBody>
          <a:bodyPr wrap="square" lIns="0" tIns="0" rIns="0" bIns="0" rtlCol="0" anchor="t"/>
          <a:lstStyle/>
          <a:p>
            <a:pPr algn="l" indent="0" marL="0">
              <a:buNone/>
            </a:pPr>
            <a:r>
              <a:rPr lang="en-US" sz="2000" b="1" dirty="0">
                <a:solidFill>
                  <a:srgbClr val="A67C2D"/>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280160" y="4919472"/>
            <a:ext cx="2651760" cy="640080"/>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May we shop?</a:t>
            </a:r>
            <a:endParaRPr lang="en-US" sz="1600" dirty="0"/>
          </a:p>
        </p:txBody>
      </p:sp>
      <p:sp>
        <p:nvSpPr>
          <p:cNvPr id="8" name="Shape 6"/>
          <p:cNvSpPr/>
          <p:nvPr/>
        </p:nvSpPr>
        <p:spPr>
          <a:xfrm>
            <a:off x="4389120" y="4709160"/>
            <a:ext cx="3520440" cy="1051560"/>
          </a:xfrm>
          <a:prstGeom prst="roundRect">
            <a:avLst>
              <a:gd name="adj" fmla="val 6957"/>
            </a:avLst>
          </a:prstGeom>
          <a:solidFill>
            <a:srgbClr val="1A3048"/>
          </a:solidFill>
          <a:ln/>
          <a:effectLst>
            <a:outerShdw sx="100000" sy="100000" kx="0" ky="0" algn="bl" rotWithShape="0" blurRad="152400" dist="38100" dir="5400000">
              <a:srgbClr val="0F1C2E">
                <a:alpha val="10000"/>
              </a:srgbClr>
            </a:outerShdw>
          </a:effectLst>
        </p:spPr>
      </p:sp>
      <p:sp>
        <p:nvSpPr>
          <p:cNvPr id="9" name="Text 7"/>
          <p:cNvSpPr/>
          <p:nvPr/>
        </p:nvSpPr>
        <p:spPr>
          <a:xfrm>
            <a:off x="4572000" y="4864608"/>
            <a:ext cx="365760" cy="365760"/>
          </a:xfrm>
          <a:prstGeom prst="rect">
            <a:avLst/>
          </a:prstGeom>
          <a:noFill/>
          <a:ln/>
        </p:spPr>
        <p:txBody>
          <a:bodyPr wrap="square" lIns="0" tIns="0" rIns="0" bIns="0" rtlCol="0" anchor="t"/>
          <a:lstStyle/>
          <a:p>
            <a:pPr algn="l" indent="0" marL="0">
              <a:buNone/>
            </a:pPr>
            <a:r>
              <a:rPr lang="en-US" sz="2000" b="1" dirty="0">
                <a:solidFill>
                  <a:srgbClr val="A67C2D"/>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5029200" y="4919472"/>
            <a:ext cx="2651760" cy="640080"/>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What does the website answer?</a:t>
            </a:r>
            <a:endParaRPr lang="en-US" sz="1600" dirty="0"/>
          </a:p>
        </p:txBody>
      </p:sp>
      <p:sp>
        <p:nvSpPr>
          <p:cNvPr id="11" name="Shape 9"/>
          <p:cNvSpPr/>
          <p:nvPr/>
        </p:nvSpPr>
        <p:spPr>
          <a:xfrm>
            <a:off x="8138160" y="4709160"/>
            <a:ext cx="3520440" cy="1051560"/>
          </a:xfrm>
          <a:prstGeom prst="roundRect">
            <a:avLst>
              <a:gd name="adj" fmla="val 6957"/>
            </a:avLst>
          </a:prstGeom>
          <a:solidFill>
            <a:srgbClr val="1A3048"/>
          </a:solidFill>
          <a:ln/>
          <a:effectLst>
            <a:outerShdw sx="100000" sy="100000" kx="0" ky="0" algn="bl" rotWithShape="0" blurRad="152400" dist="38100" dir="5400000">
              <a:srgbClr val="0F1C2E">
                <a:alpha val="10000"/>
              </a:srgbClr>
            </a:outerShdw>
          </a:effectLst>
        </p:spPr>
      </p:sp>
      <p:sp>
        <p:nvSpPr>
          <p:cNvPr id="12" name="Text 10"/>
          <p:cNvSpPr/>
          <p:nvPr/>
        </p:nvSpPr>
        <p:spPr>
          <a:xfrm>
            <a:off x="8321040" y="4864608"/>
            <a:ext cx="365760" cy="365760"/>
          </a:xfrm>
          <a:prstGeom prst="rect">
            <a:avLst/>
          </a:prstGeom>
          <a:noFill/>
          <a:ln/>
        </p:spPr>
        <p:txBody>
          <a:bodyPr wrap="square" lIns="0" tIns="0" rIns="0" bIns="0" rtlCol="0" anchor="t"/>
          <a:lstStyle/>
          <a:p>
            <a:pPr algn="l" indent="0" marL="0">
              <a:buNone/>
            </a:pPr>
            <a:r>
              <a:rPr lang="en-US" sz="2000" b="1" dirty="0">
                <a:solidFill>
                  <a:srgbClr val="A67C2D"/>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8778240" y="4919472"/>
            <a:ext cx="2651760" cy="640080"/>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May we pay?</a:t>
            </a:r>
            <a:endParaRPr lang="en-US" sz="1600" dirty="0"/>
          </a:p>
        </p:txBody>
      </p:sp>
      <p:sp>
        <p:nvSpPr>
          <p:cNvPr id="15" name="Text 12"/>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8EA0B3"/>
                </a:solidFill>
                <a:latin typeface="Calibri" pitchFamily="34" charset="0"/>
                <a:ea typeface="Calibri" pitchFamily="34" charset="-122"/>
                <a:cs typeface="Calibri" pitchFamily="34" charset="-120"/>
              </a:rPr>
              <a:t>Scout</a:t>
            </a:r>
            <a:endParaRPr lang="en-US" sz="1200" dirty="0"/>
          </a:p>
        </p:txBody>
      </p:sp>
      <p:sp>
        <p:nvSpPr>
          <p:cNvPr id="16" name="Text 13"/>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8EA0B3"/>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GATE 1</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May we shop?</a:t>
            </a:r>
            <a:endParaRPr lang="en-US" sz="3200" dirty="0"/>
          </a:p>
        </p:txBody>
      </p:sp>
      <p:sp>
        <p:nvSpPr>
          <p:cNvPr id="4" name="Text 2"/>
          <p:cNvSpPr/>
          <p:nvPr/>
        </p:nvSpPr>
        <p:spPr>
          <a:xfrm>
            <a:off x="502920" y="1024128"/>
            <a:ext cx="10972800" cy="274320"/>
          </a:xfrm>
          <a:prstGeom prst="rect">
            <a:avLst/>
          </a:prstGeom>
          <a:noFill/>
          <a:ln/>
        </p:spPr>
        <p:txBody>
          <a:bodyPr wrap="square" lIns="0" tIns="0" rIns="0" bIns="0" rtlCol="0" anchor="t"/>
          <a:lstStyle/>
          <a:p>
            <a:pPr algn="l" indent="0" marL="0">
              <a:buNone/>
            </a:pPr>
            <a:r>
              <a:rPr lang="en-US" sz="1400" dirty="0">
                <a:solidFill>
                  <a:srgbClr val="4E6070"/>
                </a:solidFill>
                <a:latin typeface="Calibri" pitchFamily="34" charset="0"/>
                <a:ea typeface="Calibri" pitchFamily="34" charset="-122"/>
                <a:cs typeface="Calibri" pitchFamily="34" charset="-120"/>
              </a:rPr>
              <a:t>Search has not started. Every exit on this row happens before a website is called.</a:t>
            </a:r>
            <a:endParaRPr lang="en-US" sz="1400" dirty="0"/>
          </a:p>
        </p:txBody>
      </p:sp>
      <p:sp>
        <p:nvSpPr>
          <p:cNvPr id="5" name="Shape 3"/>
          <p:cNvSpPr/>
          <p:nvPr/>
        </p:nvSpPr>
        <p:spPr>
          <a:xfrm>
            <a:off x="539496" y="1417320"/>
            <a:ext cx="2011680" cy="1170432"/>
          </a:xfrm>
          <a:prstGeom prst="roundRect">
            <a:avLst>
              <a:gd name="adj" fmla="val 6250"/>
            </a:avLst>
          </a:prstGeom>
          <a:solidFill>
            <a:srgbClr val="EEF2F5"/>
          </a:solidFill>
          <a:ln/>
        </p:spPr>
      </p:sp>
      <p:sp>
        <p:nvSpPr>
          <p:cNvPr id="6" name="Text 4"/>
          <p:cNvSpPr/>
          <p:nvPr/>
        </p:nvSpPr>
        <p:spPr>
          <a:xfrm>
            <a:off x="612648" y="1508760"/>
            <a:ext cx="1865376" cy="384048"/>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Person names a goal</a:t>
            </a:r>
            <a:endParaRPr lang="en-US" sz="1300" dirty="0"/>
          </a:p>
        </p:txBody>
      </p:sp>
      <p:sp>
        <p:nvSpPr>
          <p:cNvPr id="7" name="Text 5"/>
          <p:cNvSpPr/>
          <p:nvPr/>
        </p:nvSpPr>
        <p:spPr>
          <a:xfrm>
            <a:off x="612648" y="1874520"/>
            <a:ext cx="1865376" cy="621792"/>
          </a:xfrm>
          <a:prstGeom prst="rect">
            <a:avLst/>
          </a:prstGeom>
          <a:noFill/>
          <a:ln/>
        </p:spPr>
        <p:txBody>
          <a:bodyPr wrap="square" lIns="0" tIns="0" rIns="0" bIns="0" rtlCol="0" anchor="t"/>
          <a:lstStyle/>
          <a:p>
            <a:pPr algn="ctr" indent="0" marL="0">
              <a:buNone/>
            </a:pPr>
            <a:r>
              <a:rPr lang="en-US" sz="1100" dirty="0">
                <a:solidFill>
                  <a:srgbClr val="4E6070"/>
                </a:solidFill>
                <a:latin typeface="Calibri" pitchFamily="34" charset="0"/>
                <a:ea typeface="Calibri" pitchFamily="34" charset="-122"/>
                <a:cs typeface="Calibri" pitchFamily="34" charset="-120"/>
              </a:rPr>
              <a:t>Snacks or balloons. Quantity can stay blank.</a:t>
            </a:r>
            <a:endParaRPr lang="en-US" sz="1100" dirty="0"/>
          </a:p>
        </p:txBody>
      </p:sp>
      <p:sp>
        <p:nvSpPr>
          <p:cNvPr id="8" name="Shape 6"/>
          <p:cNvSpPr/>
          <p:nvPr/>
        </p:nvSpPr>
        <p:spPr>
          <a:xfrm>
            <a:off x="2587752" y="1920240"/>
            <a:ext cx="182880" cy="109728"/>
          </a:xfrm>
          <a:prstGeom prst="rightArrow">
            <a:avLst/>
          </a:prstGeom>
          <a:solidFill>
            <a:srgbClr val="8AA0B2"/>
          </a:solidFill>
          <a:ln/>
        </p:spPr>
      </p:sp>
      <p:sp>
        <p:nvSpPr>
          <p:cNvPr id="9" name="Shape 7"/>
          <p:cNvSpPr/>
          <p:nvPr/>
        </p:nvSpPr>
        <p:spPr>
          <a:xfrm>
            <a:off x="2807208" y="1417320"/>
            <a:ext cx="2011680" cy="1170432"/>
          </a:xfrm>
          <a:prstGeom prst="roundRect">
            <a:avLst>
              <a:gd name="adj" fmla="val 6250"/>
            </a:avLst>
          </a:prstGeom>
          <a:solidFill>
            <a:srgbClr val="F8E8EA"/>
          </a:solidFill>
          <a:ln/>
        </p:spPr>
      </p:sp>
      <p:sp>
        <p:nvSpPr>
          <p:cNvPr id="10" name="Text 8"/>
          <p:cNvSpPr/>
          <p:nvPr/>
        </p:nvSpPr>
        <p:spPr>
          <a:xfrm>
            <a:off x="2880360" y="1508760"/>
            <a:ext cx="1865376" cy="384048"/>
          </a:xfrm>
          <a:prstGeom prst="rect">
            <a:avLst/>
          </a:prstGeom>
          <a:noFill/>
          <a:ln/>
        </p:spPr>
        <p:txBody>
          <a:bodyPr wrap="square" lIns="0" tIns="0" rIns="0" bIns="0" rtlCol="0" anchor="t"/>
          <a:lstStyle/>
          <a:p>
            <a:pPr algn="ctr" indent="0" marL="0">
              <a:buNone/>
            </a:pPr>
            <a:r>
              <a:rPr lang="en-US" sz="1300" b="1" dirty="0">
                <a:solidFill>
                  <a:srgbClr val="A33B45"/>
                </a:solidFill>
                <a:latin typeface="Calibri" pitchFamily="34" charset="0"/>
                <a:ea typeface="Calibri" pitchFamily="34" charset="-122"/>
                <a:cs typeface="Calibri" pitchFamily="34" charset="-120"/>
              </a:rPr>
              <a:t>Sentence overrides the form?</a:t>
            </a:r>
            <a:endParaRPr lang="en-US" sz="1300" dirty="0"/>
          </a:p>
        </p:txBody>
      </p:sp>
      <p:sp>
        <p:nvSpPr>
          <p:cNvPr id="11" name="Text 9"/>
          <p:cNvSpPr/>
          <p:nvPr/>
        </p:nvSpPr>
        <p:spPr>
          <a:xfrm>
            <a:off x="2880360" y="1874520"/>
            <a:ext cx="1865376" cy="621792"/>
          </a:xfrm>
          <a:prstGeom prst="rect">
            <a:avLst/>
          </a:prstGeom>
          <a:noFill/>
          <a:ln/>
        </p:spPr>
        <p:txBody>
          <a:bodyPr wrap="square" lIns="0" tIns="0" rIns="0" bIns="0" rtlCol="0" anchor="t"/>
          <a:lstStyle/>
          <a:p>
            <a:pPr algn="ctr" indent="0" marL="0">
              <a:buNone/>
            </a:pPr>
            <a:r>
              <a:rPr lang="en-US" sz="1100" dirty="0">
                <a:solidFill>
                  <a:srgbClr val="14202C"/>
                </a:solidFill>
                <a:latin typeface="Calibri" pitchFamily="34" charset="0"/>
                <a:ea typeface="Calibri" pitchFamily="34" charset="-122"/>
                <a:cs typeface="Calibri" pitchFamily="34" charset="-120"/>
              </a:rPr>
              <a:t>Ignore the mandate, raise a limit, switch mode.</a:t>
            </a:r>
            <a:endParaRPr lang="en-US" sz="1100" dirty="0"/>
          </a:p>
        </p:txBody>
      </p:sp>
      <p:sp>
        <p:nvSpPr>
          <p:cNvPr id="12" name="Shape 10"/>
          <p:cNvSpPr/>
          <p:nvPr/>
        </p:nvSpPr>
        <p:spPr>
          <a:xfrm>
            <a:off x="4855464" y="1920240"/>
            <a:ext cx="182880" cy="109728"/>
          </a:xfrm>
          <a:prstGeom prst="rightArrow">
            <a:avLst/>
          </a:prstGeom>
          <a:solidFill>
            <a:srgbClr val="8AA0B2"/>
          </a:solidFill>
          <a:ln/>
        </p:spPr>
      </p:sp>
      <p:sp>
        <p:nvSpPr>
          <p:cNvPr id="13" name="Shape 11"/>
          <p:cNvSpPr/>
          <p:nvPr/>
        </p:nvSpPr>
        <p:spPr>
          <a:xfrm>
            <a:off x="5074920" y="1417320"/>
            <a:ext cx="2011680" cy="1170432"/>
          </a:xfrm>
          <a:prstGeom prst="roundRect">
            <a:avLst>
              <a:gd name="adj" fmla="val 6250"/>
            </a:avLst>
          </a:prstGeom>
          <a:solidFill>
            <a:srgbClr val="EEF2F5"/>
          </a:solidFill>
          <a:ln/>
        </p:spPr>
      </p:sp>
      <p:sp>
        <p:nvSpPr>
          <p:cNvPr id="14" name="Text 12"/>
          <p:cNvSpPr/>
          <p:nvPr/>
        </p:nvSpPr>
        <p:spPr>
          <a:xfrm>
            <a:off x="5148072" y="1508760"/>
            <a:ext cx="1865376" cy="384048"/>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Form still valid?</a:t>
            </a:r>
            <a:endParaRPr lang="en-US" sz="1300" dirty="0"/>
          </a:p>
        </p:txBody>
      </p:sp>
      <p:sp>
        <p:nvSpPr>
          <p:cNvPr id="15" name="Text 13"/>
          <p:cNvSpPr/>
          <p:nvPr/>
        </p:nvSpPr>
        <p:spPr>
          <a:xfrm>
            <a:off x="5148072" y="1874520"/>
            <a:ext cx="1865376" cy="621792"/>
          </a:xfrm>
          <a:prstGeom prst="rect">
            <a:avLst/>
          </a:prstGeom>
          <a:noFill/>
          <a:ln/>
        </p:spPr>
        <p:txBody>
          <a:bodyPr wrap="square" lIns="0" tIns="0" rIns="0" bIns="0" rtlCol="0" anchor="t"/>
          <a:lstStyle/>
          <a:p>
            <a:pPr algn="ctr" indent="0" marL="0">
              <a:buNone/>
            </a:pPr>
            <a:r>
              <a:rPr lang="en-US" sz="1100" dirty="0">
                <a:solidFill>
                  <a:srgbClr val="4E6070"/>
                </a:solidFill>
                <a:latin typeface="Calibri" pitchFamily="34" charset="0"/>
                <a:ea typeface="Calibri" pitchFamily="34" charset="-122"/>
                <a:cs typeface="Calibri" pitchFamily="34" charset="-120"/>
              </a:rPr>
              <a:t>The shopper asks the mandate.</a:t>
            </a:r>
            <a:endParaRPr lang="en-US" sz="1100" dirty="0"/>
          </a:p>
        </p:txBody>
      </p:sp>
      <p:sp>
        <p:nvSpPr>
          <p:cNvPr id="16" name="Shape 14"/>
          <p:cNvSpPr/>
          <p:nvPr/>
        </p:nvSpPr>
        <p:spPr>
          <a:xfrm>
            <a:off x="7123176" y="1920240"/>
            <a:ext cx="182880" cy="109728"/>
          </a:xfrm>
          <a:prstGeom prst="rightArrow">
            <a:avLst/>
          </a:prstGeom>
          <a:solidFill>
            <a:srgbClr val="8AA0B2"/>
          </a:solidFill>
          <a:ln/>
        </p:spPr>
      </p:sp>
      <p:sp>
        <p:nvSpPr>
          <p:cNvPr id="17" name="Shape 15"/>
          <p:cNvSpPr/>
          <p:nvPr/>
        </p:nvSpPr>
        <p:spPr>
          <a:xfrm>
            <a:off x="7342632" y="1417320"/>
            <a:ext cx="2011680" cy="1170432"/>
          </a:xfrm>
          <a:prstGeom prst="roundRect">
            <a:avLst>
              <a:gd name="adj" fmla="val 6250"/>
            </a:avLst>
          </a:prstGeom>
          <a:solidFill>
            <a:srgbClr val="FBF3E4"/>
          </a:solidFill>
          <a:ln/>
        </p:spPr>
      </p:sp>
      <p:sp>
        <p:nvSpPr>
          <p:cNvPr id="18" name="Text 16"/>
          <p:cNvSpPr/>
          <p:nvPr/>
        </p:nvSpPr>
        <p:spPr>
          <a:xfrm>
            <a:off x="7415784" y="1508760"/>
            <a:ext cx="1865376" cy="384048"/>
          </a:xfrm>
          <a:prstGeom prst="rect">
            <a:avLst/>
          </a:prstGeom>
          <a:noFill/>
          <a:ln/>
        </p:spPr>
        <p:txBody>
          <a:bodyPr wrap="square" lIns="0" tIns="0" rIns="0" bIns="0" rtlCol="0" anchor="t"/>
          <a:lstStyle/>
          <a:p>
            <a:pPr algn="ctr" indent="0" marL="0">
              <a:buNone/>
            </a:pPr>
            <a:r>
              <a:rPr lang="en-US" sz="1300" b="1" dirty="0">
                <a:solidFill>
                  <a:srgbClr val="9A5B12"/>
                </a:solidFill>
                <a:latin typeface="Calibri" pitchFamily="34" charset="0"/>
                <a:ea typeface="Calibri" pitchFamily="34" charset="-122"/>
                <a:cs typeface="Calibri" pitchFamily="34" charset="-120"/>
              </a:rPr>
              <a:t>Hint above 400?</a:t>
            </a:r>
            <a:endParaRPr lang="en-US" sz="1300" dirty="0"/>
          </a:p>
        </p:txBody>
      </p:sp>
      <p:sp>
        <p:nvSpPr>
          <p:cNvPr id="19" name="Text 17"/>
          <p:cNvSpPr/>
          <p:nvPr/>
        </p:nvSpPr>
        <p:spPr>
          <a:xfrm>
            <a:off x="7415784" y="1874520"/>
            <a:ext cx="1865376" cy="621792"/>
          </a:xfrm>
          <a:prstGeom prst="rect">
            <a:avLst/>
          </a:prstGeom>
          <a:noFill/>
          <a:ln/>
        </p:spPr>
        <p:txBody>
          <a:bodyPr wrap="square" lIns="0" tIns="0" rIns="0" bIns="0" rtlCol="0" anchor="t"/>
          <a:lstStyle/>
          <a:p>
            <a:pPr algn="ctr" indent="0" marL="0">
              <a:buNone/>
            </a:pPr>
            <a:r>
              <a:rPr lang="en-US" sz="1100" dirty="0">
                <a:solidFill>
                  <a:srgbClr val="14202C"/>
                </a:solidFill>
                <a:latin typeface="Calibri" pitchFamily="34" charset="0"/>
                <a:ea typeface="Calibri" pitchFamily="34" charset="-122"/>
                <a:cs typeface="Calibri" pitchFamily="34" charset="-120"/>
              </a:rPr>
              <a:t>A budget hint is not a new cap.</a:t>
            </a:r>
            <a:endParaRPr lang="en-US" sz="1100" dirty="0"/>
          </a:p>
        </p:txBody>
      </p:sp>
      <p:sp>
        <p:nvSpPr>
          <p:cNvPr id="20" name="Shape 18"/>
          <p:cNvSpPr/>
          <p:nvPr/>
        </p:nvSpPr>
        <p:spPr>
          <a:xfrm>
            <a:off x="9390888" y="1920240"/>
            <a:ext cx="182880" cy="109728"/>
          </a:xfrm>
          <a:prstGeom prst="rightArrow">
            <a:avLst/>
          </a:prstGeom>
          <a:solidFill>
            <a:srgbClr val="8AA0B2"/>
          </a:solidFill>
          <a:ln/>
        </p:spPr>
      </p:sp>
      <p:sp>
        <p:nvSpPr>
          <p:cNvPr id="21" name="Shape 19"/>
          <p:cNvSpPr/>
          <p:nvPr/>
        </p:nvSpPr>
        <p:spPr>
          <a:xfrm>
            <a:off x="9610344" y="1417320"/>
            <a:ext cx="2011680" cy="1170432"/>
          </a:xfrm>
          <a:prstGeom prst="roundRect">
            <a:avLst>
              <a:gd name="adj" fmla="val 6250"/>
            </a:avLst>
          </a:prstGeom>
          <a:solidFill>
            <a:srgbClr val="EEF2F5"/>
          </a:solidFill>
          <a:ln/>
        </p:spPr>
      </p:sp>
      <p:sp>
        <p:nvSpPr>
          <p:cNvPr id="22" name="Text 20"/>
          <p:cNvSpPr/>
          <p:nvPr/>
        </p:nvSpPr>
        <p:spPr>
          <a:xfrm>
            <a:off x="9683496" y="1508760"/>
            <a:ext cx="1865376" cy="384048"/>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Share and the week?</a:t>
            </a:r>
            <a:endParaRPr lang="en-US" sz="1300" dirty="0"/>
          </a:p>
        </p:txBody>
      </p:sp>
      <p:sp>
        <p:nvSpPr>
          <p:cNvPr id="23" name="Text 21"/>
          <p:cNvSpPr/>
          <p:nvPr/>
        </p:nvSpPr>
        <p:spPr>
          <a:xfrm>
            <a:off x="9683496" y="1874520"/>
            <a:ext cx="1865376" cy="621792"/>
          </a:xfrm>
          <a:prstGeom prst="rect">
            <a:avLst/>
          </a:prstGeom>
          <a:noFill/>
          <a:ln/>
        </p:spPr>
        <p:txBody>
          <a:bodyPr wrap="square" lIns="0" tIns="0" rIns="0" bIns="0" rtlCol="0" anchor="t"/>
          <a:lstStyle/>
          <a:p>
            <a:pPr algn="ctr" indent="0" marL="0">
              <a:buNone/>
            </a:pPr>
            <a:r>
              <a:rPr lang="en-US" sz="1100" dirty="0">
                <a:solidFill>
                  <a:srgbClr val="4E6070"/>
                </a:solidFill>
                <a:latin typeface="Calibri" pitchFamily="34" charset="0"/>
                <a:ea typeface="Calibri" pitchFamily="34" charset="-122"/>
                <a:cs typeface="Calibri" pitchFamily="34" charset="-120"/>
              </a:rPr>
              <a:t>This goal’s own money, and the 168 hours left.</a:t>
            </a:r>
            <a:endParaRPr lang="en-US" sz="1100" dirty="0"/>
          </a:p>
        </p:txBody>
      </p:sp>
      <p:sp>
        <p:nvSpPr>
          <p:cNvPr id="24" name="Shape 22"/>
          <p:cNvSpPr/>
          <p:nvPr/>
        </p:nvSpPr>
        <p:spPr>
          <a:xfrm>
            <a:off x="2944368" y="2697480"/>
            <a:ext cx="1737360" cy="310896"/>
          </a:xfrm>
          <a:prstGeom prst="roundRect">
            <a:avLst>
              <a:gd name="adj" fmla="val 17647"/>
            </a:avLst>
          </a:prstGeom>
          <a:solidFill>
            <a:srgbClr val="A33B45"/>
          </a:solidFill>
          <a:ln/>
        </p:spPr>
      </p:sp>
      <p:sp>
        <p:nvSpPr>
          <p:cNvPr id="25" name="Text 23"/>
          <p:cNvSpPr/>
          <p:nvPr/>
        </p:nvSpPr>
        <p:spPr>
          <a:xfrm>
            <a:off x="2999232" y="2743200"/>
            <a:ext cx="1627632" cy="219456"/>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Stop. No search</a:t>
            </a:r>
            <a:endParaRPr lang="en-US" sz="1100" dirty="0"/>
          </a:p>
        </p:txBody>
      </p:sp>
      <p:sp>
        <p:nvSpPr>
          <p:cNvPr id="26" name="Shape 24"/>
          <p:cNvSpPr/>
          <p:nvPr/>
        </p:nvSpPr>
        <p:spPr>
          <a:xfrm>
            <a:off x="5212080" y="2697480"/>
            <a:ext cx="1737360" cy="310896"/>
          </a:xfrm>
          <a:prstGeom prst="roundRect">
            <a:avLst>
              <a:gd name="adj" fmla="val 17647"/>
            </a:avLst>
          </a:prstGeom>
          <a:solidFill>
            <a:srgbClr val="A33B45"/>
          </a:solidFill>
          <a:ln/>
        </p:spPr>
      </p:sp>
      <p:sp>
        <p:nvSpPr>
          <p:cNvPr id="27" name="Text 25"/>
          <p:cNvSpPr/>
          <p:nvPr/>
        </p:nvSpPr>
        <p:spPr>
          <a:xfrm>
            <a:off x="5266944" y="2743200"/>
            <a:ext cx="1627632" cy="219456"/>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Stop. No search</a:t>
            </a:r>
            <a:endParaRPr lang="en-US" sz="1100" dirty="0"/>
          </a:p>
        </p:txBody>
      </p:sp>
      <p:sp>
        <p:nvSpPr>
          <p:cNvPr id="28" name="Shape 26"/>
          <p:cNvSpPr/>
          <p:nvPr/>
        </p:nvSpPr>
        <p:spPr>
          <a:xfrm>
            <a:off x="7434072" y="2697480"/>
            <a:ext cx="1828800" cy="310896"/>
          </a:xfrm>
          <a:prstGeom prst="roundRect">
            <a:avLst>
              <a:gd name="adj" fmla="val 17647"/>
            </a:avLst>
          </a:prstGeom>
          <a:solidFill>
            <a:srgbClr val="9A5B12"/>
          </a:solidFill>
          <a:ln/>
        </p:spPr>
      </p:sp>
      <p:sp>
        <p:nvSpPr>
          <p:cNvPr id="29" name="Text 27"/>
          <p:cNvSpPr/>
          <p:nvPr/>
        </p:nvSpPr>
        <p:spPr>
          <a:xfrm>
            <a:off x="7488936" y="2743200"/>
            <a:ext cx="1719072" cy="219456"/>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Ask them to edit</a:t>
            </a:r>
            <a:endParaRPr lang="en-US" sz="1100" dirty="0"/>
          </a:p>
        </p:txBody>
      </p:sp>
      <p:sp>
        <p:nvSpPr>
          <p:cNvPr id="30" name="Shape 28"/>
          <p:cNvSpPr/>
          <p:nvPr/>
        </p:nvSpPr>
        <p:spPr>
          <a:xfrm>
            <a:off x="9747504" y="2697480"/>
            <a:ext cx="1737360" cy="310896"/>
          </a:xfrm>
          <a:prstGeom prst="roundRect">
            <a:avLst>
              <a:gd name="adj" fmla="val 17647"/>
            </a:avLst>
          </a:prstGeom>
          <a:solidFill>
            <a:srgbClr val="A33B45"/>
          </a:solidFill>
          <a:ln/>
        </p:spPr>
      </p:sp>
      <p:sp>
        <p:nvSpPr>
          <p:cNvPr id="31" name="Text 29"/>
          <p:cNvSpPr/>
          <p:nvPr/>
        </p:nvSpPr>
        <p:spPr>
          <a:xfrm>
            <a:off x="9802368" y="2743200"/>
            <a:ext cx="1627632" cy="219456"/>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Stop. No search</a:t>
            </a:r>
            <a:endParaRPr lang="en-US" sz="1100" dirty="0"/>
          </a:p>
        </p:txBody>
      </p:sp>
      <p:sp>
        <p:nvSpPr>
          <p:cNvPr id="32" name="Shape 30"/>
          <p:cNvSpPr/>
          <p:nvPr/>
        </p:nvSpPr>
        <p:spPr>
          <a:xfrm>
            <a:off x="502920" y="3200400"/>
            <a:ext cx="3383280" cy="1051560"/>
          </a:xfrm>
          <a:prstGeom prst="roundRect">
            <a:avLst>
              <a:gd name="adj" fmla="val 6957"/>
            </a:avLst>
          </a:prstGeom>
          <a:solidFill>
            <a:srgbClr val="EEF2F5"/>
          </a:solidFill>
          <a:ln/>
        </p:spPr>
      </p:sp>
      <p:sp>
        <p:nvSpPr>
          <p:cNvPr id="33" name="Text 31"/>
          <p:cNvSpPr/>
          <p:nvPr/>
        </p:nvSpPr>
        <p:spPr>
          <a:xfrm>
            <a:off x="576072" y="3291840"/>
            <a:ext cx="3236976" cy="384048"/>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Auditor drops unsafe rows</a:t>
            </a:r>
            <a:endParaRPr lang="en-US" sz="1300" dirty="0"/>
          </a:p>
        </p:txBody>
      </p:sp>
      <p:sp>
        <p:nvSpPr>
          <p:cNvPr id="34" name="Text 32"/>
          <p:cNvSpPr/>
          <p:nvPr/>
        </p:nvSpPr>
        <p:spPr>
          <a:xfrm>
            <a:off x="576072" y="3657600"/>
            <a:ext cx="3236976" cy="502920"/>
          </a:xfrm>
          <a:prstGeom prst="rect">
            <a:avLst/>
          </a:prstGeom>
          <a:noFill/>
          <a:ln/>
        </p:spPr>
        <p:txBody>
          <a:bodyPr wrap="square" lIns="0" tIns="0" rIns="0" bIns="0" rtlCol="0" anchor="t"/>
          <a:lstStyle/>
          <a:p>
            <a:pPr algn="ctr" indent="0" marL="0">
              <a:buNone/>
            </a:pPr>
            <a:r>
              <a:rPr lang="en-US" sz="1100" dirty="0">
                <a:solidFill>
                  <a:srgbClr val="4E6070"/>
                </a:solidFill>
                <a:latin typeface="Calibri" pitchFamily="34" charset="0"/>
                <a:ea typeface="Calibri" pitchFamily="34" charset="-122"/>
                <a:cs typeface="Calibri" pitchFamily="34" charset="-120"/>
              </a:rPr>
              <a:t>Poison, a higher agent price, or missing shipping.</a:t>
            </a:r>
            <a:endParaRPr lang="en-US" sz="1100" dirty="0"/>
          </a:p>
        </p:txBody>
      </p:sp>
      <p:sp>
        <p:nvSpPr>
          <p:cNvPr id="35" name="Shape 33"/>
          <p:cNvSpPr/>
          <p:nvPr/>
        </p:nvSpPr>
        <p:spPr>
          <a:xfrm>
            <a:off x="3931920" y="3639312"/>
            <a:ext cx="182880" cy="109728"/>
          </a:xfrm>
          <a:prstGeom prst="rightArrow">
            <a:avLst/>
          </a:prstGeom>
          <a:solidFill>
            <a:srgbClr val="8AA0B2"/>
          </a:solidFill>
          <a:ln/>
        </p:spPr>
      </p:sp>
      <p:sp>
        <p:nvSpPr>
          <p:cNvPr id="36" name="Shape 34"/>
          <p:cNvSpPr/>
          <p:nvPr/>
        </p:nvSpPr>
        <p:spPr>
          <a:xfrm>
            <a:off x="4343400" y="3200400"/>
            <a:ext cx="3383280" cy="1051560"/>
          </a:xfrm>
          <a:prstGeom prst="roundRect">
            <a:avLst>
              <a:gd name="adj" fmla="val 6957"/>
            </a:avLst>
          </a:prstGeom>
          <a:solidFill>
            <a:srgbClr val="EEF2F5"/>
          </a:solidFill>
          <a:ln/>
        </p:spPr>
      </p:sp>
      <p:sp>
        <p:nvSpPr>
          <p:cNvPr id="37" name="Text 35"/>
          <p:cNvSpPr/>
          <p:nvPr/>
        </p:nvSpPr>
        <p:spPr>
          <a:xfrm>
            <a:off x="4416552" y="3291840"/>
            <a:ext cx="3236976" cy="384048"/>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Mandate drops over-limit rows</a:t>
            </a:r>
            <a:endParaRPr lang="en-US" sz="1300" dirty="0"/>
          </a:p>
        </p:txBody>
      </p:sp>
      <p:sp>
        <p:nvSpPr>
          <p:cNvPr id="38" name="Text 36"/>
          <p:cNvSpPr/>
          <p:nvPr/>
        </p:nvSpPr>
        <p:spPr>
          <a:xfrm>
            <a:off x="4416552" y="3657600"/>
            <a:ext cx="3236976" cy="502920"/>
          </a:xfrm>
          <a:prstGeom prst="rect">
            <a:avLst/>
          </a:prstGeom>
          <a:noFill/>
          <a:ln/>
        </p:spPr>
        <p:txBody>
          <a:bodyPr wrap="square" lIns="0" tIns="0" rIns="0" bIns="0" rtlCol="0" anchor="t"/>
          <a:lstStyle/>
          <a:p>
            <a:pPr algn="ctr" indent="0" marL="0">
              <a:buNone/>
            </a:pPr>
            <a:r>
              <a:rPr lang="en-US" sz="1100" dirty="0">
                <a:solidFill>
                  <a:srgbClr val="4E6070"/>
                </a:solidFill>
                <a:latin typeface="Calibri" pitchFamily="34" charset="0"/>
                <a:ea typeface="Calibri" pitchFamily="34" charset="-122"/>
                <a:cs typeface="Calibri" pitchFamily="34" charset="-120"/>
              </a:rPr>
              <a:t>Line over 250, or cash over 400, the share, or the week.</a:t>
            </a:r>
            <a:endParaRPr lang="en-US" sz="1100" dirty="0"/>
          </a:p>
        </p:txBody>
      </p:sp>
      <p:sp>
        <p:nvSpPr>
          <p:cNvPr id="39" name="Shape 37"/>
          <p:cNvSpPr/>
          <p:nvPr/>
        </p:nvSpPr>
        <p:spPr>
          <a:xfrm>
            <a:off x="7772400" y="3639312"/>
            <a:ext cx="182880" cy="109728"/>
          </a:xfrm>
          <a:prstGeom prst="rightArrow">
            <a:avLst/>
          </a:prstGeom>
          <a:solidFill>
            <a:srgbClr val="8AA0B2"/>
          </a:solidFill>
          <a:ln/>
        </p:spPr>
      </p:sp>
      <p:sp>
        <p:nvSpPr>
          <p:cNvPr id="40" name="Shape 38"/>
          <p:cNvSpPr/>
          <p:nvPr/>
        </p:nvSpPr>
        <p:spPr>
          <a:xfrm>
            <a:off x="8183880" y="3200400"/>
            <a:ext cx="3383280" cy="1051560"/>
          </a:xfrm>
          <a:prstGeom prst="roundRect">
            <a:avLst>
              <a:gd name="adj" fmla="val 6957"/>
            </a:avLst>
          </a:prstGeom>
          <a:solidFill>
            <a:srgbClr val="0F1C2E"/>
          </a:solidFill>
          <a:ln/>
        </p:spPr>
      </p:sp>
      <p:sp>
        <p:nvSpPr>
          <p:cNvPr id="41" name="Text 39"/>
          <p:cNvSpPr/>
          <p:nvPr/>
        </p:nvSpPr>
        <p:spPr>
          <a:xfrm>
            <a:off x="8257032" y="3291840"/>
            <a:ext cx="3236976" cy="384048"/>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Shopper scores the rest</a:t>
            </a:r>
            <a:endParaRPr lang="en-US" sz="1300" dirty="0"/>
          </a:p>
        </p:txBody>
      </p:sp>
      <p:sp>
        <p:nvSpPr>
          <p:cNvPr id="42" name="Text 40"/>
          <p:cNvSpPr/>
          <p:nvPr/>
        </p:nvSpPr>
        <p:spPr>
          <a:xfrm>
            <a:off x="8257032" y="3657600"/>
            <a:ext cx="3236976" cy="502920"/>
          </a:xfrm>
          <a:prstGeom prst="rect">
            <a:avLst/>
          </a:prstGeom>
          <a:noFill/>
          <a:ln/>
        </p:spPr>
        <p:txBody>
          <a:bodyPr wrap="square" lIns="0" tIns="0" rIns="0" bIns="0" rtlCol="0" anchor="t"/>
          <a:lstStyle/>
          <a:p>
            <a:pPr algn="ctr" indent="0" marL="0">
              <a:buNone/>
            </a:pPr>
            <a:r>
              <a:rPr lang="en-US" sz="1100" dirty="0">
                <a:solidFill>
                  <a:srgbClr val="D5E0EA"/>
                </a:solidFill>
                <a:latin typeface="Calibri" pitchFamily="34" charset="0"/>
                <a:ea typeface="Calibri" pitchFamily="34" charset="-122"/>
                <a:cs typeface="Calibri" pitchFamily="34" charset="-120"/>
              </a:rPr>
              <a:t>Higher score first. One seller keeps its best three.</a:t>
            </a:r>
            <a:endParaRPr lang="en-US" sz="1100" dirty="0"/>
          </a:p>
        </p:txBody>
      </p:sp>
      <p:sp>
        <p:nvSpPr>
          <p:cNvPr id="43" name="Shape 41"/>
          <p:cNvSpPr/>
          <p:nvPr/>
        </p:nvSpPr>
        <p:spPr>
          <a:xfrm>
            <a:off x="502920" y="4480560"/>
            <a:ext cx="3611880" cy="1691640"/>
          </a:xfrm>
          <a:prstGeom prst="roundRect">
            <a:avLst>
              <a:gd name="adj" fmla="val 4324"/>
            </a:avLst>
          </a:prstGeom>
          <a:solidFill>
            <a:srgbClr val="FFFFFF"/>
          </a:solidFill>
          <a:ln/>
          <a:effectLst>
            <a:outerShdw sx="100000" sy="100000" kx="0" ky="0" algn="bl" rotWithShape="0" blurRad="152400" dist="38100" dir="5400000">
              <a:srgbClr val="0F1C2E">
                <a:alpha val="10000"/>
              </a:srgbClr>
            </a:outerShdw>
          </a:effectLst>
        </p:spPr>
      </p:sp>
      <p:sp>
        <p:nvSpPr>
          <p:cNvPr id="44" name="Text 42"/>
          <p:cNvSpPr/>
          <p:nvPr/>
        </p:nvSpPr>
        <p:spPr>
          <a:xfrm>
            <a:off x="685800" y="4645152"/>
            <a:ext cx="3246120" cy="320040"/>
          </a:xfrm>
          <a:prstGeom prst="rect">
            <a:avLst/>
          </a:prstGeom>
          <a:noFill/>
          <a:ln/>
        </p:spPr>
        <p:txBody>
          <a:bodyPr wrap="square" lIns="0" tIns="0" rIns="0" bIns="0" rtlCol="0" anchor="t"/>
          <a:lstStyle/>
          <a:p>
            <a:pPr algn="l" indent="0" marL="0">
              <a:buNone/>
            </a:pPr>
            <a:r>
              <a:rPr lang="en-US" sz="1600" b="1" dirty="0">
                <a:solidFill>
                  <a:srgbClr val="A33B45"/>
                </a:solidFill>
                <a:latin typeface="Calibri" pitchFamily="34" charset="0"/>
                <a:ea typeface="Calibri" pitchFamily="34" charset="-122"/>
                <a:cs typeface="Calibri" pitchFamily="34" charset="-120"/>
              </a:rPr>
              <a:t>None left</a:t>
            </a:r>
            <a:endParaRPr lang="en-US" sz="1600" dirty="0"/>
          </a:p>
        </p:txBody>
      </p:sp>
      <p:sp>
        <p:nvSpPr>
          <p:cNvPr id="45" name="Text 43"/>
          <p:cNvSpPr/>
          <p:nvPr/>
        </p:nvSpPr>
        <p:spPr>
          <a:xfrm>
            <a:off x="685800" y="5029200"/>
            <a:ext cx="3246120" cy="82296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Stop. Nothing is negotiated.</a:t>
            </a:r>
            <a:endParaRPr lang="en-US" sz="1500" dirty="0"/>
          </a:p>
        </p:txBody>
      </p:sp>
      <p:sp>
        <p:nvSpPr>
          <p:cNvPr id="46" name="Shape 44"/>
          <p:cNvSpPr/>
          <p:nvPr/>
        </p:nvSpPr>
        <p:spPr>
          <a:xfrm>
            <a:off x="4343400" y="4480560"/>
            <a:ext cx="3611880" cy="1691640"/>
          </a:xfrm>
          <a:prstGeom prst="roundRect">
            <a:avLst>
              <a:gd name="adj" fmla="val 4324"/>
            </a:avLst>
          </a:prstGeom>
          <a:solidFill>
            <a:srgbClr val="FFFFFF"/>
          </a:solidFill>
          <a:ln/>
          <a:effectLst>
            <a:outerShdw sx="100000" sy="100000" kx="0" ky="0" algn="bl" rotWithShape="0" blurRad="152400" dist="38100" dir="5400000">
              <a:srgbClr val="0F1C2E">
                <a:alpha val="10000"/>
              </a:srgbClr>
            </a:outerShdw>
          </a:effectLst>
        </p:spPr>
      </p:sp>
      <p:sp>
        <p:nvSpPr>
          <p:cNvPr id="47" name="Text 45"/>
          <p:cNvSpPr/>
          <p:nvPr/>
        </p:nvSpPr>
        <p:spPr>
          <a:xfrm>
            <a:off x="4526280" y="4645152"/>
            <a:ext cx="3246120" cy="320040"/>
          </a:xfrm>
          <a:prstGeom prst="rect">
            <a:avLst/>
          </a:prstGeom>
          <a:noFill/>
          <a:ln/>
        </p:spPr>
        <p:txBody>
          <a:bodyPr wrap="square" lIns="0" tIns="0" rIns="0" bIns="0" rtlCol="0" anchor="t"/>
          <a:lstStyle/>
          <a:p>
            <a:pPr algn="l" indent="0" marL="0">
              <a:buNone/>
            </a:pPr>
            <a:r>
              <a:rPr lang="en-US" sz="1600" b="1" dirty="0">
                <a:solidFill>
                  <a:srgbClr val="9A5B12"/>
                </a:solidFill>
                <a:latin typeface="Calibri" pitchFamily="34" charset="0"/>
                <a:ea typeface="Calibri" pitchFamily="34" charset="-122"/>
                <a:cs typeface="Calibri" pitchFamily="34" charset="-120"/>
              </a:rPr>
              <a:t>Top two scores tie</a:t>
            </a:r>
            <a:endParaRPr lang="en-US" sz="1600" dirty="0"/>
          </a:p>
        </p:txBody>
      </p:sp>
      <p:sp>
        <p:nvSpPr>
          <p:cNvPr id="48" name="Text 46"/>
          <p:cNvSpPr/>
          <p:nvPr/>
        </p:nvSpPr>
        <p:spPr>
          <a:xfrm>
            <a:off x="4526280" y="5029200"/>
            <a:ext cx="3246120" cy="82296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Ask the person. Do not negotiate.</a:t>
            </a:r>
            <a:endParaRPr lang="en-US" sz="1500" dirty="0"/>
          </a:p>
        </p:txBody>
      </p:sp>
      <p:sp>
        <p:nvSpPr>
          <p:cNvPr id="49" name="Shape 47"/>
          <p:cNvSpPr/>
          <p:nvPr/>
        </p:nvSpPr>
        <p:spPr>
          <a:xfrm>
            <a:off x="8183880" y="4480560"/>
            <a:ext cx="3611880" cy="1691640"/>
          </a:xfrm>
          <a:prstGeom prst="roundRect">
            <a:avLst>
              <a:gd name="adj" fmla="val 4324"/>
            </a:avLst>
          </a:prstGeom>
          <a:solidFill>
            <a:srgbClr val="FFFFFF"/>
          </a:solidFill>
          <a:ln/>
          <a:effectLst>
            <a:outerShdw sx="100000" sy="100000" kx="0" ky="0" algn="bl" rotWithShape="0" blurRad="152400" dist="38100" dir="5400000">
              <a:srgbClr val="0F1C2E">
                <a:alpha val="10000"/>
              </a:srgbClr>
            </a:outerShdw>
          </a:effectLst>
        </p:spPr>
      </p:sp>
      <p:sp>
        <p:nvSpPr>
          <p:cNvPr id="50" name="Text 48"/>
          <p:cNvSpPr/>
          <p:nvPr/>
        </p:nvSpPr>
        <p:spPr>
          <a:xfrm>
            <a:off x="8366760" y="4645152"/>
            <a:ext cx="3246120" cy="320040"/>
          </a:xfrm>
          <a:prstGeom prst="rect">
            <a:avLst/>
          </a:prstGeom>
          <a:noFill/>
          <a:ln/>
        </p:spPr>
        <p:txBody>
          <a:bodyPr wrap="square" lIns="0" tIns="0" rIns="0" bIns="0" rtlCol="0" anchor="t"/>
          <a:lstStyle/>
          <a:p>
            <a:pPr algn="l" indent="0" marL="0">
              <a:buNone/>
            </a:pPr>
            <a:r>
              <a:rPr lang="en-US" sz="1600" b="1" dirty="0">
                <a:solidFill>
                  <a:srgbClr val="1E6B45"/>
                </a:solidFill>
                <a:latin typeface="Calibri" pitchFamily="34" charset="0"/>
                <a:ea typeface="Calibri" pitchFamily="34" charset="-122"/>
                <a:cs typeface="Calibri" pitchFamily="34" charset="-120"/>
              </a:rPr>
              <a:t>One seller wins</a:t>
            </a:r>
            <a:endParaRPr lang="en-US" sz="1600" dirty="0"/>
          </a:p>
        </p:txBody>
      </p:sp>
      <p:sp>
        <p:nvSpPr>
          <p:cNvPr id="51" name="Text 49"/>
          <p:cNvSpPr/>
          <p:nvPr/>
        </p:nvSpPr>
        <p:spPr>
          <a:xfrm>
            <a:off x="8366760" y="5029200"/>
            <a:ext cx="3246120" cy="82296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Ask that seller’s website only.</a:t>
            </a:r>
            <a:endParaRPr lang="en-US" sz="1500" dirty="0"/>
          </a:p>
        </p:txBody>
      </p:sp>
      <p:sp>
        <p:nvSpPr>
          <p:cNvPr id="53" name="Text 50"/>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54" name="Text 51"/>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GATE 1, READ CLOSE</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What each exit is protecting</a:t>
            </a:r>
            <a:endParaRPr lang="en-US" sz="3200" dirty="0"/>
          </a:p>
        </p:txBody>
      </p:sp>
      <p:sp>
        <p:nvSpPr>
          <p:cNvPr id="4" name="Shape 2"/>
          <p:cNvSpPr/>
          <p:nvPr/>
        </p:nvSpPr>
        <p:spPr>
          <a:xfrm>
            <a:off x="411480" y="1170432"/>
            <a:ext cx="3703320" cy="4983480"/>
          </a:xfrm>
          <a:prstGeom prst="roundRect">
            <a:avLst>
              <a:gd name="adj" fmla="val 1975"/>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612648" y="1353312"/>
            <a:ext cx="3291840" cy="365760"/>
          </a:xfrm>
          <a:prstGeom prst="rect">
            <a:avLst/>
          </a:prstGeom>
          <a:noFill/>
          <a:ln/>
        </p:spPr>
        <p:txBody>
          <a:bodyPr wrap="square" lIns="0" tIns="0" rIns="0" bIns="0" rtlCol="0" anchor="t"/>
          <a:lstStyle/>
          <a:p>
            <a:pPr algn="l" indent="0" marL="0">
              <a:buNone/>
            </a:pPr>
            <a:r>
              <a:rPr lang="en-US" sz="2200" b="1" dirty="0">
                <a:solidFill>
                  <a:srgbClr val="A33B45"/>
                </a:solidFill>
                <a:latin typeface="Cambria" pitchFamily="34" charset="0"/>
                <a:ea typeface="Cambria" pitchFamily="34" charset="-122"/>
                <a:cs typeface="Cambria" pitchFamily="34" charset="-120"/>
              </a:rPr>
              <a:t>Unsafe row</a:t>
            </a:r>
            <a:endParaRPr lang="en-US" sz="2200" dirty="0"/>
          </a:p>
        </p:txBody>
      </p:sp>
      <p:sp>
        <p:nvSpPr>
          <p:cNvPr id="6" name="Text 4"/>
          <p:cNvSpPr/>
          <p:nvPr/>
        </p:nvSpPr>
        <p:spPr>
          <a:xfrm>
            <a:off x="612648" y="1828800"/>
            <a:ext cx="3291840" cy="640080"/>
          </a:xfrm>
          <a:prstGeom prst="rect">
            <a:avLst/>
          </a:prstGeom>
          <a:noFill/>
          <a:ln/>
        </p:spPr>
        <p:txBody>
          <a:bodyPr wrap="square" lIns="0" tIns="0" rIns="0" bIns="0" rtlCol="0" anchor="t"/>
          <a:lstStyle/>
          <a:p>
            <a:pPr algn="l" indent="0" marL="0">
              <a:buNone/>
            </a:pPr>
            <a:r>
              <a:rPr lang="en-US" sz="1400" dirty="0">
                <a:solidFill>
                  <a:srgbClr val="4E6070"/>
                </a:solidFill>
                <a:latin typeface="Calibri" pitchFamily="34" charset="0"/>
                <a:ea typeface="Calibri" pitchFamily="34" charset="-122"/>
                <a:cs typeface="Calibri" pitchFamily="34" charset="-120"/>
              </a:rPr>
              <a:t>The auditor drops it and continues if a sibling is clean.</a:t>
            </a:r>
            <a:endParaRPr lang="en-US" sz="1400" dirty="0"/>
          </a:p>
        </p:txBody>
      </p:sp>
      <p:sp>
        <p:nvSpPr>
          <p:cNvPr id="7" name="Shape 5"/>
          <p:cNvSpPr/>
          <p:nvPr/>
        </p:nvSpPr>
        <p:spPr>
          <a:xfrm>
            <a:off x="640080" y="2615184"/>
            <a:ext cx="146304" cy="146304"/>
          </a:xfrm>
          <a:prstGeom prst="ellipse">
            <a:avLst/>
          </a:prstGeom>
          <a:solidFill>
            <a:srgbClr val="A33B45"/>
          </a:solidFill>
          <a:ln/>
        </p:spPr>
      </p:sp>
      <p:sp>
        <p:nvSpPr>
          <p:cNvPr id="8" name="Text 6"/>
          <p:cNvSpPr/>
          <p:nvPr/>
        </p:nvSpPr>
        <p:spPr>
          <a:xfrm>
            <a:off x="914400" y="256032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The text says to ignore the mandate.</a:t>
            </a:r>
            <a:endParaRPr lang="en-US" sz="1400" dirty="0"/>
          </a:p>
        </p:txBody>
      </p:sp>
      <p:sp>
        <p:nvSpPr>
          <p:cNvPr id="9" name="Shape 7"/>
          <p:cNvSpPr/>
          <p:nvPr/>
        </p:nvSpPr>
        <p:spPr>
          <a:xfrm>
            <a:off x="640080" y="3438144"/>
            <a:ext cx="146304" cy="146304"/>
          </a:xfrm>
          <a:prstGeom prst="ellipse">
            <a:avLst/>
          </a:prstGeom>
          <a:solidFill>
            <a:srgbClr val="A33B45"/>
          </a:solidFill>
          <a:ln/>
        </p:spPr>
      </p:sp>
      <p:sp>
        <p:nvSpPr>
          <p:cNvPr id="10" name="Text 8"/>
          <p:cNvSpPr/>
          <p:nvPr/>
        </p:nvSpPr>
        <p:spPr>
          <a:xfrm>
            <a:off x="914400" y="338328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The agent price is higher than the human price.</a:t>
            </a:r>
            <a:endParaRPr lang="en-US" sz="1400" dirty="0"/>
          </a:p>
        </p:txBody>
      </p:sp>
      <p:sp>
        <p:nvSpPr>
          <p:cNvPr id="11" name="Shape 9"/>
          <p:cNvSpPr/>
          <p:nvPr/>
        </p:nvSpPr>
        <p:spPr>
          <a:xfrm>
            <a:off x="640080" y="4261104"/>
            <a:ext cx="146304" cy="146304"/>
          </a:xfrm>
          <a:prstGeom prst="ellipse">
            <a:avLst/>
          </a:prstGeom>
          <a:solidFill>
            <a:srgbClr val="A33B45"/>
          </a:solidFill>
          <a:ln/>
        </p:spPr>
      </p:sp>
      <p:sp>
        <p:nvSpPr>
          <p:cNvPr id="12" name="Text 10"/>
          <p:cNvSpPr/>
          <p:nvPr/>
        </p:nvSpPr>
        <p:spPr>
          <a:xfrm>
            <a:off x="914400" y="420624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Shipping is missing. It is not treated as zero.</a:t>
            </a:r>
            <a:endParaRPr lang="en-US" sz="1400" dirty="0"/>
          </a:p>
        </p:txBody>
      </p:sp>
      <p:sp>
        <p:nvSpPr>
          <p:cNvPr id="13" name="Shape 11"/>
          <p:cNvSpPr/>
          <p:nvPr/>
        </p:nvSpPr>
        <p:spPr>
          <a:xfrm>
            <a:off x="640080" y="5084064"/>
            <a:ext cx="146304" cy="146304"/>
          </a:xfrm>
          <a:prstGeom prst="ellipse">
            <a:avLst/>
          </a:prstGeom>
          <a:solidFill>
            <a:srgbClr val="A33B45"/>
          </a:solidFill>
          <a:ln/>
        </p:spPr>
      </p:sp>
      <p:sp>
        <p:nvSpPr>
          <p:cNvPr id="14" name="Text 12"/>
          <p:cNvSpPr/>
          <p:nvPr/>
        </p:nvSpPr>
        <p:spPr>
          <a:xfrm>
            <a:off x="914400" y="502920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A pool emptied only by missing shipping stops the attempt.</a:t>
            </a:r>
            <a:endParaRPr lang="en-US" sz="1400" dirty="0"/>
          </a:p>
        </p:txBody>
      </p:sp>
      <p:sp>
        <p:nvSpPr>
          <p:cNvPr id="15" name="Shape 13"/>
          <p:cNvSpPr/>
          <p:nvPr/>
        </p:nvSpPr>
        <p:spPr>
          <a:xfrm>
            <a:off x="4297680" y="1170432"/>
            <a:ext cx="3703320" cy="4983480"/>
          </a:xfrm>
          <a:prstGeom prst="roundRect">
            <a:avLst>
              <a:gd name="adj" fmla="val 1975"/>
            </a:avLst>
          </a:prstGeom>
          <a:solidFill>
            <a:srgbClr val="FFFFFF"/>
          </a:solidFill>
          <a:ln/>
          <a:effectLst>
            <a:outerShdw sx="100000" sy="100000" kx="0" ky="0" algn="bl" rotWithShape="0" blurRad="152400" dist="38100" dir="5400000">
              <a:srgbClr val="0F1C2E">
                <a:alpha val="10000"/>
              </a:srgbClr>
            </a:outerShdw>
          </a:effectLst>
        </p:spPr>
      </p:sp>
      <p:sp>
        <p:nvSpPr>
          <p:cNvPr id="16" name="Text 14"/>
          <p:cNvSpPr/>
          <p:nvPr/>
        </p:nvSpPr>
        <p:spPr>
          <a:xfrm>
            <a:off x="4498848" y="1353312"/>
            <a:ext cx="3291840" cy="36576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The money gates</a:t>
            </a:r>
            <a:endParaRPr lang="en-US" sz="2200" dirty="0"/>
          </a:p>
        </p:txBody>
      </p:sp>
      <p:sp>
        <p:nvSpPr>
          <p:cNvPr id="17" name="Text 15"/>
          <p:cNvSpPr/>
          <p:nvPr/>
        </p:nvSpPr>
        <p:spPr>
          <a:xfrm>
            <a:off x="4498848" y="1828800"/>
            <a:ext cx="3291840" cy="640080"/>
          </a:xfrm>
          <a:prstGeom prst="rect">
            <a:avLst/>
          </a:prstGeom>
          <a:noFill/>
          <a:ln/>
        </p:spPr>
        <p:txBody>
          <a:bodyPr wrap="square" lIns="0" tIns="0" rIns="0" bIns="0" rtlCol="0" anchor="t"/>
          <a:lstStyle/>
          <a:p>
            <a:pPr algn="l" indent="0" marL="0">
              <a:buNone/>
            </a:pPr>
            <a:r>
              <a:rPr lang="en-US" sz="1400" dirty="0">
                <a:solidFill>
                  <a:srgbClr val="4E6070"/>
                </a:solidFill>
                <a:latin typeface="Calibri" pitchFamily="34" charset="0"/>
                <a:ea typeface="Calibri" pitchFamily="34" charset="-122"/>
                <a:cs typeface="Calibri" pitchFamily="34" charset="-120"/>
              </a:rPr>
              <a:t>The mandate applies these before a score exists.</a:t>
            </a:r>
            <a:endParaRPr lang="en-US" sz="1400" dirty="0"/>
          </a:p>
        </p:txBody>
      </p:sp>
      <p:sp>
        <p:nvSpPr>
          <p:cNvPr id="18" name="Shape 16"/>
          <p:cNvSpPr/>
          <p:nvPr/>
        </p:nvSpPr>
        <p:spPr>
          <a:xfrm>
            <a:off x="4526280" y="2615184"/>
            <a:ext cx="146304" cy="146304"/>
          </a:xfrm>
          <a:prstGeom prst="ellipse">
            <a:avLst/>
          </a:prstGeom>
          <a:solidFill>
            <a:srgbClr val="0F1C2E"/>
          </a:solidFill>
          <a:ln/>
        </p:spPr>
      </p:sp>
      <p:sp>
        <p:nvSpPr>
          <p:cNvPr id="19" name="Text 17"/>
          <p:cNvSpPr/>
          <p:nvPr/>
        </p:nvSpPr>
        <p:spPr>
          <a:xfrm>
            <a:off x="4800600" y="256032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Per item looks at the pre-coupon line. Default 250.</a:t>
            </a:r>
            <a:endParaRPr lang="en-US" sz="1400" dirty="0"/>
          </a:p>
        </p:txBody>
      </p:sp>
      <p:sp>
        <p:nvSpPr>
          <p:cNvPr id="20" name="Shape 18"/>
          <p:cNvSpPr/>
          <p:nvPr/>
        </p:nvSpPr>
        <p:spPr>
          <a:xfrm>
            <a:off x="4526280" y="3438144"/>
            <a:ext cx="146304" cy="146304"/>
          </a:xfrm>
          <a:prstGeom prst="ellipse">
            <a:avLst/>
          </a:prstGeom>
          <a:solidFill>
            <a:srgbClr val="0F1C2E"/>
          </a:solidFill>
          <a:ln/>
        </p:spPr>
      </p:sp>
      <p:sp>
        <p:nvSpPr>
          <p:cNvPr id="21" name="Text 19"/>
          <p:cNvSpPr/>
          <p:nvPr/>
        </p:nvSpPr>
        <p:spPr>
          <a:xfrm>
            <a:off x="4800600" y="338328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Per order, the share, and the week look at cash, after any card discount.</a:t>
            </a:r>
            <a:endParaRPr lang="en-US" sz="1400" dirty="0"/>
          </a:p>
        </p:txBody>
      </p:sp>
      <p:sp>
        <p:nvSpPr>
          <p:cNvPr id="22" name="Shape 20"/>
          <p:cNvSpPr/>
          <p:nvPr/>
        </p:nvSpPr>
        <p:spPr>
          <a:xfrm>
            <a:off x="4526280" y="4261104"/>
            <a:ext cx="146304" cy="146304"/>
          </a:xfrm>
          <a:prstGeom prst="ellipse">
            <a:avLst/>
          </a:prstGeom>
          <a:solidFill>
            <a:srgbClr val="0F1C2E"/>
          </a:solidFill>
          <a:ln/>
        </p:spPr>
      </p:sp>
      <p:sp>
        <p:nvSpPr>
          <p:cNvPr id="23" name="Text 21"/>
          <p:cNvSpPr/>
          <p:nvPr/>
        </p:nvSpPr>
        <p:spPr>
          <a:xfrm>
            <a:off x="4800600" y="420624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Points is not a tender, so that row fails here.</a:t>
            </a:r>
            <a:endParaRPr lang="en-US" sz="1400" dirty="0"/>
          </a:p>
        </p:txBody>
      </p:sp>
      <p:sp>
        <p:nvSpPr>
          <p:cNvPr id="24" name="Shape 22"/>
          <p:cNvSpPr/>
          <p:nvPr/>
        </p:nvSpPr>
        <p:spPr>
          <a:xfrm>
            <a:off x="4526280" y="5084064"/>
            <a:ext cx="146304" cy="146304"/>
          </a:xfrm>
          <a:prstGeom prst="ellipse">
            <a:avLst/>
          </a:prstGeom>
          <a:solidFill>
            <a:srgbClr val="0F1C2E"/>
          </a:solidFill>
          <a:ln/>
        </p:spPr>
      </p:sp>
      <p:sp>
        <p:nvSpPr>
          <p:cNvPr id="25" name="Text 23"/>
          <p:cNvSpPr/>
          <p:nvPr/>
        </p:nvSpPr>
        <p:spPr>
          <a:xfrm>
            <a:off x="4800600" y="502920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An empty merchant allow list means every seller except the deny list.</a:t>
            </a:r>
            <a:endParaRPr lang="en-US" sz="1400" dirty="0"/>
          </a:p>
        </p:txBody>
      </p:sp>
      <p:sp>
        <p:nvSpPr>
          <p:cNvPr id="26" name="Shape 24"/>
          <p:cNvSpPr/>
          <p:nvPr/>
        </p:nvSpPr>
        <p:spPr>
          <a:xfrm>
            <a:off x="8183880" y="1170432"/>
            <a:ext cx="3703320" cy="4983480"/>
          </a:xfrm>
          <a:prstGeom prst="roundRect">
            <a:avLst>
              <a:gd name="adj" fmla="val 1975"/>
            </a:avLst>
          </a:prstGeom>
          <a:solidFill>
            <a:srgbClr val="FFFFFF"/>
          </a:solidFill>
          <a:ln/>
          <a:effectLst>
            <a:outerShdw sx="100000" sy="100000" kx="0" ky="0" algn="bl" rotWithShape="0" blurRad="152400" dist="38100" dir="5400000">
              <a:srgbClr val="0F1C2E">
                <a:alpha val="10000"/>
              </a:srgbClr>
            </a:outerShdw>
          </a:effectLst>
        </p:spPr>
      </p:sp>
      <p:sp>
        <p:nvSpPr>
          <p:cNvPr id="27" name="Text 25"/>
          <p:cNvSpPr/>
          <p:nvPr/>
        </p:nvSpPr>
        <p:spPr>
          <a:xfrm>
            <a:off x="8385048" y="1353312"/>
            <a:ext cx="3291840" cy="365760"/>
          </a:xfrm>
          <a:prstGeom prst="rect">
            <a:avLst/>
          </a:prstGeom>
          <a:noFill/>
          <a:ln/>
        </p:spPr>
        <p:txBody>
          <a:bodyPr wrap="square" lIns="0" tIns="0" rIns="0" bIns="0" rtlCol="0" anchor="t"/>
          <a:lstStyle/>
          <a:p>
            <a:pPr algn="l" indent="0" marL="0">
              <a:buNone/>
            </a:pPr>
            <a:r>
              <a:rPr lang="en-US" sz="2200" b="1" dirty="0">
                <a:solidFill>
                  <a:srgbClr val="9A5B12"/>
                </a:solidFill>
                <a:latin typeface="Cambria" pitchFamily="34" charset="0"/>
                <a:ea typeface="Cambria" pitchFamily="34" charset="-122"/>
                <a:cs typeface="Cambria" pitchFamily="34" charset="-120"/>
              </a:rPr>
              <a:t>The score exits</a:t>
            </a:r>
            <a:endParaRPr lang="en-US" sz="2200" dirty="0"/>
          </a:p>
        </p:txBody>
      </p:sp>
      <p:sp>
        <p:nvSpPr>
          <p:cNvPr id="28" name="Text 26"/>
          <p:cNvSpPr/>
          <p:nvPr/>
        </p:nvSpPr>
        <p:spPr>
          <a:xfrm>
            <a:off x="8385048" y="1828800"/>
            <a:ext cx="3291840" cy="640080"/>
          </a:xfrm>
          <a:prstGeom prst="rect">
            <a:avLst/>
          </a:prstGeom>
          <a:noFill/>
          <a:ln/>
        </p:spPr>
        <p:txBody>
          <a:bodyPr wrap="square" lIns="0" tIns="0" rIns="0" bIns="0" rtlCol="0" anchor="t"/>
          <a:lstStyle/>
          <a:p>
            <a:pPr algn="l" indent="0" marL="0">
              <a:buNone/>
            </a:pPr>
            <a:r>
              <a:rPr lang="en-US" sz="1400" dirty="0">
                <a:solidFill>
                  <a:srgbClr val="4E6070"/>
                </a:solidFill>
                <a:latin typeface="Calibri" pitchFamily="34" charset="0"/>
                <a:ea typeface="Calibri" pitchFamily="34" charset="-122"/>
                <a:cs typeface="Calibri" pitchFamily="34" charset="-120"/>
              </a:rPr>
              <a:t>Ranking starts only after both filters.</a:t>
            </a:r>
            <a:endParaRPr lang="en-US" sz="1400" dirty="0"/>
          </a:p>
        </p:txBody>
      </p:sp>
      <p:sp>
        <p:nvSpPr>
          <p:cNvPr id="29" name="Shape 27"/>
          <p:cNvSpPr/>
          <p:nvPr/>
        </p:nvSpPr>
        <p:spPr>
          <a:xfrm>
            <a:off x="8412480" y="2615184"/>
            <a:ext cx="146304" cy="146304"/>
          </a:xfrm>
          <a:prstGeom prst="ellipse">
            <a:avLst/>
          </a:prstGeom>
          <a:solidFill>
            <a:srgbClr val="9A5B12"/>
          </a:solidFill>
          <a:ln/>
        </p:spPr>
      </p:sp>
      <p:sp>
        <p:nvSpPr>
          <p:cNvPr id="30" name="Text 28"/>
          <p:cNvSpPr/>
          <p:nvPr/>
        </p:nvSpPr>
        <p:spPr>
          <a:xfrm>
            <a:off x="8686800" y="256032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A tie is a gap under 0.0000000001, across sellers too.</a:t>
            </a:r>
            <a:endParaRPr lang="en-US" sz="1400" dirty="0"/>
          </a:p>
        </p:txBody>
      </p:sp>
      <p:sp>
        <p:nvSpPr>
          <p:cNvPr id="31" name="Shape 29"/>
          <p:cNvSpPr/>
          <p:nvPr/>
        </p:nvSpPr>
        <p:spPr>
          <a:xfrm>
            <a:off x="8412480" y="3438144"/>
            <a:ext cx="146304" cy="146304"/>
          </a:xfrm>
          <a:prstGeom prst="ellipse">
            <a:avLst/>
          </a:prstGeom>
          <a:solidFill>
            <a:srgbClr val="9A5B12"/>
          </a:solidFill>
          <a:ln/>
        </p:spPr>
      </p:sp>
      <p:sp>
        <p:nvSpPr>
          <p:cNvPr id="32" name="Text 30"/>
          <p:cNvSpPr/>
          <p:nvPr/>
        </p:nvSpPr>
        <p:spPr>
          <a:xfrm>
            <a:off x="8686800" y="338328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The person picks, or 120 seconds ends the attempt.</a:t>
            </a:r>
            <a:endParaRPr lang="en-US" sz="1400" dirty="0"/>
          </a:p>
        </p:txBody>
      </p:sp>
      <p:sp>
        <p:nvSpPr>
          <p:cNvPr id="33" name="Shape 31"/>
          <p:cNvSpPr/>
          <p:nvPr/>
        </p:nvSpPr>
        <p:spPr>
          <a:xfrm>
            <a:off x="8412480" y="4261104"/>
            <a:ext cx="146304" cy="146304"/>
          </a:xfrm>
          <a:prstGeom prst="ellipse">
            <a:avLst/>
          </a:prstGeom>
          <a:solidFill>
            <a:srgbClr val="9A5B12"/>
          </a:solidFill>
          <a:ln/>
        </p:spPr>
      </p:sp>
      <p:sp>
        <p:nvSpPr>
          <p:cNvPr id="34" name="Text 32"/>
          <p:cNvSpPr/>
          <p:nvPr/>
        </p:nvSpPr>
        <p:spPr>
          <a:xfrm>
            <a:off x="8686800" y="420624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Otherwise the winning seller, not the website, keeps its best three.</a:t>
            </a:r>
            <a:endParaRPr lang="en-US" sz="1400" dirty="0"/>
          </a:p>
        </p:txBody>
      </p:sp>
      <p:sp>
        <p:nvSpPr>
          <p:cNvPr id="35" name="Shape 33"/>
          <p:cNvSpPr/>
          <p:nvPr/>
        </p:nvSpPr>
        <p:spPr>
          <a:xfrm>
            <a:off x="8412480" y="5084064"/>
            <a:ext cx="146304" cy="146304"/>
          </a:xfrm>
          <a:prstGeom prst="ellipse">
            <a:avLst/>
          </a:prstGeom>
          <a:solidFill>
            <a:srgbClr val="9A5B12"/>
          </a:solidFill>
          <a:ln/>
        </p:spPr>
      </p:sp>
      <p:sp>
        <p:nvSpPr>
          <p:cNvPr id="36" name="Text 34"/>
          <p:cNvSpPr/>
          <p:nvPr/>
        </p:nvSpPr>
        <p:spPr>
          <a:xfrm>
            <a:off x="8686800" y="5029200"/>
            <a:ext cx="2971800" cy="7315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Other sellers are not mixed into that order.</a:t>
            </a:r>
            <a:endParaRPr lang="en-US" sz="1400" dirty="0"/>
          </a:p>
        </p:txBody>
      </p:sp>
      <p:sp>
        <p:nvSpPr>
          <p:cNvPr id="38" name="Text 35"/>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39" name="Text 36"/>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GATE 2</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What does the website answer?</a:t>
            </a:r>
            <a:endParaRPr lang="en-US" sz="3200" dirty="0"/>
          </a:p>
        </p:txBody>
      </p:sp>
      <p:sp>
        <p:nvSpPr>
          <p:cNvPr id="4" name="Text 2"/>
          <p:cNvSpPr/>
          <p:nvPr/>
        </p:nvSpPr>
        <p:spPr>
          <a:xfrm>
            <a:off x="502920" y="1024128"/>
            <a:ext cx="11155680" cy="256032"/>
          </a:xfrm>
          <a:prstGeom prst="rect">
            <a:avLst/>
          </a:prstGeom>
          <a:noFill/>
          <a:ln/>
        </p:spPr>
        <p:txBody>
          <a:bodyPr wrap="square" lIns="0" tIns="0" rIns="0" bIns="0" rtlCol="0" anchor="t"/>
          <a:lstStyle/>
          <a:p>
            <a:pPr algn="l" indent="0" marL="0">
              <a:buNone/>
            </a:pPr>
            <a:r>
              <a:rPr lang="en-US" sz="1400" dirty="0">
                <a:solidFill>
                  <a:srgbClr val="4E6070"/>
                </a:solidFill>
                <a:latin typeface="Calibri" pitchFamily="34" charset="0"/>
                <a:ea typeface="Calibri" pitchFamily="34" charset="-122"/>
                <a:cs typeface="Calibri" pitchFamily="34" charset="-120"/>
              </a:rPr>
              <a:t>One catalogue request. The shelf stays the shelf. Shipping or the coupon may change once.</a:t>
            </a:r>
            <a:endParaRPr lang="en-US" sz="1400" dirty="0"/>
          </a:p>
        </p:txBody>
      </p:sp>
      <p:sp>
        <p:nvSpPr>
          <p:cNvPr id="5" name="Shape 3"/>
          <p:cNvSpPr/>
          <p:nvPr/>
        </p:nvSpPr>
        <p:spPr>
          <a:xfrm>
            <a:off x="411480" y="1417320"/>
            <a:ext cx="2148840" cy="1417320"/>
          </a:xfrm>
          <a:prstGeom prst="roundRect">
            <a:avLst>
              <a:gd name="adj" fmla="val 5161"/>
            </a:avLst>
          </a:prstGeom>
          <a:solidFill>
            <a:srgbClr val="F8E8EA"/>
          </a:solidFill>
          <a:ln/>
        </p:spPr>
      </p:sp>
      <p:sp>
        <p:nvSpPr>
          <p:cNvPr id="6" name="Text 4"/>
          <p:cNvSpPr/>
          <p:nvPr/>
        </p:nvSpPr>
        <p:spPr>
          <a:xfrm>
            <a:off x="484632" y="1508760"/>
            <a:ext cx="2002536" cy="123444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Rejected, or out of stock</a:t>
            </a:r>
            <a:endParaRPr lang="en-US" sz="1300" dirty="0"/>
          </a:p>
        </p:txBody>
      </p:sp>
      <p:sp>
        <p:nvSpPr>
          <p:cNvPr id="7" name="Shape 5"/>
          <p:cNvSpPr/>
          <p:nvPr/>
        </p:nvSpPr>
        <p:spPr>
          <a:xfrm>
            <a:off x="2788920" y="1554480"/>
            <a:ext cx="1965960" cy="1143000"/>
          </a:xfrm>
          <a:prstGeom prst="roundRect">
            <a:avLst>
              <a:gd name="adj" fmla="val 6400"/>
            </a:avLst>
          </a:prstGeom>
          <a:solidFill>
            <a:srgbClr val="EEF2F5"/>
          </a:solidFill>
          <a:ln/>
        </p:spPr>
      </p:sp>
      <p:sp>
        <p:nvSpPr>
          <p:cNvPr id="8" name="Text 6"/>
          <p:cNvSpPr/>
          <p:nvPr/>
        </p:nvSpPr>
        <p:spPr>
          <a:xfrm>
            <a:off x="2862072" y="1645920"/>
            <a:ext cx="1819656" cy="96012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Only this seller is asked</a:t>
            </a:r>
            <a:endParaRPr lang="en-US" sz="1300" dirty="0"/>
          </a:p>
        </p:txBody>
      </p:sp>
      <p:sp>
        <p:nvSpPr>
          <p:cNvPr id="9" name="Shape 7"/>
          <p:cNvSpPr/>
          <p:nvPr/>
        </p:nvSpPr>
        <p:spPr>
          <a:xfrm>
            <a:off x="2606040" y="2057400"/>
            <a:ext cx="182880" cy="109728"/>
          </a:xfrm>
          <a:prstGeom prst="rightArrow">
            <a:avLst/>
          </a:prstGeom>
          <a:solidFill>
            <a:srgbClr val="8AA0B2"/>
          </a:solidFill>
          <a:ln/>
        </p:spPr>
      </p:sp>
      <p:sp>
        <p:nvSpPr>
          <p:cNvPr id="10" name="Shape 8"/>
          <p:cNvSpPr/>
          <p:nvPr/>
        </p:nvSpPr>
        <p:spPr>
          <a:xfrm>
            <a:off x="4800600" y="2057400"/>
            <a:ext cx="182880" cy="109728"/>
          </a:xfrm>
          <a:prstGeom prst="rightArrow">
            <a:avLst/>
          </a:prstGeom>
          <a:solidFill>
            <a:srgbClr val="8AA0B2"/>
          </a:solidFill>
          <a:ln/>
        </p:spPr>
      </p:sp>
      <p:sp>
        <p:nvSpPr>
          <p:cNvPr id="11" name="Shape 9"/>
          <p:cNvSpPr/>
          <p:nvPr/>
        </p:nvSpPr>
        <p:spPr>
          <a:xfrm>
            <a:off x="4937760" y="1554480"/>
            <a:ext cx="1965960" cy="1143000"/>
          </a:xfrm>
          <a:prstGeom prst="roundRect">
            <a:avLst>
              <a:gd name="adj" fmla="val 6400"/>
            </a:avLst>
          </a:prstGeom>
          <a:solidFill>
            <a:srgbClr val="EEF2F5"/>
          </a:solidFill>
          <a:ln/>
        </p:spPr>
      </p:sp>
      <p:sp>
        <p:nvSpPr>
          <p:cNvPr id="12" name="Text 10"/>
          <p:cNvSpPr/>
          <p:nvPr/>
        </p:nvSpPr>
        <p:spPr>
          <a:xfrm>
            <a:off x="5010912" y="1645920"/>
            <a:ext cx="1819656" cy="96012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Another of its top three?</a:t>
            </a:r>
            <a:endParaRPr lang="en-US" sz="1300" dirty="0"/>
          </a:p>
        </p:txBody>
      </p:sp>
      <p:sp>
        <p:nvSpPr>
          <p:cNvPr id="13" name="Shape 11"/>
          <p:cNvSpPr/>
          <p:nvPr/>
        </p:nvSpPr>
        <p:spPr>
          <a:xfrm>
            <a:off x="7040880" y="1527048"/>
            <a:ext cx="1536192" cy="1188720"/>
          </a:xfrm>
          <a:prstGeom prst="roundRect">
            <a:avLst>
              <a:gd name="adj" fmla="val 6154"/>
            </a:avLst>
          </a:prstGeom>
          <a:solidFill>
            <a:srgbClr val="FFFFFF"/>
          </a:solidFill>
          <a:ln/>
          <a:effectLst>
            <a:outerShdw sx="100000" sy="100000" kx="0" ky="0" algn="bl" rotWithShape="0" blurRad="152400" dist="38100" dir="5400000">
              <a:srgbClr val="0F1C2E">
                <a:alpha val="10000"/>
              </a:srgbClr>
            </a:outerShdw>
          </a:effectLst>
        </p:spPr>
      </p:sp>
      <p:sp>
        <p:nvSpPr>
          <p:cNvPr id="14" name="Text 12"/>
          <p:cNvSpPr/>
          <p:nvPr/>
        </p:nvSpPr>
        <p:spPr>
          <a:xfrm>
            <a:off x="7114032" y="1618488"/>
            <a:ext cx="1371600" cy="365760"/>
          </a:xfrm>
          <a:prstGeom prst="rect">
            <a:avLst/>
          </a:prstGeom>
          <a:noFill/>
          <a:ln/>
        </p:spPr>
        <p:txBody>
          <a:bodyPr wrap="square" lIns="0" tIns="0" rIns="0" bIns="0" rtlCol="0" anchor="t"/>
          <a:lstStyle/>
          <a:p>
            <a:pPr algn="ctr" indent="0" marL="0">
              <a:buNone/>
            </a:pPr>
            <a:r>
              <a:rPr lang="en-US" sz="1200" b="1" dirty="0">
                <a:solidFill>
                  <a:srgbClr val="1E6B45"/>
                </a:solidFill>
                <a:latin typeface="Calibri" pitchFamily="34" charset="0"/>
                <a:ea typeface="Calibri" pitchFamily="34" charset="-122"/>
                <a:cs typeface="Calibri" pitchFamily="34" charset="-120"/>
              </a:rPr>
              <a:t>Yes</a:t>
            </a:r>
            <a:endParaRPr lang="en-US" sz="1200" dirty="0"/>
          </a:p>
        </p:txBody>
      </p:sp>
      <p:sp>
        <p:nvSpPr>
          <p:cNvPr id="15" name="Text 13"/>
          <p:cNvSpPr/>
          <p:nvPr/>
        </p:nvSpPr>
        <p:spPr>
          <a:xfrm>
            <a:off x="7114032" y="1984248"/>
            <a:ext cx="1371600" cy="594360"/>
          </a:xfrm>
          <a:prstGeom prst="rect">
            <a:avLst/>
          </a:prstGeom>
          <a:noFill/>
          <a:ln/>
        </p:spPr>
        <p:txBody>
          <a:bodyPr wrap="square" lIns="0" tIns="0" rIns="0" bIns="0" rtlCol="0" anchor="t"/>
          <a:lstStyle/>
          <a:p>
            <a:pPr algn="ctr" indent="0" marL="0">
              <a:buNone/>
            </a:pPr>
            <a:r>
              <a:rPr lang="en-US" sz="1100" dirty="0">
                <a:solidFill>
                  <a:srgbClr val="14202C"/>
                </a:solidFill>
                <a:latin typeface="Calibri" pitchFamily="34" charset="0"/>
                <a:ea typeface="Calibri" pitchFamily="34" charset="-122"/>
                <a:cs typeface="Calibri" pitchFamily="34" charset="-120"/>
              </a:rPr>
              <a:t>Ask the next row</a:t>
            </a:r>
            <a:endParaRPr lang="en-US" sz="1100" dirty="0"/>
          </a:p>
        </p:txBody>
      </p:sp>
      <p:sp>
        <p:nvSpPr>
          <p:cNvPr id="16" name="Shape 14"/>
          <p:cNvSpPr/>
          <p:nvPr/>
        </p:nvSpPr>
        <p:spPr>
          <a:xfrm>
            <a:off x="8668512" y="1527048"/>
            <a:ext cx="1536192" cy="1188720"/>
          </a:xfrm>
          <a:prstGeom prst="roundRect">
            <a:avLst>
              <a:gd name="adj" fmla="val 6154"/>
            </a:avLst>
          </a:prstGeom>
          <a:solidFill>
            <a:srgbClr val="FFFFFF"/>
          </a:solidFill>
          <a:ln/>
          <a:effectLst>
            <a:outerShdw sx="100000" sy="100000" kx="0" ky="0" algn="bl" rotWithShape="0" blurRad="152400" dist="38100" dir="5400000">
              <a:srgbClr val="0F1C2E">
                <a:alpha val="10000"/>
              </a:srgbClr>
            </a:outerShdw>
          </a:effectLst>
        </p:spPr>
      </p:sp>
      <p:sp>
        <p:nvSpPr>
          <p:cNvPr id="17" name="Text 15"/>
          <p:cNvSpPr/>
          <p:nvPr/>
        </p:nvSpPr>
        <p:spPr>
          <a:xfrm>
            <a:off x="8741664" y="1618488"/>
            <a:ext cx="1371600" cy="365760"/>
          </a:xfrm>
          <a:prstGeom prst="rect">
            <a:avLst/>
          </a:prstGeom>
          <a:noFill/>
          <a:ln/>
        </p:spPr>
        <p:txBody>
          <a:bodyPr wrap="square" lIns="0" tIns="0" rIns="0" bIns="0" rtlCol="0" anchor="t"/>
          <a:lstStyle/>
          <a:p>
            <a:pPr algn="ctr" indent="0" marL="0">
              <a:buNone/>
            </a:pPr>
            <a:r>
              <a:rPr lang="en-US" sz="1200" b="1" dirty="0">
                <a:solidFill>
                  <a:srgbClr val="A33B45"/>
                </a:solidFill>
                <a:latin typeface="Calibri" pitchFamily="34" charset="0"/>
                <a:ea typeface="Calibri" pitchFamily="34" charset="-122"/>
                <a:cs typeface="Calibri" pitchFamily="34" charset="-120"/>
              </a:rPr>
              <a:t>No</a:t>
            </a:r>
            <a:endParaRPr lang="en-US" sz="1200" dirty="0"/>
          </a:p>
        </p:txBody>
      </p:sp>
      <p:sp>
        <p:nvSpPr>
          <p:cNvPr id="18" name="Text 16"/>
          <p:cNvSpPr/>
          <p:nvPr/>
        </p:nvSpPr>
        <p:spPr>
          <a:xfrm>
            <a:off x="8741664" y="1984248"/>
            <a:ext cx="1371600" cy="594360"/>
          </a:xfrm>
          <a:prstGeom prst="rect">
            <a:avLst/>
          </a:prstGeom>
          <a:noFill/>
          <a:ln/>
        </p:spPr>
        <p:txBody>
          <a:bodyPr wrap="square" lIns="0" tIns="0" rIns="0" bIns="0" rtlCol="0" anchor="t"/>
          <a:lstStyle/>
          <a:p>
            <a:pPr algn="ctr" indent="0" marL="0">
              <a:buNone/>
            </a:pPr>
            <a:r>
              <a:rPr lang="en-US" sz="1100" dirty="0">
                <a:solidFill>
                  <a:srgbClr val="14202C"/>
                </a:solidFill>
                <a:latin typeface="Calibri" pitchFamily="34" charset="0"/>
                <a:ea typeface="Calibri" pitchFamily="34" charset="-122"/>
                <a:cs typeface="Calibri" pitchFamily="34" charset="-120"/>
              </a:rPr>
              <a:t>Stop. Coupon unused</a:t>
            </a:r>
            <a:endParaRPr lang="en-US" sz="1100" dirty="0"/>
          </a:p>
        </p:txBody>
      </p:sp>
      <p:sp>
        <p:nvSpPr>
          <p:cNvPr id="19" name="Shape 17"/>
          <p:cNvSpPr/>
          <p:nvPr/>
        </p:nvSpPr>
        <p:spPr>
          <a:xfrm>
            <a:off x="411480" y="3063240"/>
            <a:ext cx="2148840" cy="1417320"/>
          </a:xfrm>
          <a:prstGeom prst="roundRect">
            <a:avLst>
              <a:gd name="adj" fmla="val 5161"/>
            </a:avLst>
          </a:prstGeom>
          <a:solidFill>
            <a:srgbClr val="FBF3E4"/>
          </a:solidFill>
          <a:ln/>
        </p:spPr>
      </p:sp>
      <p:sp>
        <p:nvSpPr>
          <p:cNvPr id="20" name="Text 18"/>
          <p:cNvSpPr/>
          <p:nvPr/>
        </p:nvSpPr>
        <p:spPr>
          <a:xfrm>
            <a:off x="484632" y="3154680"/>
            <a:ext cx="2002536" cy="123444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One counter</a:t>
            </a:r>
            <a:endParaRPr lang="en-US" sz="1300" dirty="0"/>
          </a:p>
        </p:txBody>
      </p:sp>
      <p:sp>
        <p:nvSpPr>
          <p:cNvPr id="21" name="Shape 19"/>
          <p:cNvSpPr/>
          <p:nvPr/>
        </p:nvSpPr>
        <p:spPr>
          <a:xfrm>
            <a:off x="2788920" y="3200400"/>
            <a:ext cx="1965960" cy="1143000"/>
          </a:xfrm>
          <a:prstGeom prst="roundRect">
            <a:avLst>
              <a:gd name="adj" fmla="val 6400"/>
            </a:avLst>
          </a:prstGeom>
          <a:solidFill>
            <a:srgbClr val="EEF2F5"/>
          </a:solidFill>
          <a:ln/>
        </p:spPr>
      </p:sp>
      <p:sp>
        <p:nvSpPr>
          <p:cNvPr id="22" name="Text 20"/>
          <p:cNvSpPr/>
          <p:nvPr/>
        </p:nvSpPr>
        <p:spPr>
          <a:xfrm>
            <a:off x="2862072" y="3291840"/>
            <a:ext cx="1819656" cy="96012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Auditor reads the reason</a:t>
            </a:r>
            <a:endParaRPr lang="en-US" sz="1300" dirty="0"/>
          </a:p>
        </p:txBody>
      </p:sp>
      <p:sp>
        <p:nvSpPr>
          <p:cNvPr id="23" name="Shape 21"/>
          <p:cNvSpPr/>
          <p:nvPr/>
        </p:nvSpPr>
        <p:spPr>
          <a:xfrm>
            <a:off x="2606040" y="3703320"/>
            <a:ext cx="182880" cy="109728"/>
          </a:xfrm>
          <a:prstGeom prst="rightArrow">
            <a:avLst/>
          </a:prstGeom>
          <a:solidFill>
            <a:srgbClr val="8AA0B2"/>
          </a:solidFill>
          <a:ln/>
        </p:spPr>
      </p:sp>
      <p:sp>
        <p:nvSpPr>
          <p:cNvPr id="24" name="Shape 22"/>
          <p:cNvSpPr/>
          <p:nvPr/>
        </p:nvSpPr>
        <p:spPr>
          <a:xfrm>
            <a:off x="4800600" y="3703320"/>
            <a:ext cx="182880" cy="109728"/>
          </a:xfrm>
          <a:prstGeom prst="rightArrow">
            <a:avLst/>
          </a:prstGeom>
          <a:solidFill>
            <a:srgbClr val="8AA0B2"/>
          </a:solidFill>
          <a:ln/>
        </p:spPr>
      </p:sp>
      <p:sp>
        <p:nvSpPr>
          <p:cNvPr id="25" name="Shape 23"/>
          <p:cNvSpPr/>
          <p:nvPr/>
        </p:nvSpPr>
        <p:spPr>
          <a:xfrm>
            <a:off x="4937760" y="3200400"/>
            <a:ext cx="1965960" cy="1143000"/>
          </a:xfrm>
          <a:prstGeom prst="roundRect">
            <a:avLst>
              <a:gd name="adj" fmla="val 6400"/>
            </a:avLst>
          </a:prstGeom>
          <a:solidFill>
            <a:srgbClr val="EEF2F5"/>
          </a:solidFill>
          <a:ln/>
        </p:spPr>
      </p:sp>
      <p:sp>
        <p:nvSpPr>
          <p:cNvPr id="26" name="Text 24"/>
          <p:cNvSpPr/>
          <p:nvPr/>
        </p:nvSpPr>
        <p:spPr>
          <a:xfrm>
            <a:off x="5010912" y="3291840"/>
            <a:ext cx="1819656" cy="96012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Mandate checks the cash</a:t>
            </a:r>
            <a:endParaRPr lang="en-US" sz="1300" dirty="0"/>
          </a:p>
        </p:txBody>
      </p:sp>
      <p:sp>
        <p:nvSpPr>
          <p:cNvPr id="27" name="Shape 25"/>
          <p:cNvSpPr/>
          <p:nvPr/>
        </p:nvSpPr>
        <p:spPr>
          <a:xfrm>
            <a:off x="7040880" y="3172968"/>
            <a:ext cx="1536192" cy="1188720"/>
          </a:xfrm>
          <a:prstGeom prst="roundRect">
            <a:avLst>
              <a:gd name="adj" fmla="val 6154"/>
            </a:avLst>
          </a:prstGeom>
          <a:solidFill>
            <a:srgbClr val="FFFFFF"/>
          </a:solidFill>
          <a:ln/>
          <a:effectLst>
            <a:outerShdw sx="100000" sy="100000" kx="0" ky="0" algn="bl" rotWithShape="0" blurRad="152400" dist="38100" dir="5400000">
              <a:srgbClr val="0F1C2E">
                <a:alpha val="10000"/>
              </a:srgbClr>
            </a:outerShdw>
          </a:effectLst>
        </p:spPr>
      </p:sp>
      <p:sp>
        <p:nvSpPr>
          <p:cNvPr id="28" name="Text 26"/>
          <p:cNvSpPr/>
          <p:nvPr/>
        </p:nvSpPr>
        <p:spPr>
          <a:xfrm>
            <a:off x="7114032" y="3264408"/>
            <a:ext cx="1371600" cy="365760"/>
          </a:xfrm>
          <a:prstGeom prst="rect">
            <a:avLst/>
          </a:prstGeom>
          <a:noFill/>
          <a:ln/>
        </p:spPr>
        <p:txBody>
          <a:bodyPr wrap="square" lIns="0" tIns="0" rIns="0" bIns="0" rtlCol="0" anchor="t"/>
          <a:lstStyle/>
          <a:p>
            <a:pPr algn="ctr" indent="0" marL="0">
              <a:buNone/>
            </a:pPr>
            <a:r>
              <a:rPr lang="en-US" sz="1200" b="1" dirty="0">
                <a:solidFill>
                  <a:srgbClr val="A33B45"/>
                </a:solidFill>
                <a:latin typeface="Calibri" pitchFamily="34" charset="0"/>
                <a:ea typeface="Calibri" pitchFamily="34" charset="-122"/>
                <a:cs typeface="Calibri" pitchFamily="34" charset="-120"/>
              </a:rPr>
              <a:t>Instruction</a:t>
            </a:r>
            <a:endParaRPr lang="en-US" sz="1200" dirty="0"/>
          </a:p>
        </p:txBody>
      </p:sp>
      <p:sp>
        <p:nvSpPr>
          <p:cNvPr id="29" name="Text 27"/>
          <p:cNvSpPr/>
          <p:nvPr/>
        </p:nvSpPr>
        <p:spPr>
          <a:xfrm>
            <a:off x="7114032" y="3630168"/>
            <a:ext cx="1371600" cy="594360"/>
          </a:xfrm>
          <a:prstGeom prst="rect">
            <a:avLst/>
          </a:prstGeom>
          <a:noFill/>
          <a:ln/>
        </p:spPr>
        <p:txBody>
          <a:bodyPr wrap="square" lIns="0" tIns="0" rIns="0" bIns="0" rtlCol="0" anchor="t"/>
          <a:lstStyle/>
          <a:p>
            <a:pPr algn="ctr" indent="0" marL="0">
              <a:buNone/>
            </a:pPr>
            <a:r>
              <a:rPr lang="en-US" sz="1100" dirty="0">
                <a:solidFill>
                  <a:srgbClr val="14202C"/>
                </a:solidFill>
                <a:latin typeface="Calibri" pitchFamily="34" charset="0"/>
                <a:ea typeface="Calibri" pitchFamily="34" charset="-122"/>
                <a:cs typeface="Calibri" pitchFamily="34" charset="-120"/>
              </a:rPr>
              <a:t>Skip the row</a:t>
            </a:r>
            <a:endParaRPr lang="en-US" sz="1100" dirty="0"/>
          </a:p>
        </p:txBody>
      </p:sp>
      <p:sp>
        <p:nvSpPr>
          <p:cNvPr id="30" name="Shape 28"/>
          <p:cNvSpPr/>
          <p:nvPr/>
        </p:nvSpPr>
        <p:spPr>
          <a:xfrm>
            <a:off x="8668512" y="3172968"/>
            <a:ext cx="1536192" cy="1188720"/>
          </a:xfrm>
          <a:prstGeom prst="roundRect">
            <a:avLst>
              <a:gd name="adj" fmla="val 6154"/>
            </a:avLst>
          </a:prstGeom>
          <a:solidFill>
            <a:srgbClr val="FFFFFF"/>
          </a:solidFill>
          <a:ln/>
          <a:effectLst>
            <a:outerShdw sx="100000" sy="100000" kx="0" ky="0" algn="bl" rotWithShape="0" blurRad="152400" dist="38100" dir="5400000">
              <a:srgbClr val="0F1C2E">
                <a:alpha val="10000"/>
              </a:srgbClr>
            </a:outerShdw>
          </a:effectLst>
        </p:spPr>
      </p:sp>
      <p:sp>
        <p:nvSpPr>
          <p:cNvPr id="31" name="Text 29"/>
          <p:cNvSpPr/>
          <p:nvPr/>
        </p:nvSpPr>
        <p:spPr>
          <a:xfrm>
            <a:off x="8741664" y="3264408"/>
            <a:ext cx="1371600" cy="365760"/>
          </a:xfrm>
          <a:prstGeom prst="rect">
            <a:avLst/>
          </a:prstGeom>
          <a:noFill/>
          <a:ln/>
        </p:spPr>
        <p:txBody>
          <a:bodyPr wrap="square" lIns="0" tIns="0" rIns="0" bIns="0" rtlCol="0" anchor="t"/>
          <a:lstStyle/>
          <a:p>
            <a:pPr algn="ctr" indent="0" marL="0">
              <a:buNone/>
            </a:pPr>
            <a:r>
              <a:rPr lang="en-US" sz="1200" b="1" dirty="0">
                <a:solidFill>
                  <a:srgbClr val="1E6B45"/>
                </a:solidFill>
                <a:latin typeface="Calibri" pitchFamily="34" charset="0"/>
                <a:ea typeface="Calibri" pitchFamily="34" charset="-122"/>
                <a:cs typeface="Calibri" pitchFamily="34" charset="-120"/>
              </a:rPr>
              <a:t>Cash fits</a:t>
            </a:r>
            <a:endParaRPr lang="en-US" sz="1200" dirty="0"/>
          </a:p>
        </p:txBody>
      </p:sp>
      <p:sp>
        <p:nvSpPr>
          <p:cNvPr id="32" name="Text 30"/>
          <p:cNvSpPr/>
          <p:nvPr/>
        </p:nvSpPr>
        <p:spPr>
          <a:xfrm>
            <a:off x="8741664" y="3630168"/>
            <a:ext cx="1371600" cy="594360"/>
          </a:xfrm>
          <a:prstGeom prst="rect">
            <a:avLst/>
          </a:prstGeom>
          <a:noFill/>
          <a:ln/>
        </p:spPr>
        <p:txBody>
          <a:bodyPr wrap="square" lIns="0" tIns="0" rIns="0" bIns="0" rtlCol="0" anchor="t"/>
          <a:lstStyle/>
          <a:p>
            <a:pPr algn="ctr" indent="0" marL="0">
              <a:buNone/>
            </a:pPr>
            <a:r>
              <a:rPr lang="en-US" sz="1100" dirty="0">
                <a:solidFill>
                  <a:srgbClr val="14202C"/>
                </a:solidFill>
                <a:latin typeface="Calibri" pitchFamily="34" charset="0"/>
                <a:ea typeface="Calibri" pitchFamily="34" charset="-122"/>
                <a:cs typeface="Calibri" pitchFamily="34" charset="-120"/>
              </a:rPr>
              <a:t>Quote held</a:t>
            </a:r>
            <a:endParaRPr lang="en-US" sz="1100" dirty="0"/>
          </a:p>
        </p:txBody>
      </p:sp>
      <p:sp>
        <p:nvSpPr>
          <p:cNvPr id="33" name="Shape 31"/>
          <p:cNvSpPr/>
          <p:nvPr/>
        </p:nvSpPr>
        <p:spPr>
          <a:xfrm>
            <a:off x="10296144" y="3172968"/>
            <a:ext cx="1536192" cy="1188720"/>
          </a:xfrm>
          <a:prstGeom prst="roundRect">
            <a:avLst>
              <a:gd name="adj" fmla="val 6154"/>
            </a:avLst>
          </a:prstGeom>
          <a:solidFill>
            <a:srgbClr val="FFFFFF"/>
          </a:solidFill>
          <a:ln/>
          <a:effectLst>
            <a:outerShdw sx="100000" sy="100000" kx="0" ky="0" algn="bl" rotWithShape="0" blurRad="152400" dist="38100" dir="5400000">
              <a:srgbClr val="0F1C2E">
                <a:alpha val="10000"/>
              </a:srgbClr>
            </a:outerShdw>
          </a:effectLst>
        </p:spPr>
      </p:sp>
      <p:sp>
        <p:nvSpPr>
          <p:cNvPr id="34" name="Text 32"/>
          <p:cNvSpPr/>
          <p:nvPr/>
        </p:nvSpPr>
        <p:spPr>
          <a:xfrm>
            <a:off x="10369296" y="3264408"/>
            <a:ext cx="1371600" cy="365760"/>
          </a:xfrm>
          <a:prstGeom prst="rect">
            <a:avLst/>
          </a:prstGeom>
          <a:noFill/>
          <a:ln/>
        </p:spPr>
        <p:txBody>
          <a:bodyPr wrap="square" lIns="0" tIns="0" rIns="0" bIns="0" rtlCol="0" anchor="t"/>
          <a:lstStyle/>
          <a:p>
            <a:pPr algn="ctr" indent="0" marL="0">
              <a:buNone/>
            </a:pPr>
            <a:r>
              <a:rPr lang="en-US" sz="1200" b="1" dirty="0">
                <a:solidFill>
                  <a:srgbClr val="9A5B12"/>
                </a:solidFill>
                <a:latin typeface="Calibri" pitchFamily="34" charset="0"/>
                <a:ea typeface="Calibri" pitchFamily="34" charset="-122"/>
                <a:cs typeface="Calibri" pitchFamily="34" charset="-120"/>
              </a:rPr>
              <a:t>Cash fails</a:t>
            </a:r>
            <a:endParaRPr lang="en-US" sz="1200" dirty="0"/>
          </a:p>
        </p:txBody>
      </p:sp>
      <p:sp>
        <p:nvSpPr>
          <p:cNvPr id="35" name="Text 33"/>
          <p:cNvSpPr/>
          <p:nvPr/>
        </p:nvSpPr>
        <p:spPr>
          <a:xfrm>
            <a:off x="10369296" y="3630168"/>
            <a:ext cx="1371600" cy="594360"/>
          </a:xfrm>
          <a:prstGeom prst="rect">
            <a:avLst/>
          </a:prstGeom>
          <a:noFill/>
          <a:ln/>
        </p:spPr>
        <p:txBody>
          <a:bodyPr wrap="square" lIns="0" tIns="0" rIns="0" bIns="0" rtlCol="0" anchor="t"/>
          <a:lstStyle/>
          <a:p>
            <a:pPr algn="ctr" indent="0" marL="0">
              <a:buNone/>
            </a:pPr>
            <a:r>
              <a:rPr lang="en-US" sz="1100" dirty="0">
                <a:solidFill>
                  <a:srgbClr val="14202C"/>
                </a:solidFill>
                <a:latin typeface="Calibri" pitchFamily="34" charset="0"/>
                <a:ea typeface="Calibri" pitchFamily="34" charset="-122"/>
                <a:cs typeface="Calibri" pitchFamily="34" charset="-120"/>
              </a:rPr>
              <a:t>Try the next row</a:t>
            </a:r>
            <a:endParaRPr lang="en-US" sz="1100" dirty="0"/>
          </a:p>
        </p:txBody>
      </p:sp>
      <p:sp>
        <p:nvSpPr>
          <p:cNvPr id="36" name="Shape 34"/>
          <p:cNvSpPr/>
          <p:nvPr/>
        </p:nvSpPr>
        <p:spPr>
          <a:xfrm>
            <a:off x="411480" y="4709160"/>
            <a:ext cx="2148840" cy="1417320"/>
          </a:xfrm>
          <a:prstGeom prst="roundRect">
            <a:avLst>
              <a:gd name="adj" fmla="val 5161"/>
            </a:avLst>
          </a:prstGeom>
          <a:solidFill>
            <a:srgbClr val="E5F2EA"/>
          </a:solidFill>
          <a:ln/>
        </p:spPr>
      </p:sp>
      <p:sp>
        <p:nvSpPr>
          <p:cNvPr id="37" name="Text 35"/>
          <p:cNvSpPr/>
          <p:nvPr/>
        </p:nvSpPr>
        <p:spPr>
          <a:xfrm>
            <a:off x="484632" y="4800600"/>
            <a:ext cx="2002536" cy="123444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Accepted</a:t>
            </a:r>
            <a:endParaRPr lang="en-US" sz="1300" dirty="0"/>
          </a:p>
        </p:txBody>
      </p:sp>
      <p:sp>
        <p:nvSpPr>
          <p:cNvPr id="38" name="Shape 36"/>
          <p:cNvSpPr/>
          <p:nvPr/>
        </p:nvSpPr>
        <p:spPr>
          <a:xfrm>
            <a:off x="2788920" y="4846320"/>
            <a:ext cx="1965960" cy="1143000"/>
          </a:xfrm>
          <a:prstGeom prst="roundRect">
            <a:avLst>
              <a:gd name="adj" fmla="val 6400"/>
            </a:avLst>
          </a:prstGeom>
          <a:solidFill>
            <a:srgbClr val="EEF2F5"/>
          </a:solidFill>
          <a:ln/>
        </p:spPr>
      </p:sp>
      <p:sp>
        <p:nvSpPr>
          <p:cNvPr id="39" name="Text 37"/>
          <p:cNvSpPr/>
          <p:nvPr/>
        </p:nvSpPr>
        <p:spPr>
          <a:xfrm>
            <a:off x="2862072" y="4937760"/>
            <a:ext cx="1819656" cy="96012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Shelf, coupon, shipping as quoted</a:t>
            </a:r>
            <a:endParaRPr lang="en-US" sz="1300" dirty="0"/>
          </a:p>
        </p:txBody>
      </p:sp>
      <p:sp>
        <p:nvSpPr>
          <p:cNvPr id="40" name="Shape 38"/>
          <p:cNvSpPr/>
          <p:nvPr/>
        </p:nvSpPr>
        <p:spPr>
          <a:xfrm>
            <a:off x="2606040" y="5349240"/>
            <a:ext cx="182880" cy="109728"/>
          </a:xfrm>
          <a:prstGeom prst="rightArrow">
            <a:avLst/>
          </a:prstGeom>
          <a:solidFill>
            <a:srgbClr val="8AA0B2"/>
          </a:solidFill>
          <a:ln/>
        </p:spPr>
      </p:sp>
      <p:sp>
        <p:nvSpPr>
          <p:cNvPr id="41" name="Shape 39"/>
          <p:cNvSpPr/>
          <p:nvPr/>
        </p:nvSpPr>
        <p:spPr>
          <a:xfrm>
            <a:off x="4800600" y="5349240"/>
            <a:ext cx="182880" cy="109728"/>
          </a:xfrm>
          <a:prstGeom prst="rightArrow">
            <a:avLst/>
          </a:prstGeom>
          <a:solidFill>
            <a:srgbClr val="8AA0B2"/>
          </a:solidFill>
          <a:ln/>
        </p:spPr>
      </p:sp>
      <p:sp>
        <p:nvSpPr>
          <p:cNvPr id="42" name="Shape 40"/>
          <p:cNvSpPr/>
          <p:nvPr/>
        </p:nvSpPr>
        <p:spPr>
          <a:xfrm>
            <a:off x="4937760" y="4846320"/>
            <a:ext cx="1965960" cy="1143000"/>
          </a:xfrm>
          <a:prstGeom prst="roundRect">
            <a:avLst>
              <a:gd name="adj" fmla="val 6400"/>
            </a:avLst>
          </a:prstGeom>
          <a:solidFill>
            <a:srgbClr val="EEF2F5"/>
          </a:solidFill>
          <a:ln/>
        </p:spPr>
      </p:sp>
      <p:sp>
        <p:nvSpPr>
          <p:cNvPr id="43" name="Text 41"/>
          <p:cNvSpPr/>
          <p:nvPr/>
        </p:nvSpPr>
        <p:spPr>
          <a:xfrm>
            <a:off x="5010912" y="4937760"/>
            <a:ext cx="1819656" cy="96012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Mandate checks that cash</a:t>
            </a:r>
            <a:endParaRPr lang="en-US" sz="1300" dirty="0"/>
          </a:p>
        </p:txBody>
      </p:sp>
      <p:sp>
        <p:nvSpPr>
          <p:cNvPr id="44" name="Shape 42"/>
          <p:cNvSpPr/>
          <p:nvPr/>
        </p:nvSpPr>
        <p:spPr>
          <a:xfrm>
            <a:off x="7040880" y="4818888"/>
            <a:ext cx="1536192" cy="1188720"/>
          </a:xfrm>
          <a:prstGeom prst="roundRect">
            <a:avLst>
              <a:gd name="adj" fmla="val 6154"/>
            </a:avLst>
          </a:prstGeom>
          <a:solidFill>
            <a:srgbClr val="FFFFFF"/>
          </a:solidFill>
          <a:ln/>
          <a:effectLst>
            <a:outerShdw sx="100000" sy="100000" kx="0" ky="0" algn="bl" rotWithShape="0" blurRad="152400" dist="38100" dir="5400000">
              <a:srgbClr val="0F1C2E">
                <a:alpha val="10000"/>
              </a:srgbClr>
            </a:outerShdw>
          </a:effectLst>
        </p:spPr>
      </p:sp>
      <p:sp>
        <p:nvSpPr>
          <p:cNvPr id="45" name="Text 43"/>
          <p:cNvSpPr/>
          <p:nvPr/>
        </p:nvSpPr>
        <p:spPr>
          <a:xfrm>
            <a:off x="7114032" y="4910328"/>
            <a:ext cx="1371600" cy="365760"/>
          </a:xfrm>
          <a:prstGeom prst="rect">
            <a:avLst/>
          </a:prstGeom>
          <a:noFill/>
          <a:ln/>
        </p:spPr>
        <p:txBody>
          <a:bodyPr wrap="square" lIns="0" tIns="0" rIns="0" bIns="0" rtlCol="0" anchor="t"/>
          <a:lstStyle/>
          <a:p>
            <a:pPr algn="ctr" indent="0" marL="0">
              <a:buNone/>
            </a:pPr>
            <a:r>
              <a:rPr lang="en-US" sz="1200" b="1" dirty="0">
                <a:solidFill>
                  <a:srgbClr val="1E6B45"/>
                </a:solidFill>
                <a:latin typeface="Calibri" pitchFamily="34" charset="0"/>
                <a:ea typeface="Calibri" pitchFamily="34" charset="-122"/>
                <a:cs typeface="Calibri" pitchFamily="34" charset="-120"/>
              </a:rPr>
              <a:t>Cash fits</a:t>
            </a:r>
            <a:endParaRPr lang="en-US" sz="1200" dirty="0"/>
          </a:p>
        </p:txBody>
      </p:sp>
      <p:sp>
        <p:nvSpPr>
          <p:cNvPr id="46" name="Text 44"/>
          <p:cNvSpPr/>
          <p:nvPr/>
        </p:nvSpPr>
        <p:spPr>
          <a:xfrm>
            <a:off x="7114032" y="5276088"/>
            <a:ext cx="1371600" cy="594360"/>
          </a:xfrm>
          <a:prstGeom prst="rect">
            <a:avLst/>
          </a:prstGeom>
          <a:noFill/>
          <a:ln/>
        </p:spPr>
        <p:txBody>
          <a:bodyPr wrap="square" lIns="0" tIns="0" rIns="0" bIns="0" rtlCol="0" anchor="t"/>
          <a:lstStyle/>
          <a:p>
            <a:pPr algn="ctr" indent="0" marL="0">
              <a:buNone/>
            </a:pPr>
            <a:r>
              <a:rPr lang="en-US" sz="1100" dirty="0">
                <a:solidFill>
                  <a:srgbClr val="14202C"/>
                </a:solidFill>
                <a:latin typeface="Calibri" pitchFamily="34" charset="0"/>
                <a:ea typeface="Calibri" pitchFamily="34" charset="-122"/>
                <a:cs typeface="Calibri" pitchFamily="34" charset="-120"/>
              </a:rPr>
              <a:t>Quote held. Coupon reserved</a:t>
            </a:r>
            <a:endParaRPr lang="en-US" sz="1100" dirty="0"/>
          </a:p>
        </p:txBody>
      </p:sp>
      <p:sp>
        <p:nvSpPr>
          <p:cNvPr id="47" name="Shape 45"/>
          <p:cNvSpPr/>
          <p:nvPr/>
        </p:nvSpPr>
        <p:spPr>
          <a:xfrm>
            <a:off x="8668512" y="4818888"/>
            <a:ext cx="1536192" cy="1188720"/>
          </a:xfrm>
          <a:prstGeom prst="roundRect">
            <a:avLst>
              <a:gd name="adj" fmla="val 6154"/>
            </a:avLst>
          </a:prstGeom>
          <a:solidFill>
            <a:srgbClr val="FFFFFF"/>
          </a:solidFill>
          <a:ln/>
          <a:effectLst>
            <a:outerShdw sx="100000" sy="100000" kx="0" ky="0" algn="bl" rotWithShape="0" blurRad="152400" dist="38100" dir="5400000">
              <a:srgbClr val="0F1C2E">
                <a:alpha val="10000"/>
              </a:srgbClr>
            </a:outerShdw>
          </a:effectLst>
        </p:spPr>
      </p:sp>
      <p:sp>
        <p:nvSpPr>
          <p:cNvPr id="48" name="Text 46"/>
          <p:cNvSpPr/>
          <p:nvPr/>
        </p:nvSpPr>
        <p:spPr>
          <a:xfrm>
            <a:off x="8741664" y="4910328"/>
            <a:ext cx="1371600" cy="365760"/>
          </a:xfrm>
          <a:prstGeom prst="rect">
            <a:avLst/>
          </a:prstGeom>
          <a:noFill/>
          <a:ln/>
        </p:spPr>
        <p:txBody>
          <a:bodyPr wrap="square" lIns="0" tIns="0" rIns="0" bIns="0" rtlCol="0" anchor="t"/>
          <a:lstStyle/>
          <a:p>
            <a:pPr algn="ctr" indent="0" marL="0">
              <a:buNone/>
            </a:pPr>
            <a:r>
              <a:rPr lang="en-US" sz="1200" b="1" dirty="0">
                <a:solidFill>
                  <a:srgbClr val="A33B45"/>
                </a:solidFill>
                <a:latin typeface="Calibri" pitchFamily="34" charset="0"/>
                <a:ea typeface="Calibri" pitchFamily="34" charset="-122"/>
                <a:cs typeface="Calibri" pitchFamily="34" charset="-120"/>
              </a:rPr>
              <a:t>Cash fails</a:t>
            </a:r>
            <a:endParaRPr lang="en-US" sz="1200" dirty="0"/>
          </a:p>
        </p:txBody>
      </p:sp>
      <p:sp>
        <p:nvSpPr>
          <p:cNvPr id="49" name="Text 47"/>
          <p:cNvSpPr/>
          <p:nvPr/>
        </p:nvSpPr>
        <p:spPr>
          <a:xfrm>
            <a:off x="8741664" y="5276088"/>
            <a:ext cx="1371600" cy="594360"/>
          </a:xfrm>
          <a:prstGeom prst="rect">
            <a:avLst/>
          </a:prstGeom>
          <a:noFill/>
          <a:ln/>
        </p:spPr>
        <p:txBody>
          <a:bodyPr wrap="square" lIns="0" tIns="0" rIns="0" bIns="0" rtlCol="0" anchor="t"/>
          <a:lstStyle/>
          <a:p>
            <a:pPr algn="ctr" indent="0" marL="0">
              <a:buNone/>
            </a:pPr>
            <a:r>
              <a:rPr lang="en-US" sz="1100" dirty="0">
                <a:solidFill>
                  <a:srgbClr val="14202C"/>
                </a:solidFill>
                <a:latin typeface="Calibri" pitchFamily="34" charset="0"/>
                <a:ea typeface="Calibri" pitchFamily="34" charset="-122"/>
                <a:cs typeface="Calibri" pitchFamily="34" charset="-120"/>
              </a:rPr>
              <a:t>The whole attempt stops</a:t>
            </a:r>
            <a:endParaRPr lang="en-US" sz="1100" dirty="0"/>
          </a:p>
        </p:txBody>
      </p:sp>
      <p:sp>
        <p:nvSpPr>
          <p:cNvPr id="51" name="Text 48"/>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52" name="Text 49"/>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GATE 2, READ CLOSE</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Three replies, three different stops</a:t>
            </a:r>
            <a:endParaRPr lang="en-US" sz="3200" dirty="0"/>
          </a:p>
        </p:txBody>
      </p:sp>
      <p:sp>
        <p:nvSpPr>
          <p:cNvPr id="4" name="Shape 2"/>
          <p:cNvSpPr/>
          <p:nvPr/>
        </p:nvSpPr>
        <p:spPr>
          <a:xfrm>
            <a:off x="411480" y="1170432"/>
            <a:ext cx="3703320" cy="4983480"/>
          </a:xfrm>
          <a:prstGeom prst="roundRect">
            <a:avLst>
              <a:gd name="adj" fmla="val 1975"/>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640080" y="1371600"/>
            <a:ext cx="3246120" cy="640080"/>
          </a:xfrm>
          <a:prstGeom prst="rect">
            <a:avLst/>
          </a:prstGeom>
          <a:noFill/>
          <a:ln/>
        </p:spPr>
        <p:txBody>
          <a:bodyPr wrap="square" lIns="0" tIns="0" rIns="0" bIns="0" rtlCol="0" anchor="t"/>
          <a:lstStyle/>
          <a:p>
            <a:pPr algn="l" indent="0" marL="0">
              <a:buNone/>
            </a:pPr>
            <a:r>
              <a:rPr lang="en-US" sz="3600" b="1" dirty="0">
                <a:solidFill>
                  <a:srgbClr val="1E6B45"/>
                </a:solidFill>
                <a:latin typeface="Cambria" pitchFamily="34" charset="0"/>
                <a:ea typeface="Cambria" pitchFamily="34" charset="-122"/>
                <a:cs typeface="Cambria" pitchFamily="34" charset="-120"/>
              </a:rPr>
              <a:t>240</a:t>
            </a:r>
            <a:endParaRPr lang="en-US" sz="3600" dirty="0"/>
          </a:p>
        </p:txBody>
      </p:sp>
      <p:sp>
        <p:nvSpPr>
          <p:cNvPr id="6" name="Text 4"/>
          <p:cNvSpPr/>
          <p:nvPr/>
        </p:nvSpPr>
        <p:spPr>
          <a:xfrm>
            <a:off x="640080" y="2103120"/>
            <a:ext cx="3246120" cy="64008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A counter that still fits</a:t>
            </a:r>
            <a:endParaRPr lang="en-US" sz="2000" dirty="0"/>
          </a:p>
        </p:txBody>
      </p:sp>
      <p:sp>
        <p:nvSpPr>
          <p:cNvPr id="7" name="Text 5"/>
          <p:cNvSpPr/>
          <p:nvPr/>
        </p:nvSpPr>
        <p:spPr>
          <a:xfrm>
            <a:off x="640080" y="2926080"/>
            <a:ext cx="3246120" cy="283464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Shelf 200, quantity 1, coupon 0. The website changes shipping from 30 to 40. The reason is “Shipping quote revised.” The auditor says that is not an instruction. Cash 240 is inside 400. The quote is held. The person has not paid.</a:t>
            </a:r>
            <a:endParaRPr lang="en-US" sz="1500" dirty="0"/>
          </a:p>
        </p:txBody>
      </p:sp>
      <p:sp>
        <p:nvSpPr>
          <p:cNvPr id="8" name="Shape 6"/>
          <p:cNvSpPr/>
          <p:nvPr/>
        </p:nvSpPr>
        <p:spPr>
          <a:xfrm>
            <a:off x="4297680" y="1170432"/>
            <a:ext cx="3703320" cy="4983480"/>
          </a:xfrm>
          <a:prstGeom prst="roundRect">
            <a:avLst>
              <a:gd name="adj" fmla="val 1975"/>
            </a:avLst>
          </a:prstGeom>
          <a:solidFill>
            <a:srgbClr val="FFFFFF"/>
          </a:solidFill>
          <a:ln/>
          <a:effectLst>
            <a:outerShdw sx="100000" sy="100000" kx="0" ky="0" algn="bl" rotWithShape="0" blurRad="152400" dist="38100" dir="5400000">
              <a:srgbClr val="0F1C2E">
                <a:alpha val="10000"/>
              </a:srgbClr>
            </a:outerShdw>
          </a:effectLst>
        </p:spPr>
      </p:sp>
      <p:sp>
        <p:nvSpPr>
          <p:cNvPr id="9" name="Text 7"/>
          <p:cNvSpPr/>
          <p:nvPr/>
        </p:nvSpPr>
        <p:spPr>
          <a:xfrm>
            <a:off x="4526280" y="1371600"/>
            <a:ext cx="3246120" cy="640080"/>
          </a:xfrm>
          <a:prstGeom prst="rect">
            <a:avLst/>
          </a:prstGeom>
          <a:noFill/>
          <a:ln/>
        </p:spPr>
        <p:txBody>
          <a:bodyPr wrap="square" lIns="0" tIns="0" rIns="0" bIns="0" rtlCol="0" anchor="t"/>
          <a:lstStyle/>
          <a:p>
            <a:pPr algn="l" indent="0" marL="0">
              <a:buNone/>
            </a:pPr>
            <a:r>
              <a:rPr lang="en-US" sz="3600" b="1" dirty="0">
                <a:solidFill>
                  <a:srgbClr val="A33B45"/>
                </a:solidFill>
                <a:latin typeface="Cambria" pitchFamily="34" charset="0"/>
                <a:ea typeface="Cambria" pitchFamily="34" charset="-122"/>
                <a:cs typeface="Cambria" pitchFamily="34" charset="-120"/>
              </a:rPr>
              <a:t>410</a:t>
            </a:r>
            <a:endParaRPr lang="en-US" sz="3600" dirty="0"/>
          </a:p>
        </p:txBody>
      </p:sp>
      <p:sp>
        <p:nvSpPr>
          <p:cNvPr id="10" name="Text 8"/>
          <p:cNvSpPr/>
          <p:nvPr/>
        </p:nvSpPr>
        <p:spPr>
          <a:xfrm>
            <a:off x="4526280" y="2103120"/>
            <a:ext cx="3246120" cy="64008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A counter that does not fit</a:t>
            </a:r>
            <a:endParaRPr lang="en-US" sz="2000" dirty="0"/>
          </a:p>
        </p:txBody>
      </p:sp>
      <p:sp>
        <p:nvSpPr>
          <p:cNvPr id="11" name="Text 9"/>
          <p:cNvSpPr/>
          <p:nvPr/>
        </p:nvSpPr>
        <p:spPr>
          <a:xfrm>
            <a:off x="4526280" y="2926080"/>
            <a:ext cx="3246120" cy="283464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Shipping 210 makes cash 410. The mandate refuses it. That coupon stays unused. The shopper asks the next row of the same seller. That row accepts at 280. A new quote is held. Still not paid.</a:t>
            </a:r>
            <a:endParaRPr lang="en-US" sz="1500" dirty="0"/>
          </a:p>
        </p:txBody>
      </p:sp>
      <p:sp>
        <p:nvSpPr>
          <p:cNvPr id="12" name="Shape 10"/>
          <p:cNvSpPr/>
          <p:nvPr/>
        </p:nvSpPr>
        <p:spPr>
          <a:xfrm>
            <a:off x="8183880" y="1170432"/>
            <a:ext cx="3703320" cy="4983480"/>
          </a:xfrm>
          <a:prstGeom prst="roundRect">
            <a:avLst>
              <a:gd name="adj" fmla="val 1975"/>
            </a:avLst>
          </a:prstGeom>
          <a:solidFill>
            <a:srgbClr val="0F1C2E"/>
          </a:solidFill>
          <a:ln/>
          <a:effectLst>
            <a:outerShdw sx="100000" sy="100000" kx="0" ky="0" algn="bl" rotWithShape="0" blurRad="152400" dist="38100" dir="5400000">
              <a:srgbClr val="0F1C2E">
                <a:alpha val="10000"/>
              </a:srgbClr>
            </a:outerShdw>
          </a:effectLst>
        </p:spPr>
      </p:sp>
      <p:sp>
        <p:nvSpPr>
          <p:cNvPr id="13" name="Text 11"/>
          <p:cNvSpPr/>
          <p:nvPr/>
        </p:nvSpPr>
        <p:spPr>
          <a:xfrm>
            <a:off x="8412480" y="1371600"/>
            <a:ext cx="3246120" cy="640080"/>
          </a:xfrm>
          <a:prstGeom prst="rect">
            <a:avLst/>
          </a:prstGeom>
          <a:noFill/>
          <a:ln/>
        </p:spPr>
        <p:txBody>
          <a:bodyPr wrap="square" lIns="0" tIns="0" rIns="0" bIns="0" rtlCol="0" anchor="t"/>
          <a:lstStyle/>
          <a:p>
            <a:pPr algn="l" indent="0" marL="0">
              <a:buNone/>
            </a:pPr>
            <a:r>
              <a:rPr lang="en-US" sz="3600" b="1" dirty="0">
                <a:solidFill>
                  <a:srgbClr val="F3D48A"/>
                </a:solidFill>
                <a:latin typeface="Cambria" pitchFamily="34" charset="0"/>
                <a:ea typeface="Cambria" pitchFamily="34" charset="-122"/>
                <a:cs typeface="Cambria" pitchFamily="34" charset="-120"/>
              </a:rPr>
              <a:t>Stop</a:t>
            </a:r>
            <a:endParaRPr lang="en-US" sz="3600" dirty="0"/>
          </a:p>
        </p:txBody>
      </p:sp>
      <p:sp>
        <p:nvSpPr>
          <p:cNvPr id="14" name="Text 12"/>
          <p:cNvSpPr/>
          <p:nvPr/>
        </p:nvSpPr>
        <p:spPr>
          <a:xfrm>
            <a:off x="8412480" y="2103120"/>
            <a:ext cx="3246120" cy="640080"/>
          </a:xfrm>
          <a:prstGeom prst="rect">
            <a:avLst/>
          </a:prstGeom>
          <a:noFill/>
          <a:ln/>
        </p:spPr>
        <p:txBody>
          <a:bodyPr wrap="square" lIns="0" tIns="0" rIns="0" bIns="0" rtlCol="0" anchor="t"/>
          <a:lstStyle/>
          <a:p>
            <a:pPr algn="l" indent="0" marL="0">
              <a:buNone/>
            </a:pPr>
            <a:r>
              <a:rPr lang="en-US" sz="2000" b="1" dirty="0">
                <a:solidFill>
                  <a:srgbClr val="FFFFFF"/>
                </a:solidFill>
                <a:latin typeface="Cambria" pitchFamily="34" charset="0"/>
                <a:ea typeface="Cambria" pitchFamily="34" charset="-122"/>
                <a:cs typeface="Cambria" pitchFamily="34" charset="-120"/>
              </a:rPr>
              <a:t>A counter that gives orders</a:t>
            </a:r>
            <a:endParaRPr lang="en-US" sz="2000" dirty="0"/>
          </a:p>
        </p:txBody>
      </p:sp>
      <p:sp>
        <p:nvSpPr>
          <p:cNvPr id="15" name="Text 13"/>
          <p:cNvSpPr/>
          <p:nvPr/>
        </p:nvSpPr>
        <p:spPr>
          <a:xfrm>
            <a:off x="8412480" y="2926080"/>
            <a:ext cx="3246120" cy="2834640"/>
          </a:xfrm>
          <a:prstGeom prst="rect">
            <a:avLst/>
          </a:prstGeom>
          <a:noFill/>
          <a:ln/>
        </p:spPr>
        <p:txBody>
          <a:bodyPr wrap="square" lIns="0" tIns="0" rIns="0" bIns="0" rtlCol="0" anchor="t"/>
          <a:lstStyle/>
          <a:p>
            <a:pPr algn="l" indent="0" marL="0">
              <a:buNone/>
            </a:pPr>
            <a:r>
              <a:rPr lang="en-US" sz="1500" dirty="0">
                <a:solidFill>
                  <a:srgbClr val="E6EDF4"/>
                </a:solidFill>
                <a:latin typeface="Calibri" pitchFamily="34" charset="0"/>
                <a:ea typeface="Calibri" pitchFamily="34" charset="-122"/>
                <a:cs typeface="Calibri" pitchFamily="34" charset="-120"/>
              </a:rPr>
              <a:t>The reason says to ignore the mandate and pay now. The auditor vetoes it. The row is skipped. If no later row fits, the attempt stops and nothing is booked.</a:t>
            </a:r>
            <a:endParaRPr lang="en-US" sz="1500" dirty="0"/>
          </a:p>
        </p:txBody>
      </p:sp>
      <p:sp>
        <p:nvSpPr>
          <p:cNvPr id="17" name="Text 14"/>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18" name="Text 15"/>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GATE 3</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May we pay?</a:t>
            </a:r>
            <a:endParaRPr lang="en-US" sz="3200" dirty="0"/>
          </a:p>
        </p:txBody>
      </p:sp>
      <p:sp>
        <p:nvSpPr>
          <p:cNvPr id="4" name="Text 2"/>
          <p:cNvSpPr/>
          <p:nvPr/>
        </p:nvSpPr>
        <p:spPr>
          <a:xfrm>
            <a:off x="502920" y="1005840"/>
            <a:ext cx="10972800" cy="256032"/>
          </a:xfrm>
          <a:prstGeom prst="rect">
            <a:avLst/>
          </a:prstGeom>
          <a:noFill/>
          <a:ln/>
        </p:spPr>
        <p:txBody>
          <a:bodyPr wrap="square" lIns="0" tIns="0" rIns="0" bIns="0" rtlCol="0" anchor="t"/>
          <a:lstStyle/>
          <a:p>
            <a:pPr algn="l" indent="0" marL="0">
              <a:buNone/>
            </a:pPr>
            <a:r>
              <a:rPr lang="en-US" sz="1400" dirty="0">
                <a:solidFill>
                  <a:srgbClr val="4E6070"/>
                </a:solidFill>
                <a:latin typeface="Calibri" pitchFamily="34" charset="0"/>
                <a:ea typeface="Calibri" pitchFamily="34" charset="-122"/>
                <a:cs typeface="Calibri" pitchFamily="34" charset="-120"/>
              </a:rPr>
              <a:t>The quote is held and the coupon is reserved. Nothing is booked until this row finishes.</a:t>
            </a:r>
            <a:endParaRPr lang="en-US" sz="1400" dirty="0"/>
          </a:p>
        </p:txBody>
      </p:sp>
      <p:sp>
        <p:nvSpPr>
          <p:cNvPr id="5" name="Shape 3"/>
          <p:cNvSpPr/>
          <p:nvPr/>
        </p:nvSpPr>
        <p:spPr>
          <a:xfrm>
            <a:off x="457200" y="1389888"/>
            <a:ext cx="1737360" cy="1051560"/>
          </a:xfrm>
          <a:prstGeom prst="roundRect">
            <a:avLst>
              <a:gd name="adj" fmla="val 6957"/>
            </a:avLst>
          </a:prstGeom>
          <a:solidFill>
            <a:srgbClr val="EEF2F5"/>
          </a:solidFill>
          <a:ln/>
        </p:spPr>
      </p:sp>
      <p:sp>
        <p:nvSpPr>
          <p:cNvPr id="6" name="Text 4"/>
          <p:cNvSpPr/>
          <p:nvPr/>
        </p:nvSpPr>
        <p:spPr>
          <a:xfrm>
            <a:off x="530352" y="1481328"/>
            <a:ext cx="1591056" cy="86868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Quote held</a:t>
            </a:r>
            <a:endParaRPr lang="en-US" sz="1300" dirty="0"/>
          </a:p>
        </p:txBody>
      </p:sp>
      <p:sp>
        <p:nvSpPr>
          <p:cNvPr id="7" name="Shape 5"/>
          <p:cNvSpPr/>
          <p:nvPr/>
        </p:nvSpPr>
        <p:spPr>
          <a:xfrm>
            <a:off x="2194560" y="1847088"/>
            <a:ext cx="182880" cy="109728"/>
          </a:xfrm>
          <a:prstGeom prst="rightArrow">
            <a:avLst/>
          </a:prstGeom>
          <a:solidFill>
            <a:srgbClr val="8AA0B2"/>
          </a:solidFill>
          <a:ln/>
        </p:spPr>
      </p:sp>
      <p:sp>
        <p:nvSpPr>
          <p:cNvPr id="8" name="Shape 6"/>
          <p:cNvSpPr/>
          <p:nvPr/>
        </p:nvSpPr>
        <p:spPr>
          <a:xfrm>
            <a:off x="2359152" y="1389888"/>
            <a:ext cx="1737360" cy="1051560"/>
          </a:xfrm>
          <a:prstGeom prst="roundRect">
            <a:avLst>
              <a:gd name="adj" fmla="val 6957"/>
            </a:avLst>
          </a:prstGeom>
          <a:solidFill>
            <a:srgbClr val="0F1C2E"/>
          </a:solidFill>
          <a:ln/>
        </p:spPr>
      </p:sp>
      <p:sp>
        <p:nvSpPr>
          <p:cNvPr id="9" name="Text 7"/>
          <p:cNvSpPr/>
          <p:nvPr/>
        </p:nvSpPr>
        <p:spPr>
          <a:xfrm>
            <a:off x="2432304" y="1481328"/>
            <a:ext cx="1591056" cy="86868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Person confirms, or auto and one clear winner</a:t>
            </a:r>
            <a:endParaRPr lang="en-US" sz="1300" dirty="0"/>
          </a:p>
        </p:txBody>
      </p:sp>
      <p:sp>
        <p:nvSpPr>
          <p:cNvPr id="10" name="Shape 8"/>
          <p:cNvSpPr/>
          <p:nvPr/>
        </p:nvSpPr>
        <p:spPr>
          <a:xfrm>
            <a:off x="4096512" y="1847088"/>
            <a:ext cx="182880" cy="109728"/>
          </a:xfrm>
          <a:prstGeom prst="rightArrow">
            <a:avLst/>
          </a:prstGeom>
          <a:solidFill>
            <a:srgbClr val="8AA0B2"/>
          </a:solidFill>
          <a:ln/>
        </p:spPr>
      </p:sp>
      <p:sp>
        <p:nvSpPr>
          <p:cNvPr id="11" name="Shape 9"/>
          <p:cNvSpPr/>
          <p:nvPr/>
        </p:nvSpPr>
        <p:spPr>
          <a:xfrm>
            <a:off x="4261104" y="1389888"/>
            <a:ext cx="1737360" cy="1051560"/>
          </a:xfrm>
          <a:prstGeom prst="roundRect">
            <a:avLst>
              <a:gd name="adj" fmla="val 6957"/>
            </a:avLst>
          </a:prstGeom>
          <a:solidFill>
            <a:srgbClr val="EEF2F5"/>
          </a:solidFill>
          <a:ln/>
        </p:spPr>
      </p:sp>
      <p:sp>
        <p:nvSpPr>
          <p:cNvPr id="12" name="Text 10"/>
          <p:cNvSpPr/>
          <p:nvPr/>
        </p:nvSpPr>
        <p:spPr>
          <a:xfrm>
            <a:off x="4334256" y="1481328"/>
            <a:ext cx="1591056" cy="86868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Form still valid, quote under 120 seconds</a:t>
            </a:r>
            <a:endParaRPr lang="en-US" sz="1300" dirty="0"/>
          </a:p>
        </p:txBody>
      </p:sp>
      <p:sp>
        <p:nvSpPr>
          <p:cNvPr id="13" name="Shape 11"/>
          <p:cNvSpPr/>
          <p:nvPr/>
        </p:nvSpPr>
        <p:spPr>
          <a:xfrm>
            <a:off x="5998464" y="1847088"/>
            <a:ext cx="182880" cy="109728"/>
          </a:xfrm>
          <a:prstGeom prst="rightArrow">
            <a:avLst/>
          </a:prstGeom>
          <a:solidFill>
            <a:srgbClr val="8AA0B2"/>
          </a:solidFill>
          <a:ln/>
        </p:spPr>
      </p:sp>
      <p:sp>
        <p:nvSpPr>
          <p:cNvPr id="14" name="Shape 12"/>
          <p:cNvSpPr/>
          <p:nvPr/>
        </p:nvSpPr>
        <p:spPr>
          <a:xfrm>
            <a:off x="6163056" y="1389888"/>
            <a:ext cx="1737360" cy="1051560"/>
          </a:xfrm>
          <a:prstGeom prst="roundRect">
            <a:avLst>
              <a:gd name="adj" fmla="val 6957"/>
            </a:avLst>
          </a:prstGeom>
          <a:solidFill>
            <a:srgbClr val="FBF3E4"/>
          </a:solidFill>
          <a:ln/>
        </p:spPr>
      </p:sp>
      <p:sp>
        <p:nvSpPr>
          <p:cNvPr id="15" name="Text 13"/>
          <p:cNvSpPr/>
          <p:nvPr/>
        </p:nvSpPr>
        <p:spPr>
          <a:xfrm>
            <a:off x="6236208" y="1481328"/>
            <a:ext cx="1591056" cy="868680"/>
          </a:xfrm>
          <a:prstGeom prst="rect">
            <a:avLst/>
          </a:prstGeom>
          <a:noFill/>
          <a:ln/>
        </p:spPr>
        <p:txBody>
          <a:bodyPr wrap="square" lIns="0" tIns="0" rIns="0" bIns="0" rtlCol="0" anchor="t"/>
          <a:lstStyle/>
          <a:p>
            <a:pPr algn="ctr" indent="0" marL="0">
              <a:buNone/>
            </a:pPr>
            <a:r>
              <a:rPr lang="en-US" sz="1300" b="1" dirty="0">
                <a:solidFill>
                  <a:srgbClr val="9A5B12"/>
                </a:solidFill>
                <a:latin typeface="Calibri" pitchFamily="34" charset="0"/>
                <a:ea typeface="Calibri" pitchFamily="34" charset="-122"/>
                <a:cs typeface="Calibri" pitchFamily="34" charset="-120"/>
              </a:rPr>
              <a:t>Same sku in 72 hours?</a:t>
            </a:r>
            <a:endParaRPr lang="en-US" sz="1300" dirty="0"/>
          </a:p>
        </p:txBody>
      </p:sp>
      <p:sp>
        <p:nvSpPr>
          <p:cNvPr id="16" name="Shape 14"/>
          <p:cNvSpPr/>
          <p:nvPr/>
        </p:nvSpPr>
        <p:spPr>
          <a:xfrm>
            <a:off x="7900416" y="1847088"/>
            <a:ext cx="182880" cy="109728"/>
          </a:xfrm>
          <a:prstGeom prst="rightArrow">
            <a:avLst/>
          </a:prstGeom>
          <a:solidFill>
            <a:srgbClr val="8AA0B2"/>
          </a:solidFill>
          <a:ln/>
        </p:spPr>
      </p:sp>
      <p:sp>
        <p:nvSpPr>
          <p:cNvPr id="17" name="Shape 15"/>
          <p:cNvSpPr/>
          <p:nvPr/>
        </p:nvSpPr>
        <p:spPr>
          <a:xfrm>
            <a:off x="8065008" y="1389888"/>
            <a:ext cx="1737360" cy="1051560"/>
          </a:xfrm>
          <a:prstGeom prst="roundRect">
            <a:avLst>
              <a:gd name="adj" fmla="val 6957"/>
            </a:avLst>
          </a:prstGeom>
          <a:solidFill>
            <a:srgbClr val="EEF2F5"/>
          </a:solidFill>
          <a:ln/>
        </p:spPr>
      </p:sp>
      <p:sp>
        <p:nvSpPr>
          <p:cNvPr id="18" name="Text 16"/>
          <p:cNvSpPr/>
          <p:nvPr/>
        </p:nvSpPr>
        <p:spPr>
          <a:xfrm>
            <a:off x="8138160" y="1481328"/>
            <a:ext cx="1591056" cy="868680"/>
          </a:xfrm>
          <a:prstGeom prst="rect">
            <a:avLst/>
          </a:prstGeom>
          <a:noFill/>
          <a:ln/>
        </p:spPr>
        <p:txBody>
          <a:bodyPr wrap="square" lIns="0" tIns="0" rIns="0" bIns="0" rtlCol="0" anchor="t"/>
          <a:lstStyle/>
          <a:p>
            <a:pPr algn="ctr" indent="0" marL="0">
              <a:buNone/>
            </a:pPr>
            <a:r>
              <a:rPr lang="en-US" sz="1300" b="1" dirty="0">
                <a:solidFill>
                  <a:srgbClr val="14202C"/>
                </a:solidFill>
                <a:latin typeface="Calibri" pitchFamily="34" charset="0"/>
                <a:ea typeface="Calibri" pitchFamily="34" charset="-122"/>
                <a:cs typeface="Calibri" pitchFamily="34" charset="-120"/>
              </a:rPr>
              <a:t>Both slips match?</a:t>
            </a:r>
            <a:endParaRPr lang="en-US" sz="1300" dirty="0"/>
          </a:p>
        </p:txBody>
      </p:sp>
      <p:sp>
        <p:nvSpPr>
          <p:cNvPr id="19" name="Shape 17"/>
          <p:cNvSpPr/>
          <p:nvPr/>
        </p:nvSpPr>
        <p:spPr>
          <a:xfrm>
            <a:off x="9802368" y="1847088"/>
            <a:ext cx="182880" cy="109728"/>
          </a:xfrm>
          <a:prstGeom prst="rightArrow">
            <a:avLst/>
          </a:prstGeom>
          <a:solidFill>
            <a:srgbClr val="8AA0B2"/>
          </a:solidFill>
          <a:ln/>
        </p:spPr>
      </p:sp>
      <p:sp>
        <p:nvSpPr>
          <p:cNvPr id="20" name="Shape 18"/>
          <p:cNvSpPr/>
          <p:nvPr/>
        </p:nvSpPr>
        <p:spPr>
          <a:xfrm>
            <a:off x="9966960" y="1389888"/>
            <a:ext cx="1737360" cy="1051560"/>
          </a:xfrm>
          <a:prstGeom prst="roundRect">
            <a:avLst>
              <a:gd name="adj" fmla="val 6957"/>
            </a:avLst>
          </a:prstGeom>
          <a:solidFill>
            <a:srgbClr val="1E6B45"/>
          </a:solidFill>
          <a:ln/>
        </p:spPr>
      </p:sp>
      <p:sp>
        <p:nvSpPr>
          <p:cNvPr id="21" name="Text 19"/>
          <p:cNvSpPr/>
          <p:nvPr/>
        </p:nvSpPr>
        <p:spPr>
          <a:xfrm>
            <a:off x="10040112" y="1481328"/>
            <a:ext cx="1591056" cy="86868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Shopper asks the payer</a:t>
            </a:r>
            <a:endParaRPr lang="en-US" sz="1300" dirty="0"/>
          </a:p>
        </p:txBody>
      </p:sp>
      <p:sp>
        <p:nvSpPr>
          <p:cNvPr id="22" name="Shape 20"/>
          <p:cNvSpPr/>
          <p:nvPr/>
        </p:nvSpPr>
        <p:spPr>
          <a:xfrm>
            <a:off x="4306824" y="2542032"/>
            <a:ext cx="1645920" cy="310896"/>
          </a:xfrm>
          <a:prstGeom prst="roundRect">
            <a:avLst>
              <a:gd name="adj" fmla="val 17647"/>
            </a:avLst>
          </a:prstGeom>
          <a:solidFill>
            <a:srgbClr val="A33B45"/>
          </a:solidFill>
          <a:ln/>
        </p:spPr>
      </p:sp>
      <p:sp>
        <p:nvSpPr>
          <p:cNvPr id="23" name="Text 21"/>
          <p:cNvSpPr/>
          <p:nvPr/>
        </p:nvSpPr>
        <p:spPr>
          <a:xfrm>
            <a:off x="4361688" y="2587752"/>
            <a:ext cx="1536192" cy="219456"/>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Stop</a:t>
            </a:r>
            <a:endParaRPr lang="en-US" sz="1100" dirty="0"/>
          </a:p>
        </p:txBody>
      </p:sp>
      <p:sp>
        <p:nvSpPr>
          <p:cNvPr id="24" name="Shape 22"/>
          <p:cNvSpPr/>
          <p:nvPr/>
        </p:nvSpPr>
        <p:spPr>
          <a:xfrm>
            <a:off x="6208776" y="2542032"/>
            <a:ext cx="1645920" cy="310896"/>
          </a:xfrm>
          <a:prstGeom prst="roundRect">
            <a:avLst>
              <a:gd name="adj" fmla="val 17647"/>
            </a:avLst>
          </a:prstGeom>
          <a:solidFill>
            <a:srgbClr val="9A5B12"/>
          </a:solidFill>
          <a:ln/>
        </p:spPr>
      </p:sp>
      <p:sp>
        <p:nvSpPr>
          <p:cNvPr id="25" name="Text 23"/>
          <p:cNvSpPr/>
          <p:nvPr/>
        </p:nvSpPr>
        <p:spPr>
          <a:xfrm>
            <a:off x="6263640" y="2587752"/>
            <a:ext cx="1536192" cy="219456"/>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Ask first</a:t>
            </a:r>
            <a:endParaRPr lang="en-US" sz="1100" dirty="0"/>
          </a:p>
        </p:txBody>
      </p:sp>
      <p:sp>
        <p:nvSpPr>
          <p:cNvPr id="26" name="Shape 24"/>
          <p:cNvSpPr/>
          <p:nvPr/>
        </p:nvSpPr>
        <p:spPr>
          <a:xfrm>
            <a:off x="8110728" y="2542032"/>
            <a:ext cx="1645920" cy="310896"/>
          </a:xfrm>
          <a:prstGeom prst="roundRect">
            <a:avLst>
              <a:gd name="adj" fmla="val 17647"/>
            </a:avLst>
          </a:prstGeom>
          <a:solidFill>
            <a:srgbClr val="A33B45"/>
          </a:solidFill>
          <a:ln/>
        </p:spPr>
      </p:sp>
      <p:sp>
        <p:nvSpPr>
          <p:cNvPr id="27" name="Text 25"/>
          <p:cNvSpPr/>
          <p:nvPr/>
        </p:nvSpPr>
        <p:spPr>
          <a:xfrm>
            <a:off x="8165592" y="2587752"/>
            <a:ext cx="1536192" cy="219456"/>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Payer not asked</a:t>
            </a:r>
            <a:endParaRPr lang="en-US" sz="1100" dirty="0"/>
          </a:p>
        </p:txBody>
      </p:sp>
      <p:sp>
        <p:nvSpPr>
          <p:cNvPr id="28" name="Shape 26"/>
          <p:cNvSpPr/>
          <p:nvPr/>
        </p:nvSpPr>
        <p:spPr>
          <a:xfrm>
            <a:off x="365760" y="3063240"/>
            <a:ext cx="2231136" cy="3017520"/>
          </a:xfrm>
          <a:prstGeom prst="roundRect">
            <a:avLst>
              <a:gd name="adj" fmla="val 3279"/>
            </a:avLst>
          </a:prstGeom>
          <a:solidFill>
            <a:srgbClr val="FFFFFF"/>
          </a:solidFill>
          <a:ln/>
          <a:effectLst>
            <a:outerShdw sx="100000" sy="100000" kx="0" ky="0" algn="bl" rotWithShape="0" blurRad="152400" dist="38100" dir="5400000">
              <a:srgbClr val="0F1C2E">
                <a:alpha val="10000"/>
              </a:srgbClr>
            </a:outerShdw>
          </a:effectLst>
        </p:spPr>
      </p:sp>
      <p:sp>
        <p:nvSpPr>
          <p:cNvPr id="29" name="Shape 27"/>
          <p:cNvSpPr/>
          <p:nvPr/>
        </p:nvSpPr>
        <p:spPr>
          <a:xfrm>
            <a:off x="530352" y="3246120"/>
            <a:ext cx="256032" cy="256032"/>
          </a:xfrm>
          <a:prstGeom prst="ellipse">
            <a:avLst/>
          </a:prstGeom>
          <a:solidFill>
            <a:srgbClr val="1E6B45"/>
          </a:solidFill>
          <a:ln/>
        </p:spPr>
      </p:sp>
      <p:sp>
        <p:nvSpPr>
          <p:cNvPr id="30" name="Text 28"/>
          <p:cNvSpPr/>
          <p:nvPr/>
        </p:nvSpPr>
        <p:spPr>
          <a:xfrm>
            <a:off x="512064" y="3657600"/>
            <a:ext cx="1938528" cy="777240"/>
          </a:xfrm>
          <a:prstGeom prst="rect">
            <a:avLst/>
          </a:prstGeom>
          <a:noFill/>
          <a:ln/>
        </p:spPr>
        <p:txBody>
          <a:bodyPr wrap="square" lIns="0" tIns="0" rIns="0" bIns="0" rtlCol="0" anchor="t"/>
          <a:lstStyle/>
          <a:p>
            <a:pPr algn="l" indent="0" marL="0">
              <a:buNone/>
            </a:pPr>
            <a:r>
              <a:rPr lang="en-US" sz="1500" b="1" dirty="0">
                <a:solidFill>
                  <a:srgbClr val="14202C"/>
                </a:solidFill>
                <a:latin typeface="Calibri" pitchFamily="34" charset="0"/>
                <a:ea typeface="Calibri" pitchFamily="34" charset="-122"/>
                <a:cs typeface="Calibri" pitchFamily="34" charset="-120"/>
              </a:rPr>
              <a:t>Paid</a:t>
            </a:r>
            <a:endParaRPr lang="en-US" sz="1500" dirty="0"/>
          </a:p>
        </p:txBody>
      </p:sp>
      <p:sp>
        <p:nvSpPr>
          <p:cNvPr id="31" name="Text 29"/>
          <p:cNvSpPr/>
          <p:nvPr/>
        </p:nvSpPr>
        <p:spPr>
          <a:xfrm>
            <a:off x="512064" y="4526280"/>
            <a:ext cx="1938528" cy="128016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Booked once. Coupon spent. The week rises by cash.</a:t>
            </a:r>
            <a:endParaRPr lang="en-US" sz="1300" dirty="0"/>
          </a:p>
        </p:txBody>
      </p:sp>
      <p:sp>
        <p:nvSpPr>
          <p:cNvPr id="32" name="Shape 30"/>
          <p:cNvSpPr/>
          <p:nvPr/>
        </p:nvSpPr>
        <p:spPr>
          <a:xfrm>
            <a:off x="2706624" y="3063240"/>
            <a:ext cx="2231136" cy="3017520"/>
          </a:xfrm>
          <a:prstGeom prst="roundRect">
            <a:avLst>
              <a:gd name="adj" fmla="val 3279"/>
            </a:avLst>
          </a:prstGeom>
          <a:solidFill>
            <a:srgbClr val="FFFFFF"/>
          </a:solidFill>
          <a:ln/>
          <a:effectLst>
            <a:outerShdw sx="100000" sy="100000" kx="0" ky="0" algn="bl" rotWithShape="0" blurRad="152400" dist="38100" dir="5400000">
              <a:srgbClr val="0F1C2E">
                <a:alpha val="10000"/>
              </a:srgbClr>
            </a:outerShdw>
          </a:effectLst>
        </p:spPr>
      </p:sp>
      <p:sp>
        <p:nvSpPr>
          <p:cNvPr id="33" name="Shape 31"/>
          <p:cNvSpPr/>
          <p:nvPr/>
        </p:nvSpPr>
        <p:spPr>
          <a:xfrm>
            <a:off x="2871216" y="3246120"/>
            <a:ext cx="256032" cy="256032"/>
          </a:xfrm>
          <a:prstGeom prst="ellipse">
            <a:avLst/>
          </a:prstGeom>
          <a:solidFill>
            <a:srgbClr val="0F1C2E"/>
          </a:solidFill>
          <a:ln/>
        </p:spPr>
      </p:sp>
      <p:sp>
        <p:nvSpPr>
          <p:cNvPr id="34" name="Text 32"/>
          <p:cNvSpPr/>
          <p:nvPr/>
        </p:nvSpPr>
        <p:spPr>
          <a:xfrm>
            <a:off x="2852928" y="3657600"/>
            <a:ext cx="1938528" cy="777240"/>
          </a:xfrm>
          <a:prstGeom prst="rect">
            <a:avLst/>
          </a:prstGeom>
          <a:noFill/>
          <a:ln/>
        </p:spPr>
        <p:txBody>
          <a:bodyPr wrap="square" lIns="0" tIns="0" rIns="0" bIns="0" rtlCol="0" anchor="t"/>
          <a:lstStyle/>
          <a:p>
            <a:pPr algn="l" indent="0" marL="0">
              <a:buNone/>
            </a:pPr>
            <a:r>
              <a:rPr lang="en-US" sz="1500" b="1" dirty="0">
                <a:solidFill>
                  <a:srgbClr val="14202C"/>
                </a:solidFill>
                <a:latin typeface="Calibri" pitchFamily="34" charset="0"/>
                <a:ea typeface="Calibri" pitchFamily="34" charset="-122"/>
                <a:cs typeface="Calibri" pitchFamily="34" charset="-120"/>
              </a:rPr>
              <a:t>Card declined, no discount</a:t>
            </a:r>
            <a:endParaRPr lang="en-US" sz="1500" dirty="0"/>
          </a:p>
        </p:txBody>
      </p:sp>
      <p:sp>
        <p:nvSpPr>
          <p:cNvPr id="35" name="Text 33"/>
          <p:cNvSpPr/>
          <p:nvPr/>
        </p:nvSpPr>
        <p:spPr>
          <a:xfrm>
            <a:off x="2852928" y="4526280"/>
            <a:ext cx="1938528" cy="128016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Wallet may book the same cash, on its own key.</a:t>
            </a:r>
            <a:endParaRPr lang="en-US" sz="1300" dirty="0"/>
          </a:p>
        </p:txBody>
      </p:sp>
      <p:sp>
        <p:nvSpPr>
          <p:cNvPr id="36" name="Shape 34"/>
          <p:cNvSpPr/>
          <p:nvPr/>
        </p:nvSpPr>
        <p:spPr>
          <a:xfrm>
            <a:off x="5047488" y="3063240"/>
            <a:ext cx="2231136" cy="3017520"/>
          </a:xfrm>
          <a:prstGeom prst="roundRect">
            <a:avLst>
              <a:gd name="adj" fmla="val 3279"/>
            </a:avLst>
          </a:prstGeom>
          <a:solidFill>
            <a:srgbClr val="FFFFFF"/>
          </a:solidFill>
          <a:ln/>
          <a:effectLst>
            <a:outerShdw sx="100000" sy="100000" kx="0" ky="0" algn="bl" rotWithShape="0" blurRad="152400" dist="38100" dir="5400000">
              <a:srgbClr val="0F1C2E">
                <a:alpha val="10000"/>
              </a:srgbClr>
            </a:outerShdw>
          </a:effectLst>
        </p:spPr>
      </p:sp>
      <p:sp>
        <p:nvSpPr>
          <p:cNvPr id="37" name="Shape 35"/>
          <p:cNvSpPr/>
          <p:nvPr/>
        </p:nvSpPr>
        <p:spPr>
          <a:xfrm>
            <a:off x="5212080" y="3246120"/>
            <a:ext cx="256032" cy="256032"/>
          </a:xfrm>
          <a:prstGeom prst="ellipse">
            <a:avLst/>
          </a:prstGeom>
          <a:solidFill>
            <a:srgbClr val="9A5B12"/>
          </a:solidFill>
          <a:ln/>
        </p:spPr>
      </p:sp>
      <p:sp>
        <p:nvSpPr>
          <p:cNvPr id="38" name="Text 36"/>
          <p:cNvSpPr/>
          <p:nvPr/>
        </p:nvSpPr>
        <p:spPr>
          <a:xfrm>
            <a:off x="5193792" y="3657600"/>
            <a:ext cx="1938528" cy="777240"/>
          </a:xfrm>
          <a:prstGeom prst="rect">
            <a:avLst/>
          </a:prstGeom>
          <a:noFill/>
          <a:ln/>
        </p:spPr>
        <p:txBody>
          <a:bodyPr wrap="square" lIns="0" tIns="0" rIns="0" bIns="0" rtlCol="0" anchor="t"/>
          <a:lstStyle/>
          <a:p>
            <a:pPr algn="l" indent="0" marL="0">
              <a:buNone/>
            </a:pPr>
            <a:r>
              <a:rPr lang="en-US" sz="1500" b="1" dirty="0">
                <a:solidFill>
                  <a:srgbClr val="14202C"/>
                </a:solidFill>
                <a:latin typeface="Calibri" pitchFamily="34" charset="0"/>
                <a:ea typeface="Calibri" pitchFamily="34" charset="-122"/>
                <a:cs typeface="Calibri" pitchFamily="34" charset="-120"/>
              </a:rPr>
              <a:t>Declined after a discount</a:t>
            </a:r>
            <a:endParaRPr lang="en-US" sz="1500" dirty="0"/>
          </a:p>
        </p:txBody>
      </p:sp>
      <p:sp>
        <p:nvSpPr>
          <p:cNvPr id="39" name="Text 37"/>
          <p:cNvSpPr/>
          <p:nvPr/>
        </p:nvSpPr>
        <p:spPr>
          <a:xfrm>
            <a:off x="5193792" y="4526280"/>
            <a:ext cx="1938528" cy="128016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Reprice the next tender. If cash rises, ask.</a:t>
            </a:r>
            <a:endParaRPr lang="en-US" sz="1300" dirty="0"/>
          </a:p>
        </p:txBody>
      </p:sp>
      <p:sp>
        <p:nvSpPr>
          <p:cNvPr id="40" name="Shape 38"/>
          <p:cNvSpPr/>
          <p:nvPr/>
        </p:nvSpPr>
        <p:spPr>
          <a:xfrm>
            <a:off x="7388352" y="3063240"/>
            <a:ext cx="2231136" cy="3017520"/>
          </a:xfrm>
          <a:prstGeom prst="roundRect">
            <a:avLst>
              <a:gd name="adj" fmla="val 3279"/>
            </a:avLst>
          </a:prstGeom>
          <a:solidFill>
            <a:srgbClr val="FFFFFF"/>
          </a:solidFill>
          <a:ln/>
          <a:effectLst>
            <a:outerShdw sx="100000" sy="100000" kx="0" ky="0" algn="bl" rotWithShape="0" blurRad="152400" dist="38100" dir="5400000">
              <a:srgbClr val="0F1C2E">
                <a:alpha val="10000"/>
              </a:srgbClr>
            </a:outerShdw>
          </a:effectLst>
        </p:spPr>
      </p:sp>
      <p:sp>
        <p:nvSpPr>
          <p:cNvPr id="41" name="Shape 39"/>
          <p:cNvSpPr/>
          <p:nvPr/>
        </p:nvSpPr>
        <p:spPr>
          <a:xfrm>
            <a:off x="7552944" y="3246120"/>
            <a:ext cx="256032" cy="256032"/>
          </a:xfrm>
          <a:prstGeom prst="ellipse">
            <a:avLst/>
          </a:prstGeom>
          <a:solidFill>
            <a:srgbClr val="9A5B12"/>
          </a:solidFill>
          <a:ln/>
        </p:spPr>
      </p:sp>
      <p:sp>
        <p:nvSpPr>
          <p:cNvPr id="42" name="Text 40"/>
          <p:cNvSpPr/>
          <p:nvPr/>
        </p:nvSpPr>
        <p:spPr>
          <a:xfrm>
            <a:off x="7534656" y="3657600"/>
            <a:ext cx="1938528" cy="777240"/>
          </a:xfrm>
          <a:prstGeom prst="rect">
            <a:avLst/>
          </a:prstGeom>
          <a:noFill/>
          <a:ln/>
        </p:spPr>
        <p:txBody>
          <a:bodyPr wrap="square" lIns="0" tIns="0" rIns="0" bIns="0" rtlCol="0" anchor="t"/>
          <a:lstStyle/>
          <a:p>
            <a:pPr algn="l" indent="0" marL="0">
              <a:buNone/>
            </a:pPr>
            <a:r>
              <a:rPr lang="en-US" sz="1500" b="1" dirty="0">
                <a:solidFill>
                  <a:srgbClr val="14202C"/>
                </a:solidFill>
                <a:latin typeface="Calibri" pitchFamily="34" charset="0"/>
                <a:ea typeface="Calibri" pitchFamily="34" charset="-122"/>
                <a:cs typeface="Calibri" pitchFamily="34" charset="-120"/>
              </a:rPr>
              <a:t>Timeout after the write</a:t>
            </a:r>
            <a:endParaRPr lang="en-US" sz="1500" dirty="0"/>
          </a:p>
        </p:txBody>
      </p:sp>
      <p:sp>
        <p:nvSpPr>
          <p:cNvPr id="43" name="Text 41"/>
          <p:cNvSpPr/>
          <p:nvPr/>
        </p:nvSpPr>
        <p:spPr>
          <a:xfrm>
            <a:off x="7534656" y="4526280"/>
            <a:ext cx="1938528" cy="128016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Retry the same key. Do not start another tender.</a:t>
            </a:r>
            <a:endParaRPr lang="en-US" sz="1300" dirty="0"/>
          </a:p>
        </p:txBody>
      </p:sp>
      <p:sp>
        <p:nvSpPr>
          <p:cNvPr id="44" name="Shape 42"/>
          <p:cNvSpPr/>
          <p:nvPr/>
        </p:nvSpPr>
        <p:spPr>
          <a:xfrm>
            <a:off x="9729216" y="3063240"/>
            <a:ext cx="2231136" cy="3017520"/>
          </a:xfrm>
          <a:prstGeom prst="roundRect">
            <a:avLst>
              <a:gd name="adj" fmla="val 3279"/>
            </a:avLst>
          </a:prstGeom>
          <a:solidFill>
            <a:srgbClr val="FFFFFF"/>
          </a:solidFill>
          <a:ln/>
          <a:effectLst>
            <a:outerShdw sx="100000" sy="100000" kx="0" ky="0" algn="bl" rotWithShape="0" blurRad="152400" dist="38100" dir="5400000">
              <a:srgbClr val="0F1C2E">
                <a:alpha val="10000"/>
              </a:srgbClr>
            </a:outerShdw>
          </a:effectLst>
        </p:spPr>
      </p:sp>
      <p:sp>
        <p:nvSpPr>
          <p:cNvPr id="45" name="Shape 43"/>
          <p:cNvSpPr/>
          <p:nvPr/>
        </p:nvSpPr>
        <p:spPr>
          <a:xfrm>
            <a:off x="9893808" y="3246120"/>
            <a:ext cx="256032" cy="256032"/>
          </a:xfrm>
          <a:prstGeom prst="ellipse">
            <a:avLst/>
          </a:prstGeom>
          <a:solidFill>
            <a:srgbClr val="A33B45"/>
          </a:solidFill>
          <a:ln/>
        </p:spPr>
      </p:sp>
      <p:sp>
        <p:nvSpPr>
          <p:cNvPr id="46" name="Text 44"/>
          <p:cNvSpPr/>
          <p:nvPr/>
        </p:nvSpPr>
        <p:spPr>
          <a:xfrm>
            <a:off x="9875520" y="3657600"/>
            <a:ext cx="1938528" cy="777240"/>
          </a:xfrm>
          <a:prstGeom prst="rect">
            <a:avLst/>
          </a:prstGeom>
          <a:noFill/>
          <a:ln/>
        </p:spPr>
        <p:txBody>
          <a:bodyPr wrap="square" lIns="0" tIns="0" rIns="0" bIns="0" rtlCol="0" anchor="t"/>
          <a:lstStyle/>
          <a:p>
            <a:pPr algn="l" indent="0" marL="0">
              <a:buNone/>
            </a:pPr>
            <a:r>
              <a:rPr lang="en-US" sz="1500" b="1" dirty="0">
                <a:solidFill>
                  <a:srgbClr val="14202C"/>
                </a:solidFill>
                <a:latin typeface="Calibri" pitchFamily="34" charset="0"/>
                <a:ea typeface="Calibri" pitchFamily="34" charset="-122"/>
                <a:cs typeface="Calibri" pitchFamily="34" charset="-120"/>
              </a:rPr>
              <a:t>Fail before any charge</a:t>
            </a:r>
            <a:endParaRPr lang="en-US" sz="1500" dirty="0"/>
          </a:p>
        </p:txBody>
      </p:sp>
      <p:sp>
        <p:nvSpPr>
          <p:cNvPr id="47" name="Text 45"/>
          <p:cNvSpPr/>
          <p:nvPr/>
        </p:nvSpPr>
        <p:spPr>
          <a:xfrm>
            <a:off x="9875520" y="4526280"/>
            <a:ext cx="1938528" cy="128016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Stop. Wallet is not used. Coupon unused.</a:t>
            </a:r>
            <a:endParaRPr lang="en-US" sz="1300" dirty="0"/>
          </a:p>
        </p:txBody>
      </p:sp>
      <p:sp>
        <p:nvSpPr>
          <p:cNvPr id="49" name="Text 46"/>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50" name="Text 47"/>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GATE 3, READ CLOSE</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The cashier runs last, on a stored choice</a:t>
            </a:r>
            <a:endParaRPr lang="en-US" sz="3200" dirty="0"/>
          </a:p>
        </p:txBody>
      </p:sp>
      <p:sp>
        <p:nvSpPr>
          <p:cNvPr id="4" name="Shape 2"/>
          <p:cNvSpPr/>
          <p:nvPr/>
        </p:nvSpPr>
        <p:spPr>
          <a:xfrm>
            <a:off x="457200" y="1143000"/>
            <a:ext cx="11247120" cy="1554480"/>
          </a:xfrm>
          <a:prstGeom prst="roundRect">
            <a:avLst>
              <a:gd name="adj" fmla="val 4706"/>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685800" y="1307592"/>
            <a:ext cx="3017520" cy="1188720"/>
          </a:xfrm>
          <a:prstGeom prst="rect">
            <a:avLst/>
          </a:prstGeom>
          <a:noFill/>
          <a:ln/>
        </p:spPr>
        <p:txBody>
          <a:bodyPr wrap="square" lIns="0" tIns="0" rIns="0" bIns="0" rtlCol="0" anchor="ctr"/>
          <a:lstStyle/>
          <a:p>
            <a:pPr algn="l" indent="0" marL="0">
              <a:buNone/>
            </a:pPr>
            <a:r>
              <a:rPr lang="en-US" sz="2200" b="1" dirty="0">
                <a:solidFill>
                  <a:srgbClr val="0F1C2E"/>
                </a:solidFill>
                <a:latin typeface="Cambria" pitchFamily="34" charset="0"/>
                <a:ea typeface="Cambria" pitchFamily="34" charset="-122"/>
                <a:cs typeface="Cambria" pitchFamily="34" charset="-120"/>
              </a:rPr>
              <a:t>The two slips</a:t>
            </a:r>
            <a:endParaRPr lang="en-US" sz="2200" dirty="0"/>
          </a:p>
        </p:txBody>
      </p:sp>
      <p:sp>
        <p:nvSpPr>
          <p:cNvPr id="6" name="Text 4"/>
          <p:cNvSpPr/>
          <p:nvPr/>
        </p:nvSpPr>
        <p:spPr>
          <a:xfrm>
            <a:off x="3840480" y="1344168"/>
            <a:ext cx="7589520" cy="1170432"/>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The intent slip is the signed form: limits, tenders, confirm mode, expiry, and did:mock for this account. The payment slip is the signed quote: that intent’s signature, the quote fingerprint, the cash, the tender, and the seller. One flipped character, a swapped seller, or a cash total that differs is credentials_bad.</a:t>
            </a:r>
            <a:endParaRPr lang="en-US" sz="1400" dirty="0"/>
          </a:p>
        </p:txBody>
      </p:sp>
      <p:sp>
        <p:nvSpPr>
          <p:cNvPr id="7" name="Shape 5"/>
          <p:cNvSpPr/>
          <p:nvPr/>
        </p:nvSpPr>
        <p:spPr>
          <a:xfrm>
            <a:off x="457200" y="2834640"/>
            <a:ext cx="11247120" cy="1554480"/>
          </a:xfrm>
          <a:prstGeom prst="roundRect">
            <a:avLst>
              <a:gd name="adj" fmla="val 4706"/>
            </a:avLst>
          </a:prstGeom>
          <a:solidFill>
            <a:srgbClr val="0F1C2E"/>
          </a:solidFill>
          <a:ln/>
          <a:effectLst>
            <a:outerShdw sx="100000" sy="100000" kx="0" ky="0" algn="bl" rotWithShape="0" blurRad="152400" dist="38100" dir="5400000">
              <a:srgbClr val="0F1C2E">
                <a:alpha val="10000"/>
              </a:srgbClr>
            </a:outerShdw>
          </a:effectLst>
        </p:spPr>
      </p:sp>
      <p:sp>
        <p:nvSpPr>
          <p:cNvPr id="8" name="Text 6"/>
          <p:cNvSpPr/>
          <p:nvPr/>
        </p:nvSpPr>
        <p:spPr>
          <a:xfrm>
            <a:off x="685800" y="2999232"/>
            <a:ext cx="3017520" cy="1188720"/>
          </a:xfrm>
          <a:prstGeom prst="rect">
            <a:avLst/>
          </a:prstGeom>
          <a:noFill/>
          <a:ln/>
        </p:spPr>
        <p:txBody>
          <a:bodyPr wrap="square" lIns="0" tIns="0" rIns="0" bIns="0" rtlCol="0" anchor="ctr"/>
          <a:lstStyle/>
          <a:p>
            <a:pPr algn="l" indent="0" marL="0">
              <a:buNone/>
            </a:pPr>
            <a:r>
              <a:rPr lang="en-US" sz="2200" b="1" dirty="0">
                <a:solidFill>
                  <a:srgbClr val="F3D48A"/>
                </a:solidFill>
                <a:latin typeface="Cambria" pitchFamily="34" charset="0"/>
                <a:ea typeface="Cambria" pitchFamily="34" charset="-122"/>
                <a:cs typeface="Cambria" pitchFamily="34" charset="-120"/>
              </a:rPr>
              <a:t>What is sent</a:t>
            </a:r>
            <a:endParaRPr lang="en-US" sz="2200" dirty="0"/>
          </a:p>
        </p:txBody>
      </p:sp>
      <p:sp>
        <p:nvSpPr>
          <p:cNvPr id="9" name="Text 7"/>
          <p:cNvSpPr/>
          <p:nvPr/>
        </p:nvSpPr>
        <p:spPr>
          <a:xfrm>
            <a:off x="3840480" y="3035808"/>
            <a:ext cx="7589520" cy="1170432"/>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Seven fields: vault id, address id, cash, HKD, the tender stored on the quote, the quote expiry, and this attempt’s idempotency key. The vault id must start with vault_. The address id must start with address_. Any other field stops the call. No card number is read.</a:t>
            </a:r>
            <a:endParaRPr lang="en-US" sz="1400" dirty="0"/>
          </a:p>
        </p:txBody>
      </p:sp>
      <p:sp>
        <p:nvSpPr>
          <p:cNvPr id="10" name="Shape 8"/>
          <p:cNvSpPr/>
          <p:nvPr/>
        </p:nvSpPr>
        <p:spPr>
          <a:xfrm>
            <a:off x="457200" y="4526280"/>
            <a:ext cx="11247120" cy="1554480"/>
          </a:xfrm>
          <a:prstGeom prst="roundRect">
            <a:avLst>
              <a:gd name="adj" fmla="val 4706"/>
            </a:avLst>
          </a:prstGeom>
          <a:solidFill>
            <a:srgbClr val="FFFFFF"/>
          </a:solidFill>
          <a:ln/>
          <a:effectLst>
            <a:outerShdw sx="100000" sy="100000" kx="0" ky="0" algn="bl" rotWithShape="0" blurRad="152400" dist="38100" dir="5400000">
              <a:srgbClr val="0F1C2E">
                <a:alpha val="10000"/>
              </a:srgbClr>
            </a:outerShdw>
          </a:effectLst>
        </p:spPr>
      </p:sp>
      <p:sp>
        <p:nvSpPr>
          <p:cNvPr id="11" name="Text 9"/>
          <p:cNvSpPr/>
          <p:nvPr/>
        </p:nvSpPr>
        <p:spPr>
          <a:xfrm>
            <a:off x="685800" y="4690872"/>
            <a:ext cx="3017520" cy="1188720"/>
          </a:xfrm>
          <a:prstGeom prst="rect">
            <a:avLst/>
          </a:prstGeom>
          <a:noFill/>
          <a:ln/>
        </p:spPr>
        <p:txBody>
          <a:bodyPr wrap="square" lIns="0" tIns="0" rIns="0" bIns="0" rtlCol="0" anchor="ctr"/>
          <a:lstStyle/>
          <a:p>
            <a:pPr algn="l" indent="0" marL="0">
              <a:buNone/>
            </a:pPr>
            <a:r>
              <a:rPr lang="en-US" sz="2200" b="1" dirty="0">
                <a:solidFill>
                  <a:srgbClr val="0F1C2E"/>
                </a:solidFill>
                <a:latin typeface="Cambria" pitchFamily="34" charset="0"/>
                <a:ea typeface="Cambria" pitchFamily="34" charset="-122"/>
                <a:cs typeface="Cambria" pitchFamily="34" charset="-120"/>
              </a:rPr>
              <a:t>Same key, one booking</a:t>
            </a:r>
            <a:endParaRPr lang="en-US" sz="2200" dirty="0"/>
          </a:p>
        </p:txBody>
      </p:sp>
      <p:sp>
        <p:nvSpPr>
          <p:cNvPr id="12" name="Text 10"/>
          <p:cNvSpPr/>
          <p:nvPr/>
        </p:nvSpPr>
        <p:spPr>
          <a:xfrm>
            <a:off x="3840480" y="4727448"/>
            <a:ext cx="7589520" cy="1170432"/>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A generic card books the raw key. A named card books tender:key. Wallet books wallet:key. A retry with the same user, cash, request, goal, and skus returns the existing receipt. A different cash on that key stops. A timeout before any charge books nothing.</a:t>
            </a:r>
            <a:endParaRPr lang="en-US" sz="1400" dirty="0"/>
          </a:p>
        </p:txBody>
      </p:sp>
      <p:sp>
        <p:nvSpPr>
          <p:cNvPr id="14" name="Text 11"/>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15" name="Text 12"/>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C2E"/>
        </a:solidFill>
      </p:bgPr>
    </p:bg>
    <p:spTree>
      <p:nvGrpSpPr>
        <p:cNvPr id="1" name=""/>
        <p:cNvGrpSpPr/>
        <p:nvPr/>
      </p:nvGrpSpPr>
      <p:grpSpPr>
        <a:xfrm>
          <a:off x="0" y="0"/>
          <a:ext cx="0" cy="0"/>
          <a:chOff x="0" y="0"/>
          <a:chExt cx="0" cy="0"/>
        </a:xfrm>
      </p:grpSpPr>
      <p:sp>
        <p:nvSpPr>
          <p:cNvPr id="2" name="Text 0"/>
          <p:cNvSpPr/>
          <p:nvPr/>
        </p:nvSpPr>
        <p:spPr>
          <a:xfrm>
            <a:off x="640080" y="1874520"/>
            <a:ext cx="3657600" cy="640080"/>
          </a:xfrm>
          <a:prstGeom prst="rect">
            <a:avLst/>
          </a:prstGeom>
          <a:noFill/>
          <a:ln/>
        </p:spPr>
        <p:txBody>
          <a:bodyPr wrap="square" lIns="0" tIns="0" rIns="0" bIns="0" rtlCol="0" anchor="t"/>
          <a:lstStyle/>
          <a:p>
            <a:pPr algn="l" indent="0" marL="0">
              <a:buNone/>
            </a:pPr>
            <a:r>
              <a:rPr lang="en-US" sz="5400" dirty="0">
                <a:solidFill>
                  <a:srgbClr val="A67C2D"/>
                </a:solidFill>
                <a:latin typeface="Cambria" pitchFamily="34" charset="0"/>
                <a:ea typeface="Cambria" pitchFamily="34" charset="-122"/>
                <a:cs typeface="Cambria" pitchFamily="34" charset="-120"/>
              </a:rPr>
              <a:t>03</a:t>
            </a:r>
            <a:endParaRPr lang="en-US" sz="5400" dirty="0"/>
          </a:p>
        </p:txBody>
      </p:sp>
      <p:sp>
        <p:nvSpPr>
          <p:cNvPr id="3" name="Text 1"/>
          <p:cNvSpPr/>
          <p:nvPr/>
        </p:nvSpPr>
        <p:spPr>
          <a:xfrm>
            <a:off x="640080" y="2606040"/>
            <a:ext cx="10058400" cy="64008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Watch it run</a:t>
            </a:r>
            <a:endParaRPr lang="en-US" sz="4400" dirty="0"/>
          </a:p>
        </p:txBody>
      </p:sp>
      <p:sp>
        <p:nvSpPr>
          <p:cNvPr id="4" name="Text 2"/>
          <p:cNvSpPr/>
          <p:nvPr/>
        </p:nvSpPr>
        <p:spPr>
          <a:xfrm>
            <a:off x="640080" y="3429000"/>
            <a:ext cx="10058400" cy="914400"/>
          </a:xfrm>
          <a:prstGeom prst="rect">
            <a:avLst/>
          </a:prstGeom>
          <a:noFill/>
          <a:ln/>
        </p:spPr>
        <p:txBody>
          <a:bodyPr wrap="square" lIns="0" tIns="0" rIns="0" bIns="0" rtlCol="0" anchor="t"/>
          <a:lstStyle/>
          <a:p>
            <a:pPr algn="l" indent="0" marL="0">
              <a:buNone/>
            </a:pPr>
            <a:r>
              <a:rPr lang="en-US" sz="2000" dirty="0">
                <a:solidFill>
                  <a:srgbClr val="D5E0EA"/>
                </a:solidFill>
                <a:latin typeface="Calibri" pitchFamily="34" charset="0"/>
                <a:ea typeface="Calibri" pitchFamily="34" charset="-122"/>
                <a:cs typeface="Calibri" pitchFamily="34" charset="-120"/>
              </a:rPr>
              <a:t>Four full passes. Same gates. Different answers.</a:t>
            </a:r>
            <a:endParaRPr lang="en-US" sz="2000" dirty="0"/>
          </a:p>
          <a:p>
            <a:pPr algn="l" indent="0" marL="0">
              <a:buNone/>
            </a:pPr>
            <a:r>
              <a:rPr lang="en-US" sz="2000" dirty="0">
                <a:solidFill>
                  <a:srgbClr val="D5E0EA"/>
                </a:solidFill>
                <a:latin typeface="Calibri" pitchFamily="34" charset="0"/>
                <a:ea typeface="Calibri" pitchFamily="34" charset="-122"/>
                <a:cs typeface="Calibri" pitchFamily="34" charset="-120"/>
              </a:rPr>
              <a:t>The numbers on these slides are the use-case numbers.</a:t>
            </a:r>
            <a:endParaRPr lang="en-US" sz="2000" dirty="0"/>
          </a:p>
        </p:txBody>
      </p:sp>
      <p:sp>
        <p:nvSpPr>
          <p:cNvPr id="6" name="Text 3"/>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8EA0B3"/>
                </a:solidFill>
                <a:latin typeface="Calibri" pitchFamily="34" charset="0"/>
                <a:ea typeface="Calibri" pitchFamily="34" charset="-122"/>
                <a:cs typeface="Calibri" pitchFamily="34" charset="-120"/>
              </a:rPr>
              <a:t>Scout</a:t>
            </a:r>
            <a:endParaRPr lang="en-US" sz="1200" dirty="0"/>
          </a:p>
        </p:txBody>
      </p:sp>
      <p:sp>
        <p:nvSpPr>
          <p:cNvPr id="7" name="Text 4"/>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8EA0B3"/>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FLOW 1  ·  TWELVE STEPS, SIX SCENES</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Red balloons, then one card charge</a:t>
            </a:r>
            <a:endParaRPr lang="en-US" sz="3200" dirty="0"/>
          </a:p>
        </p:txBody>
      </p:sp>
      <p:sp>
        <p:nvSpPr>
          <p:cNvPr id="4" name="Shape 2"/>
          <p:cNvSpPr/>
          <p:nvPr/>
        </p:nvSpPr>
        <p:spPr>
          <a:xfrm>
            <a:off x="365760" y="1143000"/>
            <a:ext cx="3749040" cy="2450592"/>
          </a:xfrm>
          <a:prstGeom prst="roundRect">
            <a:avLst>
              <a:gd name="adj" fmla="val 2985"/>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548640" y="1289304"/>
            <a:ext cx="41148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005840" y="1325880"/>
            <a:ext cx="2880360" cy="329184"/>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“Red balloons.”</a:t>
            </a:r>
            <a:endParaRPr lang="en-US" sz="1600" dirty="0"/>
          </a:p>
        </p:txBody>
      </p:sp>
      <p:sp>
        <p:nvSpPr>
          <p:cNvPr id="7" name="Text 5"/>
          <p:cNvSpPr/>
          <p:nvPr/>
        </p:nvSpPr>
        <p:spPr>
          <a:xfrm>
            <a:off x="548640" y="1783080"/>
            <a:ext cx="3383280" cy="274320"/>
          </a:xfrm>
          <a:prstGeom prst="rect">
            <a:avLst/>
          </a:prstGeom>
          <a:noFill/>
          <a:ln/>
        </p:spPr>
        <p:txBody>
          <a:bodyPr wrap="square" lIns="0" tIns="0" rIns="0" bIns="0" rtlCol="0" anchor="t"/>
          <a:lstStyle/>
          <a:p>
            <a:pPr algn="l" indent="0" marL="0">
              <a:buNone/>
            </a:pPr>
            <a:r>
              <a:rPr lang="en-US" sz="1200" b="1" dirty="0">
                <a:solidFill>
                  <a:srgbClr val="A67C2D"/>
                </a:solidFill>
                <a:latin typeface="Calibri" pitchFamily="34" charset="0"/>
                <a:ea typeface="Calibri" pitchFamily="34" charset="-122"/>
                <a:cs typeface="Calibri" pitchFamily="34" charset="-120"/>
              </a:rPr>
              <a:t>Shopper, alone</a:t>
            </a:r>
            <a:endParaRPr lang="en-US" sz="1200" dirty="0"/>
          </a:p>
        </p:txBody>
      </p:sp>
      <p:sp>
        <p:nvSpPr>
          <p:cNvPr id="8" name="Text 6"/>
          <p:cNvSpPr/>
          <p:nvPr/>
        </p:nvSpPr>
        <p:spPr>
          <a:xfrm>
            <a:off x="548640" y="2148840"/>
            <a:ext cx="3383280" cy="123444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One balloon goal. Quantity stays editable. A sentence that overrides the form never becomes a search.</a:t>
            </a:r>
            <a:endParaRPr lang="en-US" sz="1300" dirty="0"/>
          </a:p>
        </p:txBody>
      </p:sp>
      <p:sp>
        <p:nvSpPr>
          <p:cNvPr id="9" name="Shape 7"/>
          <p:cNvSpPr/>
          <p:nvPr/>
        </p:nvSpPr>
        <p:spPr>
          <a:xfrm>
            <a:off x="4279392" y="1143000"/>
            <a:ext cx="3749040" cy="2450592"/>
          </a:xfrm>
          <a:prstGeom prst="roundRect">
            <a:avLst>
              <a:gd name="adj" fmla="val 2985"/>
            </a:avLst>
          </a:prstGeom>
          <a:solidFill>
            <a:srgbClr val="FFFFFF"/>
          </a:solidFill>
          <a:ln/>
          <a:effectLst>
            <a:outerShdw sx="100000" sy="100000" kx="0" ky="0" algn="bl" rotWithShape="0" blurRad="152400" dist="38100" dir="5400000">
              <a:srgbClr val="0F1C2E">
                <a:alpha val="10000"/>
              </a:srgbClr>
            </a:outerShdw>
          </a:effectLst>
        </p:spPr>
      </p:sp>
      <p:sp>
        <p:nvSpPr>
          <p:cNvPr id="10" name="Text 8"/>
          <p:cNvSpPr/>
          <p:nvPr/>
        </p:nvSpPr>
        <p:spPr>
          <a:xfrm>
            <a:off x="4462272" y="1289304"/>
            <a:ext cx="41148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4919472" y="1325880"/>
            <a:ext cx="2880360" cy="329184"/>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The form says yes.</a:t>
            </a:r>
            <a:endParaRPr lang="en-US" sz="1600" dirty="0"/>
          </a:p>
        </p:txBody>
      </p:sp>
      <p:sp>
        <p:nvSpPr>
          <p:cNvPr id="12" name="Text 10"/>
          <p:cNvSpPr/>
          <p:nvPr/>
        </p:nvSpPr>
        <p:spPr>
          <a:xfrm>
            <a:off x="4462272" y="1783080"/>
            <a:ext cx="3383280" cy="274320"/>
          </a:xfrm>
          <a:prstGeom prst="rect">
            <a:avLst/>
          </a:prstGeom>
          <a:noFill/>
          <a:ln/>
        </p:spPr>
        <p:txBody>
          <a:bodyPr wrap="square" lIns="0" tIns="0" rIns="0" bIns="0" rtlCol="0" anchor="t"/>
          <a:lstStyle/>
          <a:p>
            <a:pPr algn="l" indent="0" marL="0">
              <a:buNone/>
            </a:pPr>
            <a:r>
              <a:rPr lang="en-US" sz="1200" b="1" dirty="0">
                <a:solidFill>
                  <a:srgbClr val="A67C2D"/>
                </a:solidFill>
                <a:latin typeface="Calibri" pitchFamily="34" charset="0"/>
                <a:ea typeface="Calibri" pitchFamily="34" charset="-122"/>
                <a:cs typeface="Calibri" pitchFamily="34" charset="-120"/>
              </a:rPr>
              <a:t>Shopper asks mandate</a:t>
            </a:r>
            <a:endParaRPr lang="en-US" sz="1200" dirty="0"/>
          </a:p>
        </p:txBody>
      </p:sp>
      <p:sp>
        <p:nvSpPr>
          <p:cNvPr id="13" name="Text 11"/>
          <p:cNvSpPr/>
          <p:nvPr/>
        </p:nvSpPr>
        <p:spPr>
          <a:xfrm>
            <a:off x="4462272" y="2148840"/>
            <a:ext cx="3383280" cy="123444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form is valid. The budget hint does not fight 400. This goal’s share fits the week.</a:t>
            </a:r>
            <a:endParaRPr lang="en-US" sz="1300" dirty="0"/>
          </a:p>
        </p:txBody>
      </p:sp>
      <p:sp>
        <p:nvSpPr>
          <p:cNvPr id="14" name="Shape 12"/>
          <p:cNvSpPr/>
          <p:nvPr/>
        </p:nvSpPr>
        <p:spPr>
          <a:xfrm>
            <a:off x="8193024" y="1143000"/>
            <a:ext cx="3749040" cy="2450592"/>
          </a:xfrm>
          <a:prstGeom prst="roundRect">
            <a:avLst>
              <a:gd name="adj" fmla="val 2985"/>
            </a:avLst>
          </a:prstGeom>
          <a:solidFill>
            <a:srgbClr val="FFFFFF"/>
          </a:solidFill>
          <a:ln/>
          <a:effectLst>
            <a:outerShdw sx="100000" sy="100000" kx="0" ky="0" algn="bl" rotWithShape="0" blurRad="152400" dist="38100" dir="5400000">
              <a:srgbClr val="0F1C2E">
                <a:alpha val="10000"/>
              </a:srgbClr>
            </a:outerShdw>
          </a:effectLst>
        </p:spPr>
      </p:sp>
      <p:sp>
        <p:nvSpPr>
          <p:cNvPr id="15" name="Text 13"/>
          <p:cNvSpPr/>
          <p:nvPr/>
        </p:nvSpPr>
        <p:spPr>
          <a:xfrm>
            <a:off x="8375904" y="1289304"/>
            <a:ext cx="41148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8833104" y="1325880"/>
            <a:ext cx="2880360" cy="329184"/>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Three rows drop.</a:t>
            </a:r>
            <a:endParaRPr lang="en-US" sz="1600" dirty="0"/>
          </a:p>
        </p:txBody>
      </p:sp>
      <p:sp>
        <p:nvSpPr>
          <p:cNvPr id="17" name="Text 15"/>
          <p:cNvSpPr/>
          <p:nvPr/>
        </p:nvSpPr>
        <p:spPr>
          <a:xfrm>
            <a:off x="8375904" y="1783080"/>
            <a:ext cx="3383280" cy="274320"/>
          </a:xfrm>
          <a:prstGeom prst="rect">
            <a:avLst/>
          </a:prstGeom>
          <a:noFill/>
          <a:ln/>
        </p:spPr>
        <p:txBody>
          <a:bodyPr wrap="square" lIns="0" tIns="0" rIns="0" bIns="0" rtlCol="0" anchor="t"/>
          <a:lstStyle/>
          <a:p>
            <a:pPr algn="l" indent="0" marL="0">
              <a:buNone/>
            </a:pPr>
            <a:r>
              <a:rPr lang="en-US" sz="1200" b="1" dirty="0">
                <a:solidFill>
                  <a:srgbClr val="A67C2D"/>
                </a:solidFill>
                <a:latin typeface="Calibri" pitchFamily="34" charset="0"/>
                <a:ea typeface="Calibri" pitchFamily="34" charset="-122"/>
                <a:cs typeface="Calibri" pitchFamily="34" charset="-120"/>
              </a:rPr>
              <a:t>Shopper asks auditor, then mandate</a:t>
            </a:r>
            <a:endParaRPr lang="en-US" sz="1200" dirty="0"/>
          </a:p>
        </p:txBody>
      </p:sp>
      <p:sp>
        <p:nvSpPr>
          <p:cNvPr id="18" name="Text 16"/>
          <p:cNvSpPr/>
          <p:nvPr/>
        </p:nvSpPr>
        <p:spPr>
          <a:xfrm>
            <a:off x="8375904" y="2148840"/>
            <a:ext cx="3383280" cy="123444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Poison, a higher agent price, and missing shipping are dropped. The clean balloon rows fit the caps.</a:t>
            </a:r>
            <a:endParaRPr lang="en-US" sz="1300" dirty="0"/>
          </a:p>
        </p:txBody>
      </p:sp>
      <p:sp>
        <p:nvSpPr>
          <p:cNvPr id="19" name="Shape 17"/>
          <p:cNvSpPr/>
          <p:nvPr/>
        </p:nvSpPr>
        <p:spPr>
          <a:xfrm>
            <a:off x="365760" y="3749040"/>
            <a:ext cx="3749040" cy="2450592"/>
          </a:xfrm>
          <a:prstGeom prst="roundRect">
            <a:avLst>
              <a:gd name="adj" fmla="val 2985"/>
            </a:avLst>
          </a:prstGeom>
          <a:solidFill>
            <a:srgbClr val="FFFFFF"/>
          </a:solidFill>
          <a:ln/>
          <a:effectLst>
            <a:outerShdw sx="100000" sy="100000" kx="0" ky="0" algn="bl" rotWithShape="0" blurRad="152400" dist="38100" dir="5400000">
              <a:srgbClr val="0F1C2E">
                <a:alpha val="10000"/>
              </a:srgbClr>
            </a:outerShdw>
          </a:effectLst>
        </p:spPr>
      </p:sp>
      <p:sp>
        <p:nvSpPr>
          <p:cNvPr id="20" name="Text 18"/>
          <p:cNvSpPr/>
          <p:nvPr/>
        </p:nvSpPr>
        <p:spPr>
          <a:xfrm>
            <a:off x="548640" y="3895344"/>
            <a:ext cx="41148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1005840" y="3931920"/>
            <a:ext cx="2880360" cy="329184"/>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Taobao wins.</a:t>
            </a:r>
            <a:endParaRPr lang="en-US" sz="1600" dirty="0"/>
          </a:p>
        </p:txBody>
      </p:sp>
      <p:sp>
        <p:nvSpPr>
          <p:cNvPr id="22" name="Text 20"/>
          <p:cNvSpPr/>
          <p:nvPr/>
        </p:nvSpPr>
        <p:spPr>
          <a:xfrm>
            <a:off x="548640" y="4389120"/>
            <a:ext cx="3383280" cy="274320"/>
          </a:xfrm>
          <a:prstGeom prst="rect">
            <a:avLst/>
          </a:prstGeom>
          <a:noFill/>
          <a:ln/>
        </p:spPr>
        <p:txBody>
          <a:bodyPr wrap="square" lIns="0" tIns="0" rIns="0" bIns="0" rtlCol="0" anchor="t"/>
          <a:lstStyle/>
          <a:p>
            <a:pPr algn="l" indent="0" marL="0">
              <a:buNone/>
            </a:pPr>
            <a:r>
              <a:rPr lang="en-US" sz="1200" b="1" dirty="0">
                <a:solidFill>
                  <a:srgbClr val="A67C2D"/>
                </a:solidFill>
                <a:latin typeface="Calibri" pitchFamily="34" charset="0"/>
                <a:ea typeface="Calibri" pitchFamily="34" charset="-122"/>
                <a:cs typeface="Calibri" pitchFamily="34" charset="-120"/>
              </a:rPr>
              <a:t>Shopper, alone, then the merchant</a:t>
            </a:r>
            <a:endParaRPr lang="en-US" sz="1200" dirty="0"/>
          </a:p>
        </p:txBody>
      </p:sp>
      <p:sp>
        <p:nvSpPr>
          <p:cNvPr id="23" name="Text 21"/>
          <p:cNvSpPr/>
          <p:nvPr/>
        </p:nvSpPr>
        <p:spPr>
          <a:xfrm>
            <a:off x="548640" y="4754880"/>
            <a:ext cx="3383280" cy="123444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winning seller’s best three stay. Only Taobao is called. It accepts. Shelf 50. Shipping 10.</a:t>
            </a:r>
            <a:endParaRPr lang="en-US" sz="1300" dirty="0"/>
          </a:p>
        </p:txBody>
      </p:sp>
      <p:sp>
        <p:nvSpPr>
          <p:cNvPr id="24" name="Shape 22"/>
          <p:cNvSpPr/>
          <p:nvPr/>
        </p:nvSpPr>
        <p:spPr>
          <a:xfrm>
            <a:off x="4279392" y="3749040"/>
            <a:ext cx="3749040" cy="2450592"/>
          </a:xfrm>
          <a:prstGeom prst="roundRect">
            <a:avLst>
              <a:gd name="adj" fmla="val 2985"/>
            </a:avLst>
          </a:prstGeom>
          <a:solidFill>
            <a:srgbClr val="FFFFFF"/>
          </a:solidFill>
          <a:ln/>
          <a:effectLst>
            <a:outerShdw sx="100000" sy="100000" kx="0" ky="0" algn="bl" rotWithShape="0" blurRad="152400" dist="38100" dir="5400000">
              <a:srgbClr val="0F1C2E">
                <a:alpha val="10000"/>
              </a:srgbClr>
            </a:outerShdw>
          </a:effectLst>
        </p:spPr>
      </p:sp>
      <p:sp>
        <p:nvSpPr>
          <p:cNvPr id="25" name="Text 23"/>
          <p:cNvSpPr/>
          <p:nvPr/>
        </p:nvSpPr>
        <p:spPr>
          <a:xfrm>
            <a:off x="4462272" y="3895344"/>
            <a:ext cx="411480" cy="365760"/>
          </a:xfrm>
          <a:prstGeom prst="rect">
            <a:avLst/>
          </a:prstGeom>
          <a:noFill/>
          <a:ln/>
        </p:spPr>
        <p:txBody>
          <a:bodyPr wrap="square" lIns="0" tIns="0" rIns="0" bIns="0" rtlCol="0" anchor="t"/>
          <a:lstStyle/>
          <a:p>
            <a:pPr algn="l" indent="0" marL="0">
              <a:buNone/>
            </a:pPr>
            <a:r>
              <a:rPr lang="en-US" sz="2200" b="1" dirty="0">
                <a:solidFill>
                  <a:srgbClr val="A67C2D"/>
                </a:solidFill>
                <a:latin typeface="Cambria" pitchFamily="34" charset="0"/>
                <a:ea typeface="Cambria" pitchFamily="34" charset="-122"/>
                <a:cs typeface="Cambria" pitchFamily="34" charset="-120"/>
              </a:rPr>
              <a:t>5</a:t>
            </a:r>
            <a:endParaRPr lang="en-US" sz="2200" dirty="0"/>
          </a:p>
        </p:txBody>
      </p:sp>
      <p:sp>
        <p:nvSpPr>
          <p:cNvPr id="26" name="Text 24"/>
          <p:cNvSpPr/>
          <p:nvPr/>
        </p:nvSpPr>
        <p:spPr>
          <a:xfrm>
            <a:off x="4919472" y="3931920"/>
            <a:ext cx="2880360" cy="329184"/>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A quote for 60.</a:t>
            </a:r>
            <a:endParaRPr lang="en-US" sz="1600" dirty="0"/>
          </a:p>
        </p:txBody>
      </p:sp>
      <p:sp>
        <p:nvSpPr>
          <p:cNvPr id="27" name="Text 25"/>
          <p:cNvSpPr/>
          <p:nvPr/>
        </p:nvSpPr>
        <p:spPr>
          <a:xfrm>
            <a:off x="4462272" y="4389120"/>
            <a:ext cx="3383280" cy="274320"/>
          </a:xfrm>
          <a:prstGeom prst="rect">
            <a:avLst/>
          </a:prstGeom>
          <a:noFill/>
          <a:ln/>
        </p:spPr>
        <p:txBody>
          <a:bodyPr wrap="square" lIns="0" tIns="0" rIns="0" bIns="0" rtlCol="0" anchor="t"/>
          <a:lstStyle/>
          <a:p>
            <a:pPr algn="l" indent="0" marL="0">
              <a:buNone/>
            </a:pPr>
            <a:r>
              <a:rPr lang="en-US" sz="1200" b="1" dirty="0">
                <a:solidFill>
                  <a:srgbClr val="A67C2D"/>
                </a:solidFill>
                <a:latin typeface="Calibri" pitchFamily="34" charset="0"/>
                <a:ea typeface="Calibri" pitchFamily="34" charset="-122"/>
                <a:cs typeface="Calibri" pitchFamily="34" charset="-120"/>
              </a:rPr>
              <a:t>Shopper asks mandate</a:t>
            </a:r>
            <a:endParaRPr lang="en-US" sz="1200" dirty="0"/>
          </a:p>
        </p:txBody>
      </p:sp>
      <p:sp>
        <p:nvSpPr>
          <p:cNvPr id="28" name="Text 26"/>
          <p:cNvSpPr/>
          <p:nvPr/>
        </p:nvSpPr>
        <p:spPr>
          <a:xfrm>
            <a:off x="4462272" y="4754880"/>
            <a:ext cx="3383280" cy="123444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60 fits the form, the share, and the week. The person sees the quote. The coupon is reserved. Nothing is booked.</a:t>
            </a:r>
            <a:endParaRPr lang="en-US" sz="1300" dirty="0"/>
          </a:p>
        </p:txBody>
      </p:sp>
      <p:sp>
        <p:nvSpPr>
          <p:cNvPr id="29" name="Shape 27"/>
          <p:cNvSpPr/>
          <p:nvPr/>
        </p:nvSpPr>
        <p:spPr>
          <a:xfrm>
            <a:off x="8193024" y="3749040"/>
            <a:ext cx="3749040" cy="2450592"/>
          </a:xfrm>
          <a:prstGeom prst="roundRect">
            <a:avLst>
              <a:gd name="adj" fmla="val 2985"/>
            </a:avLst>
          </a:prstGeom>
          <a:solidFill>
            <a:srgbClr val="0F1C2E"/>
          </a:solidFill>
          <a:ln/>
          <a:effectLst>
            <a:outerShdw sx="100000" sy="100000" kx="0" ky="0" algn="bl" rotWithShape="0" blurRad="152400" dist="38100" dir="5400000">
              <a:srgbClr val="0F1C2E">
                <a:alpha val="10000"/>
              </a:srgbClr>
            </a:outerShdw>
          </a:effectLst>
        </p:spPr>
      </p:sp>
      <p:sp>
        <p:nvSpPr>
          <p:cNvPr id="30" name="Text 28"/>
          <p:cNvSpPr/>
          <p:nvPr/>
        </p:nvSpPr>
        <p:spPr>
          <a:xfrm>
            <a:off x="8375904" y="3895344"/>
            <a:ext cx="411480" cy="365760"/>
          </a:xfrm>
          <a:prstGeom prst="rect">
            <a:avLst/>
          </a:prstGeom>
          <a:noFill/>
          <a:ln/>
        </p:spPr>
        <p:txBody>
          <a:bodyPr wrap="square" lIns="0" tIns="0" rIns="0" bIns="0" rtlCol="0" anchor="t"/>
          <a:lstStyle/>
          <a:p>
            <a:pPr algn="l" indent="0" marL="0">
              <a:buNone/>
            </a:pPr>
            <a:r>
              <a:rPr lang="en-US" sz="2200" b="1" dirty="0">
                <a:solidFill>
                  <a:srgbClr val="F3D48A"/>
                </a:solidFill>
                <a:latin typeface="Cambria" pitchFamily="34" charset="0"/>
                <a:ea typeface="Cambria" pitchFamily="34" charset="-122"/>
                <a:cs typeface="Cambria" pitchFamily="34" charset="-120"/>
              </a:rPr>
              <a:t>6</a:t>
            </a:r>
            <a:endParaRPr lang="en-US" sz="2200" dirty="0"/>
          </a:p>
        </p:txBody>
      </p:sp>
      <p:sp>
        <p:nvSpPr>
          <p:cNvPr id="31" name="Text 29"/>
          <p:cNvSpPr/>
          <p:nvPr/>
        </p:nvSpPr>
        <p:spPr>
          <a:xfrm>
            <a:off x="8833104" y="3931920"/>
            <a:ext cx="2880360" cy="329184"/>
          </a:xfrm>
          <a:prstGeom prst="rect">
            <a:avLst/>
          </a:prstGeom>
          <a:noFill/>
          <a:ln/>
        </p:spPr>
        <p:txBody>
          <a:bodyPr wrap="square" lIns="0" tIns="0" rIns="0" bIns="0" rtlCol="0" anchor="t"/>
          <a:lstStyle/>
          <a:p>
            <a:pPr algn="l" indent="0" marL="0">
              <a:buNone/>
            </a:pPr>
            <a:r>
              <a:rPr lang="en-US" sz="1600" b="1" dirty="0">
                <a:solidFill>
                  <a:srgbClr val="FFFFFF"/>
                </a:solidFill>
                <a:latin typeface="Calibri" pitchFamily="34" charset="0"/>
                <a:ea typeface="Calibri" pitchFamily="34" charset="-122"/>
                <a:cs typeface="Calibri" pitchFamily="34" charset="-120"/>
              </a:rPr>
              <a:t>Then the cashier.</a:t>
            </a:r>
            <a:endParaRPr lang="en-US" sz="1600" dirty="0"/>
          </a:p>
        </p:txBody>
      </p:sp>
      <p:sp>
        <p:nvSpPr>
          <p:cNvPr id="32" name="Text 30"/>
          <p:cNvSpPr/>
          <p:nvPr/>
        </p:nvSpPr>
        <p:spPr>
          <a:xfrm>
            <a:off x="8375904" y="4389120"/>
            <a:ext cx="3383280" cy="274320"/>
          </a:xfrm>
          <a:prstGeom prst="rect">
            <a:avLst/>
          </a:prstGeom>
          <a:noFill/>
          <a:ln/>
        </p:spPr>
        <p:txBody>
          <a:bodyPr wrap="square" lIns="0" tIns="0" rIns="0" bIns="0" rtlCol="0" anchor="t"/>
          <a:lstStyle/>
          <a:p>
            <a:pPr algn="l" indent="0" marL="0">
              <a:buNone/>
            </a:pPr>
            <a:r>
              <a:rPr lang="en-US" sz="1200" b="1" dirty="0">
                <a:solidFill>
                  <a:srgbClr val="E6C56A"/>
                </a:solidFill>
                <a:latin typeface="Calibri" pitchFamily="34" charset="0"/>
                <a:ea typeface="Calibri" pitchFamily="34" charset="-122"/>
                <a:cs typeface="Calibri" pitchFamily="34" charset="-120"/>
              </a:rPr>
              <a:t>Mandate, auditor, payer</a:t>
            </a:r>
            <a:endParaRPr lang="en-US" sz="1200" dirty="0"/>
          </a:p>
        </p:txBody>
      </p:sp>
      <p:sp>
        <p:nvSpPr>
          <p:cNvPr id="33" name="Text 31"/>
          <p:cNvSpPr/>
          <p:nvPr/>
        </p:nvSpPr>
        <p:spPr>
          <a:xfrm>
            <a:off x="8375904" y="4754880"/>
            <a:ext cx="3383280" cy="1234440"/>
          </a:xfrm>
          <a:prstGeom prst="rect">
            <a:avLst/>
          </a:prstGeom>
          <a:noFill/>
          <a:ln/>
        </p:spPr>
        <p:txBody>
          <a:bodyPr wrap="square" lIns="0" tIns="0" rIns="0" bIns="0" rtlCol="0" anchor="t"/>
          <a:lstStyle/>
          <a:p>
            <a:pPr algn="l" indent="0" marL="0">
              <a:buNone/>
            </a:pPr>
            <a:r>
              <a:rPr lang="en-US" sz="1300" dirty="0">
                <a:solidFill>
                  <a:srgbClr val="E6EDF4"/>
                </a:solidFill>
                <a:latin typeface="Calibri" pitchFamily="34" charset="0"/>
                <a:ea typeface="Calibri" pitchFamily="34" charset="-122"/>
                <a:cs typeface="Calibri" pitchFamily="34" charset="-120"/>
              </a:rPr>
              <a:t>The person confirms. The form is still valid. Both slips match. One card charge of 60. Cashback posts. The week rises by 60.</a:t>
            </a:r>
            <a:endParaRPr lang="en-US" sz="1300" dirty="0"/>
          </a:p>
        </p:txBody>
      </p:sp>
      <p:sp>
        <p:nvSpPr>
          <p:cNvPr id="35" name="Text 32"/>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36" name="Text 33"/>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FLOWS 16, 17, 18, 2 AND 3</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Same quote. Five different endings.</a:t>
            </a:r>
            <a:endParaRPr lang="en-US" sz="3200" dirty="0"/>
          </a:p>
        </p:txBody>
      </p:sp>
      <p:sp>
        <p:nvSpPr>
          <p:cNvPr id="4" name="Shape 2"/>
          <p:cNvSpPr/>
          <p:nvPr/>
        </p:nvSpPr>
        <p:spPr>
          <a:xfrm>
            <a:off x="384048" y="1170432"/>
            <a:ext cx="2231136" cy="4983480"/>
          </a:xfrm>
          <a:prstGeom prst="roundRect">
            <a:avLst>
              <a:gd name="adj" fmla="val 3279"/>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493776" y="1353312"/>
            <a:ext cx="2011680" cy="640080"/>
          </a:xfrm>
          <a:prstGeom prst="rect">
            <a:avLst/>
          </a:prstGeom>
          <a:noFill/>
          <a:ln/>
        </p:spPr>
        <p:txBody>
          <a:bodyPr wrap="square" lIns="0" tIns="0" rIns="0" bIns="0" rtlCol="0" anchor="t"/>
          <a:lstStyle/>
          <a:p>
            <a:pPr algn="ctr" indent="0" marL="0">
              <a:buNone/>
            </a:pPr>
            <a:r>
              <a:rPr lang="en-US" sz="2400" b="1" dirty="0">
                <a:solidFill>
                  <a:srgbClr val="1E6B45"/>
                </a:solidFill>
                <a:latin typeface="Cambria" pitchFamily="34" charset="0"/>
                <a:ea typeface="Cambria" pitchFamily="34" charset="-122"/>
                <a:cs typeface="Cambria" pitchFamily="34" charset="-120"/>
              </a:rPr>
              <a:t>60</a:t>
            </a:r>
            <a:endParaRPr lang="en-US" sz="2400" dirty="0"/>
          </a:p>
        </p:txBody>
      </p:sp>
      <p:sp>
        <p:nvSpPr>
          <p:cNvPr id="6" name="Text 4"/>
          <p:cNvSpPr/>
          <p:nvPr/>
        </p:nvSpPr>
        <p:spPr>
          <a:xfrm>
            <a:off x="493776" y="2057400"/>
            <a:ext cx="2011680" cy="1097280"/>
          </a:xfrm>
          <a:prstGeom prst="rect">
            <a:avLst/>
          </a:prstGeom>
          <a:noFill/>
          <a:ln/>
        </p:spPr>
        <p:txBody>
          <a:bodyPr wrap="square" lIns="0" tIns="0" rIns="0" bIns="0" rtlCol="0" anchor="t"/>
          <a:lstStyle/>
          <a:p>
            <a:pPr algn="ctr" indent="0" marL="0">
              <a:buNone/>
            </a:pPr>
            <a:r>
              <a:rPr lang="en-US" sz="1400" b="1" dirty="0">
                <a:solidFill>
                  <a:srgbClr val="0F1C2E"/>
                </a:solidFill>
                <a:latin typeface="Calibri" pitchFamily="34" charset="0"/>
                <a:ea typeface="Calibri" pitchFamily="34" charset="-122"/>
                <a:cs typeface="Calibri" pitchFamily="34" charset="-120"/>
              </a:rPr>
              <a:t>Auto, one clear winner</a:t>
            </a:r>
            <a:endParaRPr lang="en-US" sz="1400" dirty="0"/>
          </a:p>
        </p:txBody>
      </p:sp>
      <p:sp>
        <p:nvSpPr>
          <p:cNvPr id="7" name="Text 5"/>
          <p:cNvSpPr/>
          <p:nvPr/>
        </p:nvSpPr>
        <p:spPr>
          <a:xfrm>
            <a:off x="512064" y="3246120"/>
            <a:ext cx="1975104" cy="265176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form says auto. The same three asks still run: the form, both slips, then one charge. Auto is not a second cashier. Paid once. Cash is 60.</a:t>
            </a:r>
            <a:endParaRPr lang="en-US" sz="1300" dirty="0"/>
          </a:p>
        </p:txBody>
      </p:sp>
      <p:sp>
        <p:nvSpPr>
          <p:cNvPr id="8" name="Shape 6"/>
          <p:cNvSpPr/>
          <p:nvPr/>
        </p:nvSpPr>
        <p:spPr>
          <a:xfrm>
            <a:off x="2724912" y="1170432"/>
            <a:ext cx="2231136" cy="4983480"/>
          </a:xfrm>
          <a:prstGeom prst="roundRect">
            <a:avLst>
              <a:gd name="adj" fmla="val 3279"/>
            </a:avLst>
          </a:prstGeom>
          <a:solidFill>
            <a:srgbClr val="FFFFFF"/>
          </a:solidFill>
          <a:ln/>
          <a:effectLst>
            <a:outerShdw sx="100000" sy="100000" kx="0" ky="0" algn="bl" rotWithShape="0" blurRad="152400" dist="38100" dir="5400000">
              <a:srgbClr val="0F1C2E">
                <a:alpha val="10000"/>
              </a:srgbClr>
            </a:outerShdw>
          </a:effectLst>
        </p:spPr>
      </p:sp>
      <p:sp>
        <p:nvSpPr>
          <p:cNvPr id="9" name="Text 7"/>
          <p:cNvSpPr/>
          <p:nvPr/>
        </p:nvSpPr>
        <p:spPr>
          <a:xfrm>
            <a:off x="2834640" y="1353312"/>
            <a:ext cx="2011680" cy="640080"/>
          </a:xfrm>
          <a:prstGeom prst="rect">
            <a:avLst/>
          </a:prstGeom>
          <a:noFill/>
          <a:ln/>
        </p:spPr>
        <p:txBody>
          <a:bodyPr wrap="square" lIns="0" tIns="0" rIns="0" bIns="0" rtlCol="0" anchor="t"/>
          <a:lstStyle/>
          <a:p>
            <a:pPr algn="ctr" indent="0" marL="0">
              <a:buNone/>
            </a:pPr>
            <a:r>
              <a:rPr lang="en-US" sz="2400" b="1" dirty="0">
                <a:solidFill>
                  <a:srgbClr val="9A5B12"/>
                </a:solidFill>
                <a:latin typeface="Cambria" pitchFamily="34" charset="0"/>
                <a:ea typeface="Cambria" pitchFamily="34" charset="-122"/>
                <a:cs typeface="Cambria" pitchFamily="34" charset="-120"/>
              </a:rPr>
              <a:t>Ask</a:t>
            </a:r>
            <a:endParaRPr lang="en-US" sz="2400" dirty="0"/>
          </a:p>
        </p:txBody>
      </p:sp>
      <p:sp>
        <p:nvSpPr>
          <p:cNvPr id="10" name="Text 8"/>
          <p:cNvSpPr/>
          <p:nvPr/>
        </p:nvSpPr>
        <p:spPr>
          <a:xfrm>
            <a:off x="2834640" y="2057400"/>
            <a:ext cx="2011680" cy="1097280"/>
          </a:xfrm>
          <a:prstGeom prst="rect">
            <a:avLst/>
          </a:prstGeom>
          <a:noFill/>
          <a:ln/>
        </p:spPr>
        <p:txBody>
          <a:bodyPr wrap="square" lIns="0" tIns="0" rIns="0" bIns="0" rtlCol="0" anchor="t"/>
          <a:lstStyle/>
          <a:p>
            <a:pPr algn="ctr" indent="0" marL="0">
              <a:buNone/>
            </a:pPr>
            <a:r>
              <a:rPr lang="en-US" sz="1400" b="1" dirty="0">
                <a:solidFill>
                  <a:srgbClr val="0F1C2E"/>
                </a:solidFill>
                <a:latin typeface="Calibri" pitchFamily="34" charset="0"/>
                <a:ea typeface="Calibri" pitchFamily="34" charset="-122"/>
                <a:cs typeface="Calibri" pitchFamily="34" charset="-120"/>
              </a:rPr>
              <a:t>Two scores tie</a:t>
            </a:r>
            <a:endParaRPr lang="en-US" sz="1400" dirty="0"/>
          </a:p>
        </p:txBody>
      </p:sp>
      <p:sp>
        <p:nvSpPr>
          <p:cNvPr id="11" name="Text 9"/>
          <p:cNvSpPr/>
          <p:nvPr/>
        </p:nvSpPr>
        <p:spPr>
          <a:xfrm>
            <a:off x="2852928" y="3246120"/>
            <a:ext cx="1975104" cy="265176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shopper stops before any website. The person must choose. If nobody answers in 120 seconds, the coupon stays unused.</a:t>
            </a:r>
            <a:endParaRPr lang="en-US" sz="1300" dirty="0"/>
          </a:p>
        </p:txBody>
      </p:sp>
      <p:sp>
        <p:nvSpPr>
          <p:cNvPr id="12" name="Shape 10"/>
          <p:cNvSpPr/>
          <p:nvPr/>
        </p:nvSpPr>
        <p:spPr>
          <a:xfrm>
            <a:off x="5065776" y="1170432"/>
            <a:ext cx="2231136" cy="4983480"/>
          </a:xfrm>
          <a:prstGeom prst="roundRect">
            <a:avLst>
              <a:gd name="adj" fmla="val 3279"/>
            </a:avLst>
          </a:prstGeom>
          <a:solidFill>
            <a:srgbClr val="FFFFFF"/>
          </a:solidFill>
          <a:ln/>
          <a:effectLst>
            <a:outerShdw sx="100000" sy="100000" kx="0" ky="0" algn="bl" rotWithShape="0" blurRad="152400" dist="38100" dir="5400000">
              <a:srgbClr val="0F1C2E">
                <a:alpha val="10000"/>
              </a:srgbClr>
            </a:outerShdw>
          </a:effectLst>
        </p:spPr>
      </p:sp>
      <p:sp>
        <p:nvSpPr>
          <p:cNvPr id="13" name="Text 11"/>
          <p:cNvSpPr/>
          <p:nvPr/>
        </p:nvSpPr>
        <p:spPr>
          <a:xfrm>
            <a:off x="5175504" y="1353312"/>
            <a:ext cx="2011680" cy="640080"/>
          </a:xfrm>
          <a:prstGeom prst="rect">
            <a:avLst/>
          </a:prstGeom>
          <a:noFill/>
          <a:ln/>
        </p:spPr>
        <p:txBody>
          <a:bodyPr wrap="square" lIns="0" tIns="0" rIns="0" bIns="0" rtlCol="0" anchor="t"/>
          <a:lstStyle/>
          <a:p>
            <a:pPr algn="ctr" indent="0" marL="0">
              <a:buNone/>
            </a:pPr>
            <a:r>
              <a:rPr lang="en-US" sz="2400" b="1" dirty="0">
                <a:solidFill>
                  <a:srgbClr val="A33B45"/>
                </a:solidFill>
                <a:latin typeface="Cambria" pitchFamily="34" charset="0"/>
                <a:ea typeface="Cambria" pitchFamily="34" charset="-122"/>
                <a:cs typeface="Cambria" pitchFamily="34" charset="-120"/>
              </a:rPr>
              <a:t>340</a:t>
            </a:r>
            <a:endParaRPr lang="en-US" sz="2400" dirty="0"/>
          </a:p>
        </p:txBody>
      </p:sp>
      <p:sp>
        <p:nvSpPr>
          <p:cNvPr id="14" name="Text 12"/>
          <p:cNvSpPr/>
          <p:nvPr/>
        </p:nvSpPr>
        <p:spPr>
          <a:xfrm>
            <a:off x="5175504" y="2057400"/>
            <a:ext cx="2011680" cy="1097280"/>
          </a:xfrm>
          <a:prstGeom prst="rect">
            <a:avLst/>
          </a:prstGeom>
          <a:noFill/>
          <a:ln/>
        </p:spPr>
        <p:txBody>
          <a:bodyPr wrap="square" lIns="0" tIns="0" rIns="0" bIns="0" rtlCol="0" anchor="t"/>
          <a:lstStyle/>
          <a:p>
            <a:pPr algn="ctr" indent="0" marL="0">
              <a:buNone/>
            </a:pPr>
            <a:r>
              <a:rPr lang="en-US" sz="1400" b="1" dirty="0">
                <a:solidFill>
                  <a:srgbClr val="0F1C2E"/>
                </a:solidFill>
                <a:latin typeface="Calibri" pitchFamily="34" charset="0"/>
                <a:ea typeface="Calibri" pitchFamily="34" charset="-122"/>
                <a:cs typeface="Calibri" pitchFamily="34" charset="-120"/>
              </a:rPr>
              <a:t>The price moves after a yes</a:t>
            </a:r>
            <a:endParaRPr lang="en-US" sz="1400" dirty="0"/>
          </a:p>
        </p:txBody>
      </p:sp>
      <p:sp>
        <p:nvSpPr>
          <p:cNvPr id="15" name="Text 13"/>
          <p:cNvSpPr/>
          <p:nvPr/>
        </p:nvSpPr>
        <p:spPr>
          <a:xfrm>
            <a:off x="5193792" y="3246120"/>
            <a:ext cx="1975104" cy="265176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held quote was shelf 200 plus shipping 140. A material term then changes. The old yes is void. The person declines. Coupon unused. Nothing booked.</a:t>
            </a:r>
            <a:endParaRPr lang="en-US" sz="1300" dirty="0"/>
          </a:p>
        </p:txBody>
      </p:sp>
      <p:sp>
        <p:nvSpPr>
          <p:cNvPr id="16" name="Shape 14"/>
          <p:cNvSpPr/>
          <p:nvPr/>
        </p:nvSpPr>
        <p:spPr>
          <a:xfrm>
            <a:off x="7406640" y="1170432"/>
            <a:ext cx="2231136" cy="4983480"/>
          </a:xfrm>
          <a:prstGeom prst="roundRect">
            <a:avLst>
              <a:gd name="adj" fmla="val 3279"/>
            </a:avLst>
          </a:prstGeom>
          <a:solidFill>
            <a:srgbClr val="FFFFFF"/>
          </a:solidFill>
          <a:ln/>
          <a:effectLst>
            <a:outerShdw sx="100000" sy="100000" kx="0" ky="0" algn="bl" rotWithShape="0" blurRad="152400" dist="38100" dir="5400000">
              <a:srgbClr val="0F1C2E">
                <a:alpha val="10000"/>
              </a:srgbClr>
            </a:outerShdw>
          </a:effectLst>
        </p:spPr>
      </p:sp>
      <p:sp>
        <p:nvSpPr>
          <p:cNvPr id="17" name="Text 15"/>
          <p:cNvSpPr/>
          <p:nvPr/>
        </p:nvSpPr>
        <p:spPr>
          <a:xfrm>
            <a:off x="7516368" y="1353312"/>
            <a:ext cx="2011680" cy="640080"/>
          </a:xfrm>
          <a:prstGeom prst="rect">
            <a:avLst/>
          </a:prstGeom>
          <a:noFill/>
          <a:ln/>
        </p:spPr>
        <p:txBody>
          <a:bodyPr wrap="square" lIns="0" tIns="0" rIns="0" bIns="0" rtlCol="0" anchor="t"/>
          <a:lstStyle/>
          <a:p>
            <a:pPr algn="ctr" indent="0" marL="0">
              <a:buNone/>
            </a:pPr>
            <a:r>
              <a:rPr lang="en-US" sz="2400" b="1" dirty="0">
                <a:solidFill>
                  <a:srgbClr val="0F1C2E"/>
                </a:solidFill>
                <a:latin typeface="Cambria" pitchFamily="34" charset="0"/>
                <a:ea typeface="Cambria" pitchFamily="34" charset="-122"/>
                <a:cs typeface="Cambria" pitchFamily="34" charset="-120"/>
              </a:rPr>
              <a:t>Wallet</a:t>
            </a:r>
            <a:endParaRPr lang="en-US" sz="2400" dirty="0"/>
          </a:p>
        </p:txBody>
      </p:sp>
      <p:sp>
        <p:nvSpPr>
          <p:cNvPr id="18" name="Text 16"/>
          <p:cNvSpPr/>
          <p:nvPr/>
        </p:nvSpPr>
        <p:spPr>
          <a:xfrm>
            <a:off x="7516368" y="2057400"/>
            <a:ext cx="2011680" cy="1097280"/>
          </a:xfrm>
          <a:prstGeom prst="rect">
            <a:avLst/>
          </a:prstGeom>
          <a:noFill/>
          <a:ln/>
        </p:spPr>
        <p:txBody>
          <a:bodyPr wrap="square" lIns="0" tIns="0" rIns="0" bIns="0" rtlCol="0" anchor="t"/>
          <a:lstStyle/>
          <a:p>
            <a:pPr algn="ctr" indent="0" marL="0">
              <a:buNone/>
            </a:pPr>
            <a:r>
              <a:rPr lang="en-US" sz="1400" b="1" dirty="0">
                <a:solidFill>
                  <a:srgbClr val="0F1C2E"/>
                </a:solidFill>
                <a:latin typeface="Calibri" pitchFamily="34" charset="0"/>
                <a:ea typeface="Calibri" pitchFamily="34" charset="-122"/>
                <a:cs typeface="Calibri" pitchFamily="34" charset="-120"/>
              </a:rPr>
              <a:t>Decline, then wallet</a:t>
            </a:r>
            <a:endParaRPr lang="en-US" sz="1400" dirty="0"/>
          </a:p>
        </p:txBody>
      </p:sp>
      <p:sp>
        <p:nvSpPr>
          <p:cNvPr id="19" name="Text 17"/>
          <p:cNvSpPr/>
          <p:nvPr/>
        </p:nvSpPr>
        <p:spPr>
          <a:xfrm>
            <a:off x="7534656" y="3246120"/>
            <a:ext cx="1975104" cy="265176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No card discount, so wallet may pay the same 60 on wallet:key. The card is not charged. A discount forbids this path.</a:t>
            </a:r>
            <a:endParaRPr lang="en-US" sz="1300" dirty="0"/>
          </a:p>
        </p:txBody>
      </p:sp>
      <p:sp>
        <p:nvSpPr>
          <p:cNvPr id="20" name="Shape 18"/>
          <p:cNvSpPr/>
          <p:nvPr/>
        </p:nvSpPr>
        <p:spPr>
          <a:xfrm>
            <a:off x="9747504" y="1170432"/>
            <a:ext cx="2231136" cy="4983480"/>
          </a:xfrm>
          <a:prstGeom prst="roundRect">
            <a:avLst>
              <a:gd name="adj" fmla="val 3279"/>
            </a:avLst>
          </a:prstGeom>
          <a:solidFill>
            <a:srgbClr val="FFFFFF"/>
          </a:solidFill>
          <a:ln/>
          <a:effectLst>
            <a:outerShdw sx="100000" sy="100000" kx="0" ky="0" algn="bl" rotWithShape="0" blurRad="152400" dist="38100" dir="5400000">
              <a:srgbClr val="0F1C2E">
                <a:alpha val="10000"/>
              </a:srgbClr>
            </a:outerShdw>
          </a:effectLst>
        </p:spPr>
      </p:sp>
      <p:sp>
        <p:nvSpPr>
          <p:cNvPr id="21" name="Text 19"/>
          <p:cNvSpPr/>
          <p:nvPr/>
        </p:nvSpPr>
        <p:spPr>
          <a:xfrm>
            <a:off x="9857232" y="1353312"/>
            <a:ext cx="2011680" cy="640080"/>
          </a:xfrm>
          <a:prstGeom prst="rect">
            <a:avLst/>
          </a:prstGeom>
          <a:noFill/>
          <a:ln/>
        </p:spPr>
        <p:txBody>
          <a:bodyPr wrap="square" lIns="0" tIns="0" rIns="0" bIns="0" rtlCol="0" anchor="t"/>
          <a:lstStyle/>
          <a:p>
            <a:pPr algn="ctr" indent="0" marL="0">
              <a:buNone/>
            </a:pPr>
            <a:r>
              <a:rPr lang="en-US" sz="2400" b="1" dirty="0">
                <a:solidFill>
                  <a:srgbClr val="1A3048"/>
                </a:solidFill>
                <a:latin typeface="Cambria" pitchFamily="34" charset="0"/>
                <a:ea typeface="Cambria" pitchFamily="34" charset="-122"/>
                <a:cs typeface="Cambria" pitchFamily="34" charset="-120"/>
              </a:rPr>
              <a:t>Same key</a:t>
            </a:r>
            <a:endParaRPr lang="en-US" sz="2400" dirty="0"/>
          </a:p>
        </p:txBody>
      </p:sp>
      <p:sp>
        <p:nvSpPr>
          <p:cNvPr id="22" name="Text 20"/>
          <p:cNvSpPr/>
          <p:nvPr/>
        </p:nvSpPr>
        <p:spPr>
          <a:xfrm>
            <a:off x="9857232" y="2057400"/>
            <a:ext cx="2011680" cy="1097280"/>
          </a:xfrm>
          <a:prstGeom prst="rect">
            <a:avLst/>
          </a:prstGeom>
          <a:noFill/>
          <a:ln/>
        </p:spPr>
        <p:txBody>
          <a:bodyPr wrap="square" lIns="0" tIns="0" rIns="0" bIns="0" rtlCol="0" anchor="t"/>
          <a:lstStyle/>
          <a:p>
            <a:pPr algn="ctr" indent="0" marL="0">
              <a:buNone/>
            </a:pPr>
            <a:r>
              <a:rPr lang="en-US" sz="1400" b="1" dirty="0">
                <a:solidFill>
                  <a:srgbClr val="0F1C2E"/>
                </a:solidFill>
                <a:latin typeface="Calibri" pitchFamily="34" charset="0"/>
                <a:ea typeface="Calibri" pitchFamily="34" charset="-122"/>
                <a:cs typeface="Calibri" pitchFamily="34" charset="-120"/>
              </a:rPr>
              <a:t>Reply times out</a:t>
            </a:r>
            <a:endParaRPr lang="en-US" sz="1400" dirty="0"/>
          </a:p>
        </p:txBody>
      </p:sp>
      <p:sp>
        <p:nvSpPr>
          <p:cNvPr id="23" name="Text 21"/>
          <p:cNvSpPr/>
          <p:nvPr/>
        </p:nvSpPr>
        <p:spPr>
          <a:xfrm>
            <a:off x="9875520" y="3246120"/>
            <a:ext cx="1975104" cy="265176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charge is already written. Retry that key. Do not start wallet. Still one booking. A timeout before any charge books nothing.</a:t>
            </a:r>
            <a:endParaRPr lang="en-US" sz="1300" dirty="0"/>
          </a:p>
        </p:txBody>
      </p:sp>
      <p:sp>
        <p:nvSpPr>
          <p:cNvPr id="25" name="Text 22"/>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26" name="Text 23"/>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FLOW 27  ·  THE FULL CARD PASS</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The card that earns the discount</a:t>
            </a:r>
            <a:endParaRPr lang="en-US" sz="3200" dirty="0"/>
          </a:p>
        </p:txBody>
      </p:sp>
      <p:sp>
        <p:nvSpPr>
          <p:cNvPr id="4" name="Text 2"/>
          <p:cNvSpPr/>
          <p:nvPr/>
        </p:nvSpPr>
        <p:spPr>
          <a:xfrm>
            <a:off x="502920" y="1024128"/>
            <a:ext cx="11155680" cy="365760"/>
          </a:xfrm>
          <a:prstGeom prst="rect">
            <a:avLst/>
          </a:prstGeom>
          <a:noFill/>
          <a:ln/>
        </p:spPr>
        <p:txBody>
          <a:bodyPr wrap="square" lIns="0" tIns="0" rIns="0" bIns="0" rtlCol="0" anchor="t"/>
          <a:lstStyle/>
          <a:p>
            <a:pPr algn="l" indent="0" marL="0">
              <a:buNone/>
            </a:pPr>
            <a:r>
              <a:rPr lang="en-US" sz="1500" dirty="0">
                <a:solidFill>
                  <a:srgbClr val="4E6070"/>
                </a:solidFill>
                <a:latin typeface="Calibri" pitchFamily="34" charset="0"/>
                <a:ea typeface="Calibri" pitchFamily="34" charset="-122"/>
                <a:cs typeface="Calibri" pitchFamily="34" charset="-120"/>
              </a:rPr>
              <a:t>Merchandise 280. Shipping 20. The form lists hsbc-visa, then citi-mastercard, then wallet. Each rule applies only to the tender it names.</a:t>
            </a:r>
            <a:endParaRPr lang="en-US" sz="1500" dirty="0"/>
          </a:p>
        </p:txBody>
      </p:sp>
      <p:sp>
        <p:nvSpPr>
          <p:cNvPr id="5" name="Shape 3"/>
          <p:cNvSpPr/>
          <p:nvPr/>
        </p:nvSpPr>
        <p:spPr>
          <a:xfrm>
            <a:off x="457200" y="1508760"/>
            <a:ext cx="3657600" cy="1965960"/>
          </a:xfrm>
          <a:prstGeom prst="roundRect">
            <a:avLst>
              <a:gd name="adj" fmla="val 3721"/>
            </a:avLst>
          </a:prstGeom>
          <a:solidFill>
            <a:srgbClr val="0F1C2E"/>
          </a:solidFill>
          <a:ln/>
          <a:effectLst>
            <a:outerShdw sx="100000" sy="100000" kx="0" ky="0" algn="bl" rotWithShape="0" blurRad="152400" dist="38100" dir="5400000">
              <a:srgbClr val="0F1C2E">
                <a:alpha val="10000"/>
              </a:srgbClr>
            </a:outerShdw>
          </a:effectLst>
        </p:spPr>
      </p:sp>
      <p:sp>
        <p:nvSpPr>
          <p:cNvPr id="6" name="Text 4"/>
          <p:cNvSpPr/>
          <p:nvPr/>
        </p:nvSpPr>
        <p:spPr>
          <a:xfrm>
            <a:off x="658368" y="1645920"/>
            <a:ext cx="3246120" cy="274320"/>
          </a:xfrm>
          <a:prstGeom prst="rect">
            <a:avLst/>
          </a:prstGeom>
          <a:noFill/>
          <a:ln/>
        </p:spPr>
        <p:txBody>
          <a:bodyPr wrap="square" lIns="0" tIns="0" rIns="0" bIns="0" rtlCol="0" anchor="t"/>
          <a:lstStyle/>
          <a:p>
            <a:pPr algn="l" indent="0" marL="0">
              <a:buNone/>
            </a:pPr>
            <a:r>
              <a:rPr lang="en-US" sz="1400" b="1" dirty="0">
                <a:solidFill>
                  <a:srgbClr val="A67C2D"/>
                </a:solidFill>
                <a:latin typeface="Calibri" pitchFamily="34" charset="0"/>
                <a:ea typeface="Calibri" pitchFamily="34" charset="-122"/>
                <a:cs typeface="Calibri" pitchFamily="34" charset="-120"/>
              </a:rPr>
              <a:t>hsbc-visa</a:t>
            </a:r>
            <a:endParaRPr lang="en-US" sz="1400" dirty="0"/>
          </a:p>
        </p:txBody>
      </p:sp>
      <p:sp>
        <p:nvSpPr>
          <p:cNvPr id="7" name="Text 5"/>
          <p:cNvSpPr/>
          <p:nvPr/>
        </p:nvSpPr>
        <p:spPr>
          <a:xfrm>
            <a:off x="658368" y="1938528"/>
            <a:ext cx="3246120" cy="64008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260</a:t>
            </a:r>
            <a:endParaRPr lang="en-US" sz="4000" dirty="0"/>
          </a:p>
        </p:txBody>
      </p:sp>
      <p:sp>
        <p:nvSpPr>
          <p:cNvPr id="8" name="Text 6"/>
          <p:cNvSpPr/>
          <p:nvPr/>
        </p:nvSpPr>
        <p:spPr>
          <a:xfrm>
            <a:off x="658368" y="2697480"/>
            <a:ext cx="3246120" cy="502920"/>
          </a:xfrm>
          <a:prstGeom prst="rect">
            <a:avLst/>
          </a:prstGeom>
          <a:noFill/>
          <a:ln/>
        </p:spPr>
        <p:txBody>
          <a:bodyPr wrap="square" lIns="0" tIns="0" rIns="0" bIns="0" rtlCol="0" anchor="t"/>
          <a:lstStyle/>
          <a:p>
            <a:pPr algn="l" indent="0" marL="0">
              <a:buNone/>
            </a:pPr>
            <a:r>
              <a:rPr lang="en-US" sz="1400" dirty="0">
                <a:solidFill>
                  <a:srgbClr val="D5E0EA"/>
                </a:solidFill>
                <a:latin typeface="Calibri" pitchFamily="34" charset="0"/>
                <a:ea typeface="Calibri" pitchFamily="34" charset="-122"/>
                <a:cs typeface="Calibri" pitchFamily="34" charset="-120"/>
              </a:rPr>
              <a:t>40 off, once merchandise is at least 250</a:t>
            </a:r>
            <a:endParaRPr lang="en-US" sz="1400" dirty="0"/>
          </a:p>
        </p:txBody>
      </p:sp>
      <p:sp>
        <p:nvSpPr>
          <p:cNvPr id="9" name="Shape 7"/>
          <p:cNvSpPr/>
          <p:nvPr/>
        </p:nvSpPr>
        <p:spPr>
          <a:xfrm>
            <a:off x="4297680" y="1508760"/>
            <a:ext cx="3657600" cy="1965960"/>
          </a:xfrm>
          <a:prstGeom prst="roundRect">
            <a:avLst>
              <a:gd name="adj" fmla="val 3721"/>
            </a:avLst>
          </a:prstGeom>
          <a:solidFill>
            <a:srgbClr val="FFFFFF"/>
          </a:solidFill>
          <a:ln/>
          <a:effectLst>
            <a:outerShdw sx="100000" sy="100000" kx="0" ky="0" algn="bl" rotWithShape="0" blurRad="152400" dist="38100" dir="5400000">
              <a:srgbClr val="0F1C2E">
                <a:alpha val="10000"/>
              </a:srgbClr>
            </a:outerShdw>
          </a:effectLst>
        </p:spPr>
      </p:sp>
      <p:sp>
        <p:nvSpPr>
          <p:cNvPr id="10" name="Text 8"/>
          <p:cNvSpPr/>
          <p:nvPr/>
        </p:nvSpPr>
        <p:spPr>
          <a:xfrm>
            <a:off x="4498848" y="1645920"/>
            <a:ext cx="3246120" cy="274320"/>
          </a:xfrm>
          <a:prstGeom prst="rect">
            <a:avLst/>
          </a:prstGeom>
          <a:noFill/>
          <a:ln/>
        </p:spPr>
        <p:txBody>
          <a:bodyPr wrap="square" lIns="0" tIns="0" rIns="0" bIns="0" rtlCol="0" anchor="t"/>
          <a:lstStyle/>
          <a:p>
            <a:pPr algn="l" indent="0" marL="0">
              <a:buNone/>
            </a:pPr>
            <a:r>
              <a:rPr lang="en-US" sz="1400" b="1" dirty="0">
                <a:solidFill>
                  <a:srgbClr val="4E6070"/>
                </a:solidFill>
                <a:latin typeface="Calibri" pitchFamily="34" charset="0"/>
                <a:ea typeface="Calibri" pitchFamily="34" charset="-122"/>
                <a:cs typeface="Calibri" pitchFamily="34" charset="-120"/>
              </a:rPr>
              <a:t>citi-mastercard</a:t>
            </a:r>
            <a:endParaRPr lang="en-US" sz="1400" dirty="0"/>
          </a:p>
        </p:txBody>
      </p:sp>
      <p:sp>
        <p:nvSpPr>
          <p:cNvPr id="11" name="Text 9"/>
          <p:cNvSpPr/>
          <p:nvPr/>
        </p:nvSpPr>
        <p:spPr>
          <a:xfrm>
            <a:off x="4498848" y="1938528"/>
            <a:ext cx="3246120" cy="640080"/>
          </a:xfrm>
          <a:prstGeom prst="rect">
            <a:avLst/>
          </a:prstGeom>
          <a:noFill/>
          <a:ln/>
        </p:spPr>
        <p:txBody>
          <a:bodyPr wrap="square" lIns="0" tIns="0" rIns="0" bIns="0" rtlCol="0" anchor="t"/>
          <a:lstStyle/>
          <a:p>
            <a:pPr algn="l" indent="0" marL="0">
              <a:buNone/>
            </a:pPr>
            <a:r>
              <a:rPr lang="en-US" sz="4000" b="1" dirty="0">
                <a:solidFill>
                  <a:srgbClr val="0F1C2E"/>
                </a:solidFill>
                <a:latin typeface="Cambria" pitchFamily="34" charset="0"/>
                <a:ea typeface="Cambria" pitchFamily="34" charset="-122"/>
                <a:cs typeface="Cambria" pitchFamily="34" charset="-120"/>
              </a:rPr>
              <a:t>290</a:t>
            </a:r>
            <a:endParaRPr lang="en-US" sz="4000" dirty="0"/>
          </a:p>
        </p:txBody>
      </p:sp>
      <p:sp>
        <p:nvSpPr>
          <p:cNvPr id="12" name="Text 10"/>
          <p:cNvSpPr/>
          <p:nvPr/>
        </p:nvSpPr>
        <p:spPr>
          <a:xfrm>
            <a:off x="4498848" y="2697480"/>
            <a:ext cx="3246120" cy="5029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10 off, at the same minimum</a:t>
            </a:r>
            <a:endParaRPr lang="en-US" sz="1400" dirty="0"/>
          </a:p>
        </p:txBody>
      </p:sp>
      <p:sp>
        <p:nvSpPr>
          <p:cNvPr id="13" name="Shape 11"/>
          <p:cNvSpPr/>
          <p:nvPr/>
        </p:nvSpPr>
        <p:spPr>
          <a:xfrm>
            <a:off x="8138160" y="1508760"/>
            <a:ext cx="3657600" cy="1965960"/>
          </a:xfrm>
          <a:prstGeom prst="roundRect">
            <a:avLst>
              <a:gd name="adj" fmla="val 3721"/>
            </a:avLst>
          </a:prstGeom>
          <a:solidFill>
            <a:srgbClr val="FFFFFF"/>
          </a:solidFill>
          <a:ln/>
          <a:effectLst>
            <a:outerShdw sx="100000" sy="100000" kx="0" ky="0" algn="bl" rotWithShape="0" blurRad="152400" dist="38100" dir="5400000">
              <a:srgbClr val="0F1C2E">
                <a:alpha val="10000"/>
              </a:srgbClr>
            </a:outerShdw>
          </a:effectLst>
        </p:spPr>
      </p:sp>
      <p:sp>
        <p:nvSpPr>
          <p:cNvPr id="14" name="Text 12"/>
          <p:cNvSpPr/>
          <p:nvPr/>
        </p:nvSpPr>
        <p:spPr>
          <a:xfrm>
            <a:off x="8339328" y="1645920"/>
            <a:ext cx="3246120" cy="274320"/>
          </a:xfrm>
          <a:prstGeom prst="rect">
            <a:avLst/>
          </a:prstGeom>
          <a:noFill/>
          <a:ln/>
        </p:spPr>
        <p:txBody>
          <a:bodyPr wrap="square" lIns="0" tIns="0" rIns="0" bIns="0" rtlCol="0" anchor="t"/>
          <a:lstStyle/>
          <a:p>
            <a:pPr algn="l" indent="0" marL="0">
              <a:buNone/>
            </a:pPr>
            <a:r>
              <a:rPr lang="en-US" sz="1400" b="1" dirty="0">
                <a:solidFill>
                  <a:srgbClr val="4E6070"/>
                </a:solidFill>
                <a:latin typeface="Calibri" pitchFamily="34" charset="0"/>
                <a:ea typeface="Calibri" pitchFamily="34" charset="-122"/>
                <a:cs typeface="Calibri" pitchFamily="34" charset="-120"/>
              </a:rPr>
              <a:t>wallet</a:t>
            </a:r>
            <a:endParaRPr lang="en-US" sz="1400" dirty="0"/>
          </a:p>
        </p:txBody>
      </p:sp>
      <p:sp>
        <p:nvSpPr>
          <p:cNvPr id="15" name="Text 13"/>
          <p:cNvSpPr/>
          <p:nvPr/>
        </p:nvSpPr>
        <p:spPr>
          <a:xfrm>
            <a:off x="8339328" y="1938528"/>
            <a:ext cx="3246120" cy="640080"/>
          </a:xfrm>
          <a:prstGeom prst="rect">
            <a:avLst/>
          </a:prstGeom>
          <a:noFill/>
          <a:ln/>
        </p:spPr>
        <p:txBody>
          <a:bodyPr wrap="square" lIns="0" tIns="0" rIns="0" bIns="0" rtlCol="0" anchor="t"/>
          <a:lstStyle/>
          <a:p>
            <a:pPr algn="l" indent="0" marL="0">
              <a:buNone/>
            </a:pPr>
            <a:r>
              <a:rPr lang="en-US" sz="4000" b="1" dirty="0">
                <a:solidFill>
                  <a:srgbClr val="0F1C2E"/>
                </a:solidFill>
                <a:latin typeface="Cambria" pitchFamily="34" charset="0"/>
                <a:ea typeface="Cambria" pitchFamily="34" charset="-122"/>
                <a:cs typeface="Cambria" pitchFamily="34" charset="-120"/>
              </a:rPr>
              <a:t>300</a:t>
            </a:r>
            <a:endParaRPr lang="en-US" sz="4000" dirty="0"/>
          </a:p>
        </p:txBody>
      </p:sp>
      <p:sp>
        <p:nvSpPr>
          <p:cNvPr id="16" name="Text 14"/>
          <p:cNvSpPr/>
          <p:nvPr/>
        </p:nvSpPr>
        <p:spPr>
          <a:xfrm>
            <a:off x="8339328" y="2697480"/>
            <a:ext cx="3246120" cy="5029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No card rule on wallet</a:t>
            </a:r>
            <a:endParaRPr lang="en-US" sz="1400" dirty="0"/>
          </a:p>
        </p:txBody>
      </p:sp>
      <p:sp>
        <p:nvSpPr>
          <p:cNvPr id="17" name="Shape 15"/>
          <p:cNvSpPr/>
          <p:nvPr/>
        </p:nvSpPr>
        <p:spPr>
          <a:xfrm>
            <a:off x="457200" y="3703320"/>
            <a:ext cx="2788920" cy="2423160"/>
          </a:xfrm>
          <a:prstGeom prst="roundRect">
            <a:avLst>
              <a:gd name="adj" fmla="val 3019"/>
            </a:avLst>
          </a:prstGeom>
          <a:solidFill>
            <a:srgbClr val="FFFFFF"/>
          </a:solidFill>
          <a:ln/>
          <a:effectLst>
            <a:outerShdw sx="100000" sy="100000" kx="0" ky="0" algn="bl" rotWithShape="0" blurRad="152400" dist="38100" dir="5400000">
              <a:srgbClr val="0F1C2E">
                <a:alpha val="10000"/>
              </a:srgbClr>
            </a:outerShdw>
          </a:effectLst>
        </p:spPr>
      </p:sp>
      <p:sp>
        <p:nvSpPr>
          <p:cNvPr id="18" name="Text 16"/>
          <p:cNvSpPr/>
          <p:nvPr/>
        </p:nvSpPr>
        <p:spPr>
          <a:xfrm>
            <a:off x="603504" y="3840480"/>
            <a:ext cx="365760" cy="320040"/>
          </a:xfrm>
          <a:prstGeom prst="rect">
            <a:avLst/>
          </a:prstGeom>
          <a:noFill/>
          <a:ln/>
        </p:spPr>
        <p:txBody>
          <a:bodyPr wrap="square" lIns="0" tIns="0" rIns="0" bIns="0" rtlCol="0" anchor="t"/>
          <a:lstStyle/>
          <a:p>
            <a:pPr algn="l" indent="0" marL="0">
              <a:buNone/>
            </a:pPr>
            <a:r>
              <a:rPr lang="en-US" sz="1800" b="1" dirty="0">
                <a:solidFill>
                  <a:srgbClr val="A67C2D"/>
                </a:solidFill>
                <a:latin typeface="Cambria" pitchFamily="34" charset="0"/>
                <a:ea typeface="Cambria" pitchFamily="34" charset="-122"/>
                <a:cs typeface="Cambria" pitchFamily="34" charset="-120"/>
              </a:rPr>
              <a:t>1</a:t>
            </a:r>
            <a:endParaRPr lang="en-US" sz="1800" dirty="0"/>
          </a:p>
        </p:txBody>
      </p:sp>
      <p:sp>
        <p:nvSpPr>
          <p:cNvPr id="19" name="Text 17"/>
          <p:cNvSpPr/>
          <p:nvPr/>
        </p:nvSpPr>
        <p:spPr>
          <a:xfrm>
            <a:off x="960120" y="3858768"/>
            <a:ext cx="2103120" cy="320040"/>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Quote held</a:t>
            </a:r>
            <a:endParaRPr lang="en-US" sz="1400" dirty="0"/>
          </a:p>
        </p:txBody>
      </p:sp>
      <p:sp>
        <p:nvSpPr>
          <p:cNvPr id="20" name="Text 18"/>
          <p:cNvSpPr/>
          <p:nvPr/>
        </p:nvSpPr>
        <p:spPr>
          <a:xfrm>
            <a:off x="603504" y="4297680"/>
            <a:ext cx="2487168" cy="160020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Tender hsbc-visa, cash 260. Coupon reserved. The person has not paid.</a:t>
            </a:r>
            <a:endParaRPr lang="en-US" sz="1400" dirty="0"/>
          </a:p>
        </p:txBody>
      </p:sp>
      <p:sp>
        <p:nvSpPr>
          <p:cNvPr id="21" name="Shape 19"/>
          <p:cNvSpPr/>
          <p:nvPr/>
        </p:nvSpPr>
        <p:spPr>
          <a:xfrm>
            <a:off x="3383280" y="3703320"/>
            <a:ext cx="2788920" cy="2423160"/>
          </a:xfrm>
          <a:prstGeom prst="roundRect">
            <a:avLst>
              <a:gd name="adj" fmla="val 3019"/>
            </a:avLst>
          </a:prstGeom>
          <a:solidFill>
            <a:srgbClr val="FFFFFF"/>
          </a:solidFill>
          <a:ln/>
          <a:effectLst>
            <a:outerShdw sx="100000" sy="100000" kx="0" ky="0" algn="bl" rotWithShape="0" blurRad="152400" dist="38100" dir="5400000">
              <a:srgbClr val="0F1C2E">
                <a:alpha val="10000"/>
              </a:srgbClr>
            </a:outerShdw>
          </a:effectLst>
        </p:spPr>
      </p:sp>
      <p:sp>
        <p:nvSpPr>
          <p:cNvPr id="22" name="Text 20"/>
          <p:cNvSpPr/>
          <p:nvPr/>
        </p:nvSpPr>
        <p:spPr>
          <a:xfrm>
            <a:off x="3529584" y="3840480"/>
            <a:ext cx="365760" cy="320040"/>
          </a:xfrm>
          <a:prstGeom prst="rect">
            <a:avLst/>
          </a:prstGeom>
          <a:noFill/>
          <a:ln/>
        </p:spPr>
        <p:txBody>
          <a:bodyPr wrap="square" lIns="0" tIns="0" rIns="0" bIns="0" rtlCol="0" anchor="t"/>
          <a:lstStyle/>
          <a:p>
            <a:pPr algn="l" indent="0" marL="0">
              <a:buNone/>
            </a:pPr>
            <a:r>
              <a:rPr lang="en-US" sz="1800" b="1" dirty="0">
                <a:solidFill>
                  <a:srgbClr val="A67C2D"/>
                </a:solidFill>
                <a:latin typeface="Cambria" pitchFamily="34" charset="0"/>
                <a:ea typeface="Cambria" pitchFamily="34" charset="-122"/>
                <a:cs typeface="Cambria" pitchFamily="34" charset="-120"/>
              </a:rPr>
              <a:t>2</a:t>
            </a:r>
            <a:endParaRPr lang="en-US" sz="1800" dirty="0"/>
          </a:p>
        </p:txBody>
      </p:sp>
      <p:sp>
        <p:nvSpPr>
          <p:cNvPr id="23" name="Text 21"/>
          <p:cNvSpPr/>
          <p:nvPr/>
        </p:nvSpPr>
        <p:spPr>
          <a:xfrm>
            <a:off x="3886200" y="3858768"/>
            <a:ext cx="2103120" cy="320040"/>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HSBC declines</a:t>
            </a:r>
            <a:endParaRPr lang="en-US" sz="1400" dirty="0"/>
          </a:p>
        </p:txBody>
      </p:sp>
      <p:sp>
        <p:nvSpPr>
          <p:cNvPr id="24" name="Text 22"/>
          <p:cNvSpPr/>
          <p:nvPr/>
        </p:nvSpPr>
        <p:spPr>
          <a:xfrm>
            <a:off x="3529584" y="4297680"/>
            <a:ext cx="2487168" cy="160020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Before any charge. The 260 must not move onto the next card.</a:t>
            </a:r>
            <a:endParaRPr lang="en-US" sz="1400" dirty="0"/>
          </a:p>
        </p:txBody>
      </p:sp>
      <p:sp>
        <p:nvSpPr>
          <p:cNvPr id="25" name="Shape 23"/>
          <p:cNvSpPr/>
          <p:nvPr/>
        </p:nvSpPr>
        <p:spPr>
          <a:xfrm>
            <a:off x="6309360" y="3703320"/>
            <a:ext cx="2788920" cy="2423160"/>
          </a:xfrm>
          <a:prstGeom prst="roundRect">
            <a:avLst>
              <a:gd name="adj" fmla="val 3019"/>
            </a:avLst>
          </a:prstGeom>
          <a:solidFill>
            <a:srgbClr val="FFFFFF"/>
          </a:solidFill>
          <a:ln/>
          <a:effectLst>
            <a:outerShdw sx="100000" sy="100000" kx="0" ky="0" algn="bl" rotWithShape="0" blurRad="152400" dist="38100" dir="5400000">
              <a:srgbClr val="0F1C2E">
                <a:alpha val="10000"/>
              </a:srgbClr>
            </a:outerShdw>
          </a:effectLst>
        </p:spPr>
      </p:sp>
      <p:sp>
        <p:nvSpPr>
          <p:cNvPr id="26" name="Text 24"/>
          <p:cNvSpPr/>
          <p:nvPr/>
        </p:nvSpPr>
        <p:spPr>
          <a:xfrm>
            <a:off x="6455664" y="3840480"/>
            <a:ext cx="365760" cy="320040"/>
          </a:xfrm>
          <a:prstGeom prst="rect">
            <a:avLst/>
          </a:prstGeom>
          <a:noFill/>
          <a:ln/>
        </p:spPr>
        <p:txBody>
          <a:bodyPr wrap="square" lIns="0" tIns="0" rIns="0" bIns="0" rtlCol="0" anchor="t"/>
          <a:lstStyle/>
          <a:p>
            <a:pPr algn="l" indent="0" marL="0">
              <a:buNone/>
            </a:pPr>
            <a:r>
              <a:rPr lang="en-US" sz="1800" b="1" dirty="0">
                <a:solidFill>
                  <a:srgbClr val="A67C2D"/>
                </a:solidFill>
                <a:latin typeface="Cambria" pitchFamily="34" charset="0"/>
                <a:ea typeface="Cambria" pitchFamily="34" charset="-122"/>
                <a:cs typeface="Cambria" pitchFamily="34" charset="-120"/>
              </a:rPr>
              <a:t>3</a:t>
            </a:r>
            <a:endParaRPr lang="en-US" sz="1800" dirty="0"/>
          </a:p>
        </p:txBody>
      </p:sp>
      <p:sp>
        <p:nvSpPr>
          <p:cNvPr id="27" name="Text 25"/>
          <p:cNvSpPr/>
          <p:nvPr/>
        </p:nvSpPr>
        <p:spPr>
          <a:xfrm>
            <a:off x="6812280" y="3858768"/>
            <a:ext cx="2103120" cy="320040"/>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The person is asked</a:t>
            </a:r>
            <a:endParaRPr lang="en-US" sz="1400" dirty="0"/>
          </a:p>
        </p:txBody>
      </p:sp>
      <p:sp>
        <p:nvSpPr>
          <p:cNvPr id="28" name="Text 26"/>
          <p:cNvSpPr/>
          <p:nvPr/>
        </p:nvSpPr>
        <p:spPr>
          <a:xfrm>
            <a:off x="6455664" y="4297680"/>
            <a:ext cx="2487168" cy="160020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Citi is repriced at 290. Decline releases the coupon. Accept stores the new quote.</a:t>
            </a:r>
            <a:endParaRPr lang="en-US" sz="1400" dirty="0"/>
          </a:p>
        </p:txBody>
      </p:sp>
      <p:sp>
        <p:nvSpPr>
          <p:cNvPr id="29" name="Shape 27"/>
          <p:cNvSpPr/>
          <p:nvPr/>
        </p:nvSpPr>
        <p:spPr>
          <a:xfrm>
            <a:off x="9235440" y="3703320"/>
            <a:ext cx="2788920" cy="2423160"/>
          </a:xfrm>
          <a:prstGeom prst="roundRect">
            <a:avLst>
              <a:gd name="adj" fmla="val 3019"/>
            </a:avLst>
          </a:prstGeom>
          <a:solidFill>
            <a:srgbClr val="FFFFFF"/>
          </a:solidFill>
          <a:ln/>
          <a:effectLst>
            <a:outerShdw sx="100000" sy="100000" kx="0" ky="0" algn="bl" rotWithShape="0" blurRad="152400" dist="38100" dir="5400000">
              <a:srgbClr val="0F1C2E">
                <a:alpha val="10000"/>
              </a:srgbClr>
            </a:outerShdw>
          </a:effectLst>
        </p:spPr>
      </p:sp>
      <p:sp>
        <p:nvSpPr>
          <p:cNvPr id="30" name="Text 28"/>
          <p:cNvSpPr/>
          <p:nvPr/>
        </p:nvSpPr>
        <p:spPr>
          <a:xfrm>
            <a:off x="9381744" y="3840480"/>
            <a:ext cx="365760" cy="320040"/>
          </a:xfrm>
          <a:prstGeom prst="rect">
            <a:avLst/>
          </a:prstGeom>
          <a:noFill/>
          <a:ln/>
        </p:spPr>
        <p:txBody>
          <a:bodyPr wrap="square" lIns="0" tIns="0" rIns="0" bIns="0" rtlCol="0" anchor="t"/>
          <a:lstStyle/>
          <a:p>
            <a:pPr algn="l" indent="0" marL="0">
              <a:buNone/>
            </a:pPr>
            <a:r>
              <a:rPr lang="en-US" sz="1800" b="1" dirty="0">
                <a:solidFill>
                  <a:srgbClr val="A67C2D"/>
                </a:solidFill>
                <a:latin typeface="Cambria" pitchFamily="34" charset="0"/>
                <a:ea typeface="Cambria" pitchFamily="34" charset="-122"/>
                <a:cs typeface="Cambria" pitchFamily="34" charset="-120"/>
              </a:rPr>
              <a:t>4</a:t>
            </a:r>
            <a:endParaRPr lang="en-US" sz="1800" dirty="0"/>
          </a:p>
        </p:txBody>
      </p:sp>
      <p:sp>
        <p:nvSpPr>
          <p:cNvPr id="31" name="Text 29"/>
          <p:cNvSpPr/>
          <p:nvPr/>
        </p:nvSpPr>
        <p:spPr>
          <a:xfrm>
            <a:off x="9738360" y="3858768"/>
            <a:ext cx="2103120" cy="320040"/>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One booking</a:t>
            </a:r>
            <a:endParaRPr lang="en-US" sz="1400" dirty="0"/>
          </a:p>
        </p:txBody>
      </p:sp>
      <p:sp>
        <p:nvSpPr>
          <p:cNvPr id="32" name="Text 30"/>
          <p:cNvSpPr/>
          <p:nvPr/>
        </p:nvSpPr>
        <p:spPr>
          <a:xfrm>
            <a:off x="9381744" y="4297680"/>
            <a:ext cx="2487168" cy="160020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290 on citi-mastercard:key. The HSBC key is empty. The vault id is the same account reference.</a:t>
            </a:r>
            <a:endParaRPr lang="en-US" sz="1400" dirty="0"/>
          </a:p>
        </p:txBody>
      </p:sp>
      <p:sp>
        <p:nvSpPr>
          <p:cNvPr id="34" name="Text 31"/>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35" name="Text 32"/>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FLOWS 4, 8, 9, 11</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A bad row is not a bad request</a:t>
            </a:r>
            <a:endParaRPr lang="en-US" sz="3200" dirty="0"/>
          </a:p>
        </p:txBody>
      </p:sp>
      <p:sp>
        <p:nvSpPr>
          <p:cNvPr id="4" name="Shape 2"/>
          <p:cNvSpPr/>
          <p:nvPr/>
        </p:nvSpPr>
        <p:spPr>
          <a:xfrm>
            <a:off x="457200" y="1170432"/>
            <a:ext cx="562356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5" name="Shape 3"/>
          <p:cNvSpPr/>
          <p:nvPr/>
        </p:nvSpPr>
        <p:spPr>
          <a:xfrm>
            <a:off x="658368" y="1426464"/>
            <a:ext cx="146304" cy="146304"/>
          </a:xfrm>
          <a:prstGeom prst="roundRect">
            <a:avLst>
              <a:gd name="adj" fmla="val 18750"/>
            </a:avLst>
          </a:prstGeom>
          <a:solidFill>
            <a:srgbClr val="A33B45"/>
          </a:solidFill>
          <a:ln/>
        </p:spPr>
      </p:sp>
      <p:sp>
        <p:nvSpPr>
          <p:cNvPr id="6" name="Text 4"/>
          <p:cNvSpPr/>
          <p:nvPr/>
        </p:nvSpPr>
        <p:spPr>
          <a:xfrm>
            <a:off x="932688" y="1335024"/>
            <a:ext cx="4846320" cy="365760"/>
          </a:xfrm>
          <a:prstGeom prst="rect">
            <a:avLst/>
          </a:prstGeom>
          <a:noFill/>
          <a:ln/>
        </p:spPr>
        <p:txBody>
          <a:bodyPr wrap="square" lIns="0" tIns="0" rIns="0" bIns="0" rtlCol="0" anchor="t"/>
          <a:lstStyle/>
          <a:p>
            <a:pPr algn="l" indent="0" marL="0">
              <a:buNone/>
            </a:pPr>
            <a:r>
              <a:rPr lang="en-US" sz="1800" b="1" dirty="0">
                <a:solidFill>
                  <a:srgbClr val="0F1C2E"/>
                </a:solidFill>
                <a:latin typeface="Calibri" pitchFamily="34" charset="0"/>
                <a:ea typeface="Calibri" pitchFamily="34" charset="-122"/>
                <a:cs typeface="Calibri" pitchFamily="34" charset="-120"/>
              </a:rPr>
              <a:t>The form is already dead</a:t>
            </a:r>
            <a:endParaRPr lang="en-US" sz="1800" dirty="0"/>
          </a:p>
        </p:txBody>
      </p:sp>
      <p:sp>
        <p:nvSpPr>
          <p:cNvPr id="7" name="Text 5"/>
          <p:cNvSpPr/>
          <p:nvPr/>
        </p:nvSpPr>
        <p:spPr>
          <a:xfrm>
            <a:off x="685800" y="1856232"/>
            <a:ext cx="5166360" cy="141732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Red balloons, but the expiry has passed. The shopper asks the mandate. Stop. No website is called. A revoked form ends the same way.</a:t>
            </a:r>
            <a:endParaRPr lang="en-US" sz="1500" dirty="0"/>
          </a:p>
        </p:txBody>
      </p:sp>
      <p:sp>
        <p:nvSpPr>
          <p:cNvPr id="8" name="Shape 6"/>
          <p:cNvSpPr/>
          <p:nvPr/>
        </p:nvSpPr>
        <p:spPr>
          <a:xfrm>
            <a:off x="6309360" y="1170432"/>
            <a:ext cx="562356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9" name="Shape 7"/>
          <p:cNvSpPr/>
          <p:nvPr/>
        </p:nvSpPr>
        <p:spPr>
          <a:xfrm>
            <a:off x="6510528" y="1426464"/>
            <a:ext cx="146304" cy="146304"/>
          </a:xfrm>
          <a:prstGeom prst="roundRect">
            <a:avLst>
              <a:gd name="adj" fmla="val 18750"/>
            </a:avLst>
          </a:prstGeom>
          <a:solidFill>
            <a:srgbClr val="1E6B45"/>
          </a:solidFill>
          <a:ln/>
        </p:spPr>
      </p:sp>
      <p:sp>
        <p:nvSpPr>
          <p:cNvPr id="10" name="Text 8"/>
          <p:cNvSpPr/>
          <p:nvPr/>
        </p:nvSpPr>
        <p:spPr>
          <a:xfrm>
            <a:off x="6784848" y="1335024"/>
            <a:ext cx="4846320" cy="365760"/>
          </a:xfrm>
          <a:prstGeom prst="rect">
            <a:avLst/>
          </a:prstGeom>
          <a:noFill/>
          <a:ln/>
        </p:spPr>
        <p:txBody>
          <a:bodyPr wrap="square" lIns="0" tIns="0" rIns="0" bIns="0" rtlCol="0" anchor="t"/>
          <a:lstStyle/>
          <a:p>
            <a:pPr algn="l" indent="0" marL="0">
              <a:buNone/>
            </a:pPr>
            <a:r>
              <a:rPr lang="en-US" sz="1800" b="1" dirty="0">
                <a:solidFill>
                  <a:srgbClr val="0F1C2E"/>
                </a:solidFill>
                <a:latin typeface="Calibri" pitchFamily="34" charset="0"/>
                <a:ea typeface="Calibri" pitchFamily="34" charset="-122"/>
                <a:cs typeface="Calibri" pitchFamily="34" charset="-120"/>
              </a:rPr>
              <a:t>One listing is poisoned</a:t>
            </a:r>
            <a:endParaRPr lang="en-US" sz="1800" dirty="0"/>
          </a:p>
        </p:txBody>
      </p:sp>
      <p:sp>
        <p:nvSpPr>
          <p:cNvPr id="11" name="Text 9"/>
          <p:cNvSpPr/>
          <p:nvPr/>
        </p:nvSpPr>
        <p:spPr>
          <a:xfrm>
            <a:off x="6537960" y="1856232"/>
            <a:ext cx="5166360" cy="141732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The text tells the agent to ignore the mandate. A clean sibling from the same seller remains. The poison drops. The clean row is signed and paid once.</a:t>
            </a:r>
            <a:endParaRPr lang="en-US" sz="1500" dirty="0"/>
          </a:p>
        </p:txBody>
      </p:sp>
      <p:sp>
        <p:nvSpPr>
          <p:cNvPr id="12" name="Shape 10"/>
          <p:cNvSpPr/>
          <p:nvPr/>
        </p:nvSpPr>
        <p:spPr>
          <a:xfrm>
            <a:off x="457200" y="3730752"/>
            <a:ext cx="562356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13" name="Shape 11"/>
          <p:cNvSpPr/>
          <p:nvPr/>
        </p:nvSpPr>
        <p:spPr>
          <a:xfrm>
            <a:off x="658368" y="3986784"/>
            <a:ext cx="146304" cy="146304"/>
          </a:xfrm>
          <a:prstGeom prst="roundRect">
            <a:avLst>
              <a:gd name="adj" fmla="val 18750"/>
            </a:avLst>
          </a:prstGeom>
          <a:solidFill>
            <a:srgbClr val="A33B45"/>
          </a:solidFill>
          <a:ln/>
        </p:spPr>
      </p:sp>
      <p:sp>
        <p:nvSpPr>
          <p:cNvPr id="14" name="Text 12"/>
          <p:cNvSpPr/>
          <p:nvPr/>
        </p:nvSpPr>
        <p:spPr>
          <a:xfrm>
            <a:off x="932688" y="3895344"/>
            <a:ext cx="4846320" cy="365760"/>
          </a:xfrm>
          <a:prstGeom prst="rect">
            <a:avLst/>
          </a:prstGeom>
          <a:noFill/>
          <a:ln/>
        </p:spPr>
        <p:txBody>
          <a:bodyPr wrap="square" lIns="0" tIns="0" rIns="0" bIns="0" rtlCol="0" anchor="t"/>
          <a:lstStyle/>
          <a:p>
            <a:pPr algn="l" indent="0" marL="0">
              <a:buNone/>
            </a:pPr>
            <a:r>
              <a:rPr lang="en-US" sz="1800" b="1" dirty="0">
                <a:solidFill>
                  <a:srgbClr val="0F1C2E"/>
                </a:solidFill>
                <a:latin typeface="Calibri" pitchFamily="34" charset="0"/>
                <a:ea typeface="Calibri" pitchFamily="34" charset="-122"/>
                <a:cs typeface="Calibri" pitchFamily="34" charset="-120"/>
              </a:rPr>
              <a:t>Shipping is simply absent</a:t>
            </a:r>
            <a:endParaRPr lang="en-US" sz="1800" dirty="0"/>
          </a:p>
        </p:txBody>
      </p:sp>
      <p:sp>
        <p:nvSpPr>
          <p:cNvPr id="15" name="Text 13"/>
          <p:cNvSpPr/>
          <p:nvPr/>
        </p:nvSpPr>
        <p:spPr>
          <a:xfrm>
            <a:off x="685800" y="4416552"/>
            <a:ext cx="5166360" cy="141732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The only matching row has no shipping fee. It is dropped. Missing shipping is not zero. No clean offer remains, so the attempt stops.</a:t>
            </a:r>
            <a:endParaRPr lang="en-US" sz="1500" dirty="0"/>
          </a:p>
        </p:txBody>
      </p:sp>
      <p:sp>
        <p:nvSpPr>
          <p:cNvPr id="16" name="Shape 14"/>
          <p:cNvSpPr/>
          <p:nvPr/>
        </p:nvSpPr>
        <p:spPr>
          <a:xfrm>
            <a:off x="6309360" y="3730752"/>
            <a:ext cx="562356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17" name="Shape 15"/>
          <p:cNvSpPr/>
          <p:nvPr/>
        </p:nvSpPr>
        <p:spPr>
          <a:xfrm>
            <a:off x="6510528" y="3986784"/>
            <a:ext cx="146304" cy="146304"/>
          </a:xfrm>
          <a:prstGeom prst="roundRect">
            <a:avLst>
              <a:gd name="adj" fmla="val 18750"/>
            </a:avLst>
          </a:prstGeom>
          <a:solidFill>
            <a:srgbClr val="9A5B12"/>
          </a:solidFill>
          <a:ln/>
        </p:spPr>
      </p:sp>
      <p:sp>
        <p:nvSpPr>
          <p:cNvPr id="18" name="Text 16"/>
          <p:cNvSpPr/>
          <p:nvPr/>
        </p:nvSpPr>
        <p:spPr>
          <a:xfrm>
            <a:off x="6784848" y="3895344"/>
            <a:ext cx="4846320" cy="365760"/>
          </a:xfrm>
          <a:prstGeom prst="rect">
            <a:avLst/>
          </a:prstGeom>
          <a:noFill/>
          <a:ln/>
        </p:spPr>
        <p:txBody>
          <a:bodyPr wrap="square" lIns="0" tIns="0" rIns="0" bIns="0" rtlCol="0" anchor="t"/>
          <a:lstStyle/>
          <a:p>
            <a:pPr algn="l" indent="0" marL="0">
              <a:buNone/>
            </a:pPr>
            <a:r>
              <a:rPr lang="en-US" sz="1800" b="1" dirty="0">
                <a:solidFill>
                  <a:srgbClr val="0F1C2E"/>
                </a:solidFill>
                <a:latin typeface="Calibri" pitchFamily="34" charset="0"/>
                <a:ea typeface="Calibri" pitchFamily="34" charset="-122"/>
                <a:cs typeface="Calibri" pitchFamily="34" charset="-120"/>
              </a:rPr>
              <a:t>A refund does not refill the week</a:t>
            </a:r>
            <a:endParaRPr lang="en-US" sz="1800" dirty="0"/>
          </a:p>
        </p:txBody>
      </p:sp>
      <p:sp>
        <p:nvSpPr>
          <p:cNvPr id="19" name="Text 17"/>
          <p:cNvSpPr/>
          <p:nvPr/>
        </p:nvSpPr>
        <p:spPr>
          <a:xfrm>
            <a:off x="6537960" y="4416552"/>
            <a:ext cx="5166360" cy="141732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Cashback on that receipt becomes 0. The cash still counts inside 168 hours. The next purchase still does not fit. Nothing new is booked.</a:t>
            </a:r>
            <a:endParaRPr lang="en-US" sz="1500" dirty="0"/>
          </a:p>
        </p:txBody>
      </p:sp>
      <p:sp>
        <p:nvSpPr>
          <p:cNvPr id="21" name="Text 18"/>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22" name="Text 19"/>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C2E"/>
        </a:solidFill>
      </p:bgPr>
    </p:bg>
    <p:spTree>
      <p:nvGrpSpPr>
        <p:cNvPr id="1" name=""/>
        <p:cNvGrpSpPr/>
        <p:nvPr/>
      </p:nvGrpSpPr>
      <p:grpSpPr>
        <a:xfrm>
          <a:off x="0" y="0"/>
          <a:ext cx="0" cy="0"/>
          <a:chOff x="0" y="0"/>
          <a:chExt cx="0" cy="0"/>
        </a:xfrm>
      </p:grpSpPr>
      <p:sp>
        <p:nvSpPr>
          <p:cNvPr id="2" name="Text 0"/>
          <p:cNvSpPr/>
          <p:nvPr/>
        </p:nvSpPr>
        <p:spPr>
          <a:xfrm>
            <a:off x="640080" y="1874520"/>
            <a:ext cx="3657600" cy="640080"/>
          </a:xfrm>
          <a:prstGeom prst="rect">
            <a:avLst/>
          </a:prstGeom>
          <a:noFill/>
          <a:ln/>
        </p:spPr>
        <p:txBody>
          <a:bodyPr wrap="square" lIns="0" tIns="0" rIns="0" bIns="0" rtlCol="0" anchor="t"/>
          <a:lstStyle/>
          <a:p>
            <a:pPr algn="l" indent="0" marL="0">
              <a:buNone/>
            </a:pPr>
            <a:r>
              <a:rPr lang="en-US" sz="5400" dirty="0">
                <a:solidFill>
                  <a:srgbClr val="A67C2D"/>
                </a:solidFill>
                <a:latin typeface="Cambria" pitchFamily="34" charset="0"/>
                <a:ea typeface="Cambria" pitchFamily="34" charset="-122"/>
                <a:cs typeface="Cambria" pitchFamily="34" charset="-120"/>
              </a:rPr>
              <a:t>04</a:t>
            </a:r>
            <a:endParaRPr lang="en-US" sz="5400" dirty="0"/>
          </a:p>
        </p:txBody>
      </p:sp>
      <p:sp>
        <p:nvSpPr>
          <p:cNvPr id="3" name="Text 1"/>
          <p:cNvSpPr/>
          <p:nvPr/>
        </p:nvSpPr>
        <p:spPr>
          <a:xfrm>
            <a:off x="640080" y="2606040"/>
            <a:ext cx="10058400" cy="64008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Every number</a:t>
            </a:r>
            <a:endParaRPr lang="en-US" sz="4400" dirty="0"/>
          </a:p>
        </p:txBody>
      </p:sp>
      <p:sp>
        <p:nvSpPr>
          <p:cNvPr id="4" name="Text 2"/>
          <p:cNvSpPr/>
          <p:nvPr/>
        </p:nvSpPr>
        <p:spPr>
          <a:xfrm>
            <a:off x="640080" y="3429000"/>
            <a:ext cx="10058400" cy="914400"/>
          </a:xfrm>
          <a:prstGeom prst="rect">
            <a:avLst/>
          </a:prstGeom>
          <a:noFill/>
          <a:ln/>
        </p:spPr>
        <p:txBody>
          <a:bodyPr wrap="square" lIns="0" tIns="0" rIns="0" bIns="0" rtlCol="0" anchor="t"/>
          <a:lstStyle/>
          <a:p>
            <a:pPr algn="l" indent="0" marL="0">
              <a:buNone/>
            </a:pPr>
            <a:r>
              <a:rPr lang="en-US" sz="2200" dirty="0">
                <a:solidFill>
                  <a:srgbClr val="D5E0EA"/>
                </a:solidFill>
                <a:latin typeface="Calibri" pitchFamily="34" charset="0"/>
                <a:ea typeface="Calibri" pitchFamily="34" charset="-122"/>
                <a:cs typeface="Calibri" pitchFamily="34" charset="-120"/>
              </a:rPr>
              <a:t>Cash is what can be booked.</a:t>
            </a:r>
            <a:endParaRPr lang="en-US" sz="2200" dirty="0"/>
          </a:p>
          <a:p>
            <a:pPr algn="l" indent="0" marL="0">
              <a:buNone/>
            </a:pPr>
            <a:r>
              <a:rPr lang="en-US" sz="2200" dirty="0">
                <a:solidFill>
                  <a:srgbClr val="D5E0EA"/>
                </a:solidFill>
                <a:latin typeface="Calibri" pitchFamily="34" charset="0"/>
                <a:ea typeface="Calibri" pitchFamily="34" charset="-122"/>
                <a:cs typeface="Calibri" pitchFamily="34" charset="-120"/>
              </a:rPr>
              <a:t>The score only chooses which row is offered first.</a:t>
            </a:r>
            <a:endParaRPr lang="en-US" sz="2200" dirty="0"/>
          </a:p>
        </p:txBody>
      </p:sp>
      <p:sp>
        <p:nvSpPr>
          <p:cNvPr id="6" name="Text 3"/>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8EA0B3"/>
                </a:solidFill>
                <a:latin typeface="Calibri" pitchFamily="34" charset="0"/>
                <a:ea typeface="Calibri" pitchFamily="34" charset="-122"/>
                <a:cs typeface="Calibri" pitchFamily="34" charset="-120"/>
              </a:rPr>
              <a:t>Scout</a:t>
            </a:r>
            <a:endParaRPr lang="en-US" sz="1200" dirty="0"/>
          </a:p>
        </p:txBody>
      </p:sp>
      <p:sp>
        <p:nvSpPr>
          <p:cNvPr id="7" name="Text 4"/>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8EA0B3"/>
                </a:solidFill>
                <a:latin typeface="Calibri" pitchFamily="34" charset="0"/>
                <a:ea typeface="Calibri" pitchFamily="34" charset="-122"/>
                <a:cs typeface="Calibri"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CASH</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How a shelf price becomes cash</a:t>
            </a:r>
            <a:endParaRPr lang="en-US" sz="3200" dirty="0"/>
          </a:p>
        </p:txBody>
      </p:sp>
      <p:sp>
        <p:nvSpPr>
          <p:cNvPr id="4" name="Shape 2"/>
          <p:cNvSpPr/>
          <p:nvPr/>
        </p:nvSpPr>
        <p:spPr>
          <a:xfrm>
            <a:off x="457200" y="1143000"/>
            <a:ext cx="7589520" cy="932688"/>
          </a:xfrm>
          <a:prstGeom prst="roundRect">
            <a:avLst>
              <a:gd name="adj" fmla="val 7843"/>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658368" y="1399032"/>
            <a:ext cx="2103120" cy="411480"/>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Line</a:t>
            </a:r>
            <a:endParaRPr lang="en-US" sz="1600" dirty="0"/>
          </a:p>
        </p:txBody>
      </p:sp>
      <p:sp>
        <p:nvSpPr>
          <p:cNvPr id="6" name="Text 4"/>
          <p:cNvSpPr/>
          <p:nvPr/>
        </p:nvSpPr>
        <p:spPr>
          <a:xfrm>
            <a:off x="2834640" y="1280160"/>
            <a:ext cx="3017520" cy="658368"/>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shelf × quantity</a:t>
            </a:r>
            <a:endParaRPr lang="en-US" sz="1400" dirty="0"/>
          </a:p>
        </p:txBody>
      </p:sp>
      <p:sp>
        <p:nvSpPr>
          <p:cNvPr id="7" name="Text 5"/>
          <p:cNvSpPr/>
          <p:nvPr/>
        </p:nvSpPr>
        <p:spPr>
          <a:xfrm>
            <a:off x="5852160" y="1399032"/>
            <a:ext cx="2011680" cy="411480"/>
          </a:xfrm>
          <a:prstGeom prst="rect">
            <a:avLst/>
          </a:prstGeom>
          <a:noFill/>
          <a:ln/>
        </p:spPr>
        <p:txBody>
          <a:bodyPr wrap="square" lIns="0" tIns="0" rIns="0" bIns="0" rtlCol="0" anchor="t"/>
          <a:lstStyle/>
          <a:p>
            <a:pPr algn="r" indent="0" marL="0">
              <a:buNone/>
            </a:pPr>
            <a:r>
              <a:rPr lang="en-US" sz="1600" b="1" dirty="0">
                <a:solidFill>
                  <a:srgbClr val="1E6B45"/>
                </a:solidFill>
                <a:latin typeface="Calibri" pitchFamily="34" charset="0"/>
                <a:ea typeface="Calibri" pitchFamily="34" charset="-122"/>
                <a:cs typeface="Calibri" pitchFamily="34" charset="-120"/>
              </a:rPr>
              <a:t>200 × 2 = 400</a:t>
            </a:r>
            <a:endParaRPr lang="en-US" sz="1600" dirty="0"/>
          </a:p>
        </p:txBody>
      </p:sp>
      <p:sp>
        <p:nvSpPr>
          <p:cNvPr id="8" name="Shape 6"/>
          <p:cNvSpPr/>
          <p:nvPr/>
        </p:nvSpPr>
        <p:spPr>
          <a:xfrm>
            <a:off x="457200" y="2194560"/>
            <a:ext cx="7589520" cy="932688"/>
          </a:xfrm>
          <a:prstGeom prst="roundRect">
            <a:avLst>
              <a:gd name="adj" fmla="val 7843"/>
            </a:avLst>
          </a:prstGeom>
          <a:solidFill>
            <a:srgbClr val="FFFFFF"/>
          </a:solidFill>
          <a:ln/>
          <a:effectLst>
            <a:outerShdw sx="100000" sy="100000" kx="0" ky="0" algn="bl" rotWithShape="0" blurRad="152400" dist="38100" dir="5400000">
              <a:srgbClr val="0F1C2E">
                <a:alpha val="10000"/>
              </a:srgbClr>
            </a:outerShdw>
          </a:effectLst>
        </p:spPr>
      </p:sp>
      <p:sp>
        <p:nvSpPr>
          <p:cNvPr id="9" name="Text 7"/>
          <p:cNvSpPr/>
          <p:nvPr/>
        </p:nvSpPr>
        <p:spPr>
          <a:xfrm>
            <a:off x="658368" y="2450592"/>
            <a:ext cx="2103120" cy="411480"/>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Merchandise</a:t>
            </a:r>
            <a:endParaRPr lang="en-US" sz="1600" dirty="0"/>
          </a:p>
        </p:txBody>
      </p:sp>
      <p:sp>
        <p:nvSpPr>
          <p:cNvPr id="10" name="Text 8"/>
          <p:cNvSpPr/>
          <p:nvPr/>
        </p:nvSpPr>
        <p:spPr>
          <a:xfrm>
            <a:off x="2834640" y="2331720"/>
            <a:ext cx="3017520" cy="658368"/>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line − coupon, never below 0</a:t>
            </a:r>
            <a:endParaRPr lang="en-US" sz="1400" dirty="0"/>
          </a:p>
        </p:txBody>
      </p:sp>
      <p:sp>
        <p:nvSpPr>
          <p:cNvPr id="11" name="Text 9"/>
          <p:cNvSpPr/>
          <p:nvPr/>
        </p:nvSpPr>
        <p:spPr>
          <a:xfrm>
            <a:off x="5852160" y="2450592"/>
            <a:ext cx="2011680" cy="411480"/>
          </a:xfrm>
          <a:prstGeom prst="rect">
            <a:avLst/>
          </a:prstGeom>
          <a:noFill/>
          <a:ln/>
        </p:spPr>
        <p:txBody>
          <a:bodyPr wrap="square" lIns="0" tIns="0" rIns="0" bIns="0" rtlCol="0" anchor="t"/>
          <a:lstStyle/>
          <a:p>
            <a:pPr algn="r" indent="0" marL="0">
              <a:buNone/>
            </a:pPr>
            <a:r>
              <a:rPr lang="en-US" sz="1600" b="1" dirty="0">
                <a:solidFill>
                  <a:srgbClr val="1E6B45"/>
                </a:solidFill>
                <a:latin typeface="Calibri" pitchFamily="34" charset="0"/>
                <a:ea typeface="Calibri" pitchFamily="34" charset="-122"/>
                <a:cs typeface="Calibri" pitchFamily="34" charset="-120"/>
              </a:rPr>
              <a:t>400 − 80 = 320</a:t>
            </a:r>
            <a:endParaRPr lang="en-US" sz="1600" dirty="0"/>
          </a:p>
        </p:txBody>
      </p:sp>
      <p:sp>
        <p:nvSpPr>
          <p:cNvPr id="12" name="Shape 10"/>
          <p:cNvSpPr/>
          <p:nvPr/>
        </p:nvSpPr>
        <p:spPr>
          <a:xfrm>
            <a:off x="457200" y="3246120"/>
            <a:ext cx="7589520" cy="932688"/>
          </a:xfrm>
          <a:prstGeom prst="roundRect">
            <a:avLst>
              <a:gd name="adj" fmla="val 7843"/>
            </a:avLst>
          </a:prstGeom>
          <a:solidFill>
            <a:srgbClr val="FFFFFF"/>
          </a:solidFill>
          <a:ln/>
          <a:effectLst>
            <a:outerShdw sx="100000" sy="100000" kx="0" ky="0" algn="bl" rotWithShape="0" blurRad="152400" dist="38100" dir="5400000">
              <a:srgbClr val="0F1C2E">
                <a:alpha val="10000"/>
              </a:srgbClr>
            </a:outerShdw>
          </a:effectLst>
        </p:spPr>
      </p:sp>
      <p:sp>
        <p:nvSpPr>
          <p:cNvPr id="13" name="Text 11"/>
          <p:cNvSpPr/>
          <p:nvPr/>
        </p:nvSpPr>
        <p:spPr>
          <a:xfrm>
            <a:off x="658368" y="3502152"/>
            <a:ext cx="2103120" cy="411480"/>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Card discount</a:t>
            </a:r>
            <a:endParaRPr lang="en-US" sz="1600" dirty="0"/>
          </a:p>
        </p:txBody>
      </p:sp>
      <p:sp>
        <p:nvSpPr>
          <p:cNvPr id="14" name="Text 12"/>
          <p:cNvSpPr/>
          <p:nvPr/>
        </p:nvSpPr>
        <p:spPr>
          <a:xfrm>
            <a:off x="2834640" y="3383280"/>
            <a:ext cx="3017520" cy="658368"/>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the off on this tender’s own rule, if merchandise meets its minimum</a:t>
            </a:r>
            <a:endParaRPr lang="en-US" sz="1400" dirty="0"/>
          </a:p>
        </p:txBody>
      </p:sp>
      <p:sp>
        <p:nvSpPr>
          <p:cNvPr id="15" name="Text 13"/>
          <p:cNvSpPr/>
          <p:nvPr/>
        </p:nvSpPr>
        <p:spPr>
          <a:xfrm>
            <a:off x="5852160" y="3502152"/>
            <a:ext cx="2011680" cy="411480"/>
          </a:xfrm>
          <a:prstGeom prst="rect">
            <a:avLst/>
          </a:prstGeom>
          <a:noFill/>
          <a:ln/>
        </p:spPr>
        <p:txBody>
          <a:bodyPr wrap="square" lIns="0" tIns="0" rIns="0" bIns="0" rtlCol="0" anchor="t"/>
          <a:lstStyle/>
          <a:p>
            <a:pPr algn="r" indent="0" marL="0">
              <a:buNone/>
            </a:pPr>
            <a:r>
              <a:rPr lang="en-US" sz="1600" b="1" dirty="0">
                <a:solidFill>
                  <a:srgbClr val="1E6B45"/>
                </a:solidFill>
                <a:latin typeface="Calibri" pitchFamily="34" charset="0"/>
                <a:ea typeface="Calibri" pitchFamily="34" charset="-122"/>
                <a:cs typeface="Calibri" pitchFamily="34" charset="-120"/>
              </a:rPr>
              <a:t>0 on this row</a:t>
            </a:r>
            <a:endParaRPr lang="en-US" sz="1600" dirty="0"/>
          </a:p>
        </p:txBody>
      </p:sp>
      <p:sp>
        <p:nvSpPr>
          <p:cNvPr id="16" name="Shape 14"/>
          <p:cNvSpPr/>
          <p:nvPr/>
        </p:nvSpPr>
        <p:spPr>
          <a:xfrm>
            <a:off x="457200" y="4297680"/>
            <a:ext cx="7589520" cy="932688"/>
          </a:xfrm>
          <a:prstGeom prst="roundRect">
            <a:avLst>
              <a:gd name="adj" fmla="val 7843"/>
            </a:avLst>
          </a:prstGeom>
          <a:solidFill>
            <a:srgbClr val="0F1C2E"/>
          </a:solidFill>
          <a:ln/>
          <a:effectLst>
            <a:outerShdw sx="100000" sy="100000" kx="0" ky="0" algn="bl" rotWithShape="0" blurRad="152400" dist="38100" dir="5400000">
              <a:srgbClr val="0F1C2E">
                <a:alpha val="10000"/>
              </a:srgbClr>
            </a:outerShdw>
          </a:effectLst>
        </p:spPr>
      </p:sp>
      <p:sp>
        <p:nvSpPr>
          <p:cNvPr id="17" name="Text 15"/>
          <p:cNvSpPr/>
          <p:nvPr/>
        </p:nvSpPr>
        <p:spPr>
          <a:xfrm>
            <a:off x="658368" y="4553712"/>
            <a:ext cx="2103120" cy="411480"/>
          </a:xfrm>
          <a:prstGeom prst="rect">
            <a:avLst/>
          </a:prstGeom>
          <a:noFill/>
          <a:ln/>
        </p:spPr>
        <p:txBody>
          <a:bodyPr wrap="square" lIns="0" tIns="0" rIns="0" bIns="0" rtlCol="0" anchor="t"/>
          <a:lstStyle/>
          <a:p>
            <a:pPr algn="l" indent="0" marL="0">
              <a:buNone/>
            </a:pPr>
            <a:r>
              <a:rPr lang="en-US" sz="1600" b="1" dirty="0">
                <a:solidFill>
                  <a:srgbClr val="F3D48A"/>
                </a:solidFill>
                <a:latin typeface="Calibri" pitchFamily="34" charset="0"/>
                <a:ea typeface="Calibri" pitchFamily="34" charset="-122"/>
                <a:cs typeface="Calibri" pitchFamily="34" charset="-120"/>
              </a:rPr>
              <a:t>Cash</a:t>
            </a:r>
            <a:endParaRPr lang="en-US" sz="1600" dirty="0"/>
          </a:p>
        </p:txBody>
      </p:sp>
      <p:sp>
        <p:nvSpPr>
          <p:cNvPr id="18" name="Text 16"/>
          <p:cNvSpPr/>
          <p:nvPr/>
        </p:nvSpPr>
        <p:spPr>
          <a:xfrm>
            <a:off x="2834640" y="4434840"/>
            <a:ext cx="3017520" cy="658368"/>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merchandise − card discount + shipping</a:t>
            </a:r>
            <a:endParaRPr lang="en-US" sz="1400" dirty="0"/>
          </a:p>
        </p:txBody>
      </p:sp>
      <p:sp>
        <p:nvSpPr>
          <p:cNvPr id="19" name="Text 17"/>
          <p:cNvSpPr/>
          <p:nvPr/>
        </p:nvSpPr>
        <p:spPr>
          <a:xfrm>
            <a:off x="5852160" y="4553712"/>
            <a:ext cx="2011680" cy="411480"/>
          </a:xfrm>
          <a:prstGeom prst="rect">
            <a:avLst/>
          </a:prstGeom>
          <a:noFill/>
          <a:ln/>
        </p:spPr>
        <p:txBody>
          <a:bodyPr wrap="square" lIns="0" tIns="0" rIns="0" bIns="0" rtlCol="0" anchor="t"/>
          <a:lstStyle/>
          <a:p>
            <a:pPr algn="r" indent="0" marL="0">
              <a:buNone/>
            </a:pPr>
            <a:r>
              <a:rPr lang="en-US" sz="1600" b="1" dirty="0">
                <a:solidFill>
                  <a:srgbClr val="FFFFFF"/>
                </a:solidFill>
                <a:latin typeface="Calibri" pitchFamily="34" charset="0"/>
                <a:ea typeface="Calibri" pitchFamily="34" charset="-122"/>
                <a:cs typeface="Calibri" pitchFamily="34" charset="-120"/>
              </a:rPr>
              <a:t>320 + 30 = 350</a:t>
            </a:r>
            <a:endParaRPr lang="en-US" sz="1600" dirty="0"/>
          </a:p>
        </p:txBody>
      </p:sp>
      <p:sp>
        <p:nvSpPr>
          <p:cNvPr id="20" name="Shape 18"/>
          <p:cNvSpPr/>
          <p:nvPr/>
        </p:nvSpPr>
        <p:spPr>
          <a:xfrm>
            <a:off x="8275320" y="1143000"/>
            <a:ext cx="3383280" cy="4206240"/>
          </a:xfrm>
          <a:prstGeom prst="roundRect">
            <a:avLst>
              <a:gd name="adj" fmla="val 2162"/>
            </a:avLst>
          </a:prstGeom>
          <a:solidFill>
            <a:srgbClr val="EEF2F5"/>
          </a:solidFill>
          <a:ln/>
          <a:effectLst>
            <a:outerShdw sx="100000" sy="100000" kx="0" ky="0" algn="bl" rotWithShape="0" blurRad="152400" dist="38100" dir="5400000">
              <a:srgbClr val="0F1C2E">
                <a:alpha val="10000"/>
              </a:srgbClr>
            </a:outerShdw>
          </a:effectLst>
        </p:spPr>
      </p:sp>
      <p:sp>
        <p:nvSpPr>
          <p:cNvPr id="21" name="Text 19"/>
          <p:cNvSpPr/>
          <p:nvPr/>
        </p:nvSpPr>
        <p:spPr>
          <a:xfrm>
            <a:off x="8485632" y="1371600"/>
            <a:ext cx="2971800" cy="64008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Where the caps look</a:t>
            </a:r>
            <a:endParaRPr lang="en-US" sz="2000" dirty="0"/>
          </a:p>
        </p:txBody>
      </p:sp>
      <p:sp>
        <p:nvSpPr>
          <p:cNvPr id="22" name="Text 20"/>
          <p:cNvSpPr/>
          <p:nvPr/>
        </p:nvSpPr>
        <p:spPr>
          <a:xfrm>
            <a:off x="8485632" y="2148840"/>
            <a:ext cx="2971800" cy="105156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Per item sees the line, before the coupon and before the card discount.</a:t>
            </a:r>
            <a:endParaRPr lang="en-US" sz="1400" dirty="0"/>
          </a:p>
        </p:txBody>
      </p:sp>
      <p:sp>
        <p:nvSpPr>
          <p:cNvPr id="23" name="Text 21"/>
          <p:cNvSpPr/>
          <p:nvPr/>
        </p:nvSpPr>
        <p:spPr>
          <a:xfrm>
            <a:off x="8485632" y="3291840"/>
            <a:ext cx="2971800" cy="11887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Per order, the goal’s share, and the 168-hour week see cash, after the card discount.</a:t>
            </a:r>
            <a:endParaRPr lang="en-US" sz="1400" dirty="0"/>
          </a:p>
        </p:txBody>
      </p:sp>
      <p:sp>
        <p:nvSpPr>
          <p:cNvPr id="24" name="Text 22"/>
          <p:cNvSpPr/>
          <p:nvPr/>
        </p:nvSpPr>
        <p:spPr>
          <a:xfrm>
            <a:off x="502920" y="5486400"/>
            <a:ext cx="11155680" cy="640080"/>
          </a:xfrm>
          <a:prstGeom prst="rect">
            <a:avLst/>
          </a:prstGeom>
          <a:noFill/>
          <a:ln/>
        </p:spPr>
        <p:txBody>
          <a:bodyPr wrap="square" lIns="0" tIns="0" rIns="0" bIns="0" rtlCol="0" anchor="t"/>
          <a:lstStyle/>
          <a:p>
            <a:pPr algn="l" indent="0" marL="0">
              <a:buNone/>
            </a:pPr>
            <a:r>
              <a:rPr lang="en-US" sz="1400" dirty="0">
                <a:solidFill>
                  <a:srgbClr val="4E6070"/>
                </a:solidFill>
                <a:latin typeface="Calibri" pitchFamily="34" charset="0"/>
                <a:ea typeface="Calibri" pitchFamily="34" charset="-122"/>
                <a:cs typeface="Calibri" pitchFamily="34" charset="-120"/>
              </a:rPr>
              <a:t>The red-balloon quote is the same identity at a smaller size: 50 + 10 = 60. No card rule, so the discount is 0.</a:t>
            </a:r>
            <a:endParaRPr lang="en-US" sz="1400" dirty="0"/>
          </a:p>
        </p:txBody>
      </p:sp>
      <p:sp>
        <p:nvSpPr>
          <p:cNvPr id="26" name="Text 23"/>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27" name="Text 24"/>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WHAT DOES NOT CHANGE THE CHARGE</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350 can be booked. 300 cannot.</a:t>
            </a:r>
            <a:endParaRPr lang="en-US" sz="3200" dirty="0"/>
          </a:p>
        </p:txBody>
      </p:sp>
      <p:sp>
        <p:nvSpPr>
          <p:cNvPr id="4" name="Shape 2"/>
          <p:cNvSpPr/>
          <p:nvPr/>
        </p:nvSpPr>
        <p:spPr>
          <a:xfrm>
            <a:off x="457200" y="1143000"/>
            <a:ext cx="5623560" cy="2880360"/>
          </a:xfrm>
          <a:prstGeom prst="roundRect">
            <a:avLst>
              <a:gd name="adj" fmla="val 2540"/>
            </a:avLst>
          </a:prstGeom>
          <a:solidFill>
            <a:srgbClr val="0F1C2E"/>
          </a:solidFill>
          <a:ln/>
          <a:effectLst>
            <a:outerShdw sx="100000" sy="100000" kx="0" ky="0" algn="bl" rotWithShape="0" blurRad="152400" dist="38100" dir="5400000">
              <a:srgbClr val="0F1C2E">
                <a:alpha val="10000"/>
              </a:srgbClr>
            </a:outerShdw>
          </a:effectLst>
        </p:spPr>
      </p:sp>
      <p:sp>
        <p:nvSpPr>
          <p:cNvPr id="5" name="Text 3"/>
          <p:cNvSpPr/>
          <p:nvPr/>
        </p:nvSpPr>
        <p:spPr>
          <a:xfrm>
            <a:off x="685800" y="1325880"/>
            <a:ext cx="5212080" cy="365760"/>
          </a:xfrm>
          <a:prstGeom prst="rect">
            <a:avLst/>
          </a:prstGeom>
          <a:noFill/>
          <a:ln/>
        </p:spPr>
        <p:txBody>
          <a:bodyPr wrap="square" lIns="0" tIns="0" rIns="0" bIns="0" rtlCol="0" anchor="t"/>
          <a:lstStyle/>
          <a:p>
            <a:pPr algn="l" indent="0" marL="0">
              <a:buNone/>
            </a:pPr>
            <a:r>
              <a:rPr lang="en-US" sz="1600" dirty="0">
                <a:solidFill>
                  <a:srgbClr val="A67C2D"/>
                </a:solidFill>
                <a:latin typeface="Calibri" pitchFamily="34" charset="0"/>
                <a:ea typeface="Calibri" pitchFamily="34" charset="-122"/>
                <a:cs typeface="Calibri" pitchFamily="34" charset="-120"/>
              </a:rPr>
              <a:t>Cash stays 350</a:t>
            </a:r>
            <a:endParaRPr lang="en-US" sz="1600" dirty="0"/>
          </a:p>
        </p:txBody>
      </p:sp>
      <p:sp>
        <p:nvSpPr>
          <p:cNvPr id="6" name="Text 4"/>
          <p:cNvSpPr/>
          <p:nvPr/>
        </p:nvSpPr>
        <p:spPr>
          <a:xfrm>
            <a:off x="685800" y="1783080"/>
            <a:ext cx="5212080" cy="502920"/>
          </a:xfrm>
          <a:prstGeom prst="rect">
            <a:avLst/>
          </a:prstGeom>
          <a:noFill/>
          <a:ln/>
        </p:spPr>
        <p:txBody>
          <a:bodyPr wrap="square" lIns="0" tIns="0" rIns="0" bIns="0" rtlCol="0" anchor="t"/>
          <a:lstStyle/>
          <a:p>
            <a:pPr algn="l" indent="0" marL="0">
              <a:buNone/>
            </a:pPr>
            <a:r>
              <a:rPr lang="en-US" sz="2600" b="1" dirty="0">
                <a:solidFill>
                  <a:srgbClr val="FFFFFF"/>
                </a:solidFill>
                <a:latin typeface="Cambria" pitchFamily="34" charset="0"/>
                <a:ea typeface="Cambria" pitchFamily="34" charset="-122"/>
                <a:cs typeface="Cambria" pitchFamily="34" charset="-120"/>
              </a:rPr>
              <a:t>Score cost becomes 300</a:t>
            </a:r>
            <a:endParaRPr lang="en-US" sz="2600" dirty="0"/>
          </a:p>
        </p:txBody>
      </p:sp>
      <p:sp>
        <p:nvSpPr>
          <p:cNvPr id="7" name="Text 5"/>
          <p:cNvSpPr/>
          <p:nvPr/>
        </p:nvSpPr>
        <p:spPr>
          <a:xfrm>
            <a:off x="685800" y="2468880"/>
            <a:ext cx="5120640" cy="1280160"/>
          </a:xfrm>
          <a:prstGeom prst="rect">
            <a:avLst/>
          </a:prstGeom>
          <a:noFill/>
          <a:ln/>
        </p:spPr>
        <p:txBody>
          <a:bodyPr wrap="square" lIns="0" tIns="0" rIns="0" bIns="0" rtlCol="0" anchor="t"/>
          <a:lstStyle/>
          <a:p>
            <a:pPr algn="l" indent="0" marL="0">
              <a:buNone/>
            </a:pPr>
            <a:r>
              <a:rPr lang="en-US" sz="1500" dirty="0">
                <a:solidFill>
                  <a:srgbClr val="E6EDF4"/>
                </a:solidFill>
                <a:latin typeface="Calibri" pitchFamily="34" charset="0"/>
                <a:ea typeface="Calibri" pitchFamily="34" charset="-122"/>
                <a:cs typeface="Calibri" pitchFamily="34" charset="-120"/>
              </a:rPr>
              <a:t>Rewards on. Gift 100 counts as half, so the score moves by 50. Cash, the order cap, and the week do not move. Rewards off: score cost equals cash.</a:t>
            </a:r>
            <a:endParaRPr lang="en-US" sz="1500" dirty="0"/>
          </a:p>
        </p:txBody>
      </p:sp>
      <p:sp>
        <p:nvSpPr>
          <p:cNvPr id="8" name="Shape 6"/>
          <p:cNvSpPr/>
          <p:nvPr/>
        </p:nvSpPr>
        <p:spPr>
          <a:xfrm>
            <a:off x="6263640" y="1143000"/>
            <a:ext cx="5394960" cy="2880360"/>
          </a:xfrm>
          <a:prstGeom prst="roundRect">
            <a:avLst>
              <a:gd name="adj" fmla="val 2540"/>
            </a:avLst>
          </a:prstGeom>
          <a:solidFill>
            <a:srgbClr val="FFFFFF"/>
          </a:solidFill>
          <a:ln/>
          <a:effectLst>
            <a:outerShdw sx="100000" sy="100000" kx="0" ky="0" algn="bl" rotWithShape="0" blurRad="152400" dist="38100" dir="5400000">
              <a:srgbClr val="0F1C2E">
                <a:alpha val="10000"/>
              </a:srgbClr>
            </a:outerShdw>
          </a:effectLst>
        </p:spPr>
      </p:sp>
      <p:sp>
        <p:nvSpPr>
          <p:cNvPr id="9" name="Text 7"/>
          <p:cNvSpPr/>
          <p:nvPr/>
        </p:nvSpPr>
        <p:spPr>
          <a:xfrm>
            <a:off x="6492240" y="1325880"/>
            <a:ext cx="4937760" cy="320040"/>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Cashback</a:t>
            </a:r>
            <a:endParaRPr lang="en-US" sz="1600" dirty="0"/>
          </a:p>
        </p:txBody>
      </p:sp>
      <p:sp>
        <p:nvSpPr>
          <p:cNvPr id="10" name="Text 8"/>
          <p:cNvSpPr/>
          <p:nvPr/>
        </p:nvSpPr>
        <p:spPr>
          <a:xfrm>
            <a:off x="6492240" y="1737360"/>
            <a:ext cx="4937760" cy="320040"/>
          </a:xfrm>
          <a:prstGeom prst="rect">
            <a:avLst/>
          </a:prstGeom>
          <a:noFill/>
          <a:ln/>
        </p:spPr>
        <p:txBody>
          <a:bodyPr wrap="square" lIns="0" tIns="0" rIns="0" bIns="0" rtlCol="0" anchor="t"/>
          <a:lstStyle/>
          <a:p>
            <a:pPr algn="l" indent="0" marL="0">
              <a:buNone/>
            </a:pPr>
            <a:r>
              <a:rPr lang="en-US" sz="2000" dirty="0">
                <a:solidFill>
                  <a:srgbClr val="1E6B45"/>
                </a:solidFill>
                <a:latin typeface="Cambria" pitchFamily="34" charset="0"/>
                <a:ea typeface="Cambria" pitchFamily="34" charset="-122"/>
                <a:cs typeface="Cambria" pitchFamily="34" charset="-120"/>
              </a:rPr>
              <a:t>merchandise × reward rate</a:t>
            </a:r>
            <a:endParaRPr lang="en-US" sz="2000" dirty="0"/>
          </a:p>
        </p:txBody>
      </p:sp>
      <p:sp>
        <p:nvSpPr>
          <p:cNvPr id="11" name="Text 9"/>
          <p:cNvSpPr/>
          <p:nvPr/>
        </p:nvSpPr>
        <p:spPr>
          <a:xfrm>
            <a:off x="6492240" y="2194560"/>
            <a:ext cx="4937760" cy="146304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Shipping is excluded. It is written only after a successful booking. A refund sets that receipt’s cashback to 0 and leaves the week unchanged.</a:t>
            </a:r>
            <a:endParaRPr lang="en-US" sz="1500" dirty="0"/>
          </a:p>
        </p:txBody>
      </p:sp>
      <p:sp>
        <p:nvSpPr>
          <p:cNvPr id="12" name="Shape 10"/>
          <p:cNvSpPr/>
          <p:nvPr/>
        </p:nvSpPr>
        <p:spPr>
          <a:xfrm>
            <a:off x="457200" y="4206240"/>
            <a:ext cx="2761488" cy="1234440"/>
          </a:xfrm>
          <a:prstGeom prst="roundRect">
            <a:avLst>
              <a:gd name="adj" fmla="val 5926"/>
            </a:avLst>
          </a:prstGeom>
          <a:solidFill>
            <a:srgbClr val="EEF2F5"/>
          </a:solidFill>
          <a:ln/>
          <a:effectLst>
            <a:outerShdw sx="100000" sy="100000" kx="0" ky="0" algn="bl" rotWithShape="0" blurRad="152400" dist="38100" dir="5400000">
              <a:srgbClr val="0F1C2E">
                <a:alpha val="10000"/>
              </a:srgbClr>
            </a:outerShdw>
          </a:effectLst>
        </p:spPr>
      </p:sp>
      <p:sp>
        <p:nvSpPr>
          <p:cNvPr id="13" name="Text 11"/>
          <p:cNvSpPr/>
          <p:nvPr/>
        </p:nvSpPr>
        <p:spPr>
          <a:xfrm>
            <a:off x="621792" y="4343400"/>
            <a:ext cx="2432304" cy="320040"/>
          </a:xfrm>
          <a:prstGeom prst="rect">
            <a:avLst/>
          </a:prstGeom>
          <a:noFill/>
          <a:ln/>
        </p:spPr>
        <p:txBody>
          <a:bodyPr wrap="square" lIns="0" tIns="0" rIns="0" bIns="0" rtlCol="0" anchor="t"/>
          <a:lstStyle/>
          <a:p>
            <a:pPr algn="l" indent="0" marL="0">
              <a:buNone/>
            </a:pPr>
            <a:r>
              <a:rPr lang="en-US" sz="1300" b="1" dirty="0">
                <a:solidFill>
                  <a:srgbClr val="4E6070"/>
                </a:solidFill>
                <a:latin typeface="Calibri" pitchFamily="34" charset="0"/>
                <a:ea typeface="Calibri" pitchFamily="34" charset="-122"/>
                <a:cs typeface="Calibri" pitchFamily="34" charset="-120"/>
              </a:rPr>
              <a:t>HKD</a:t>
            </a:r>
            <a:endParaRPr lang="en-US" sz="1300" dirty="0"/>
          </a:p>
        </p:txBody>
      </p:sp>
      <p:sp>
        <p:nvSpPr>
          <p:cNvPr id="14" name="Text 12"/>
          <p:cNvSpPr/>
          <p:nvPr/>
        </p:nvSpPr>
        <p:spPr>
          <a:xfrm>
            <a:off x="621792" y="4709160"/>
            <a:ext cx="2432304" cy="45720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 1</a:t>
            </a:r>
            <a:endParaRPr lang="en-US" sz="2000" dirty="0"/>
          </a:p>
        </p:txBody>
      </p:sp>
      <p:sp>
        <p:nvSpPr>
          <p:cNvPr id="15" name="Shape 13"/>
          <p:cNvSpPr/>
          <p:nvPr/>
        </p:nvSpPr>
        <p:spPr>
          <a:xfrm>
            <a:off x="3383280" y="4206240"/>
            <a:ext cx="2761488" cy="1234440"/>
          </a:xfrm>
          <a:prstGeom prst="roundRect">
            <a:avLst>
              <a:gd name="adj" fmla="val 5926"/>
            </a:avLst>
          </a:prstGeom>
          <a:solidFill>
            <a:srgbClr val="EEF2F5"/>
          </a:solidFill>
          <a:ln/>
          <a:effectLst>
            <a:outerShdw sx="100000" sy="100000" kx="0" ky="0" algn="bl" rotWithShape="0" blurRad="152400" dist="38100" dir="5400000">
              <a:srgbClr val="0F1C2E">
                <a:alpha val="10000"/>
              </a:srgbClr>
            </a:outerShdw>
          </a:effectLst>
        </p:spPr>
      </p:sp>
      <p:sp>
        <p:nvSpPr>
          <p:cNvPr id="16" name="Text 14"/>
          <p:cNvSpPr/>
          <p:nvPr/>
        </p:nvSpPr>
        <p:spPr>
          <a:xfrm>
            <a:off x="3547872" y="4343400"/>
            <a:ext cx="2432304" cy="320040"/>
          </a:xfrm>
          <a:prstGeom prst="rect">
            <a:avLst/>
          </a:prstGeom>
          <a:noFill/>
          <a:ln/>
        </p:spPr>
        <p:txBody>
          <a:bodyPr wrap="square" lIns="0" tIns="0" rIns="0" bIns="0" rtlCol="0" anchor="t"/>
          <a:lstStyle/>
          <a:p>
            <a:pPr algn="l" indent="0" marL="0">
              <a:buNone/>
            </a:pPr>
            <a:r>
              <a:rPr lang="en-US" sz="1300" b="1" dirty="0">
                <a:solidFill>
                  <a:srgbClr val="4E6070"/>
                </a:solidFill>
                <a:latin typeface="Calibri" pitchFamily="34" charset="0"/>
                <a:ea typeface="Calibri" pitchFamily="34" charset="-122"/>
                <a:cs typeface="Calibri" pitchFamily="34" charset="-120"/>
              </a:rPr>
              <a:t>CNY</a:t>
            </a:r>
            <a:endParaRPr lang="en-US" sz="1300" dirty="0"/>
          </a:p>
        </p:txBody>
      </p:sp>
      <p:sp>
        <p:nvSpPr>
          <p:cNvPr id="17" name="Text 15"/>
          <p:cNvSpPr/>
          <p:nvPr/>
        </p:nvSpPr>
        <p:spPr>
          <a:xfrm>
            <a:off x="3547872" y="4709160"/>
            <a:ext cx="2432304" cy="45720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 1.08</a:t>
            </a:r>
            <a:endParaRPr lang="en-US" sz="2000" dirty="0"/>
          </a:p>
        </p:txBody>
      </p:sp>
      <p:sp>
        <p:nvSpPr>
          <p:cNvPr id="18" name="Shape 16"/>
          <p:cNvSpPr/>
          <p:nvPr/>
        </p:nvSpPr>
        <p:spPr>
          <a:xfrm>
            <a:off x="6309360" y="4206240"/>
            <a:ext cx="2761488" cy="1234440"/>
          </a:xfrm>
          <a:prstGeom prst="roundRect">
            <a:avLst>
              <a:gd name="adj" fmla="val 5926"/>
            </a:avLst>
          </a:prstGeom>
          <a:solidFill>
            <a:srgbClr val="EEF2F5"/>
          </a:solidFill>
          <a:ln/>
          <a:effectLst>
            <a:outerShdw sx="100000" sy="100000" kx="0" ky="0" algn="bl" rotWithShape="0" blurRad="152400" dist="38100" dir="5400000">
              <a:srgbClr val="0F1C2E">
                <a:alpha val="10000"/>
              </a:srgbClr>
            </a:outerShdw>
          </a:effectLst>
        </p:spPr>
      </p:sp>
      <p:sp>
        <p:nvSpPr>
          <p:cNvPr id="19" name="Text 17"/>
          <p:cNvSpPr/>
          <p:nvPr/>
        </p:nvSpPr>
        <p:spPr>
          <a:xfrm>
            <a:off x="6473952" y="4343400"/>
            <a:ext cx="2432304" cy="320040"/>
          </a:xfrm>
          <a:prstGeom prst="rect">
            <a:avLst/>
          </a:prstGeom>
          <a:noFill/>
          <a:ln/>
        </p:spPr>
        <p:txBody>
          <a:bodyPr wrap="square" lIns="0" tIns="0" rIns="0" bIns="0" rtlCol="0" anchor="t"/>
          <a:lstStyle/>
          <a:p>
            <a:pPr algn="l" indent="0" marL="0">
              <a:buNone/>
            </a:pPr>
            <a:r>
              <a:rPr lang="en-US" sz="1300" b="1" dirty="0">
                <a:solidFill>
                  <a:srgbClr val="4E6070"/>
                </a:solidFill>
                <a:latin typeface="Calibri" pitchFamily="34" charset="0"/>
                <a:ea typeface="Calibri" pitchFamily="34" charset="-122"/>
                <a:cs typeface="Calibri" pitchFamily="34" charset="-120"/>
              </a:rPr>
              <a:t>USD</a:t>
            </a:r>
            <a:endParaRPr lang="en-US" sz="1300" dirty="0"/>
          </a:p>
        </p:txBody>
      </p:sp>
      <p:sp>
        <p:nvSpPr>
          <p:cNvPr id="20" name="Text 18"/>
          <p:cNvSpPr/>
          <p:nvPr/>
        </p:nvSpPr>
        <p:spPr>
          <a:xfrm>
            <a:off x="6473952" y="4709160"/>
            <a:ext cx="2432304" cy="45720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 7.8</a:t>
            </a:r>
            <a:endParaRPr lang="en-US" sz="2000" dirty="0"/>
          </a:p>
        </p:txBody>
      </p:sp>
      <p:sp>
        <p:nvSpPr>
          <p:cNvPr id="21" name="Shape 19"/>
          <p:cNvSpPr/>
          <p:nvPr/>
        </p:nvSpPr>
        <p:spPr>
          <a:xfrm>
            <a:off x="9235440" y="4206240"/>
            <a:ext cx="2761488" cy="1234440"/>
          </a:xfrm>
          <a:prstGeom prst="roundRect">
            <a:avLst>
              <a:gd name="adj" fmla="val 5926"/>
            </a:avLst>
          </a:prstGeom>
          <a:solidFill>
            <a:srgbClr val="EEF2F5"/>
          </a:solidFill>
          <a:ln/>
          <a:effectLst>
            <a:outerShdw sx="100000" sy="100000" kx="0" ky="0" algn="bl" rotWithShape="0" blurRad="152400" dist="38100" dir="5400000">
              <a:srgbClr val="0F1C2E">
                <a:alpha val="10000"/>
              </a:srgbClr>
            </a:outerShdw>
          </a:effectLst>
        </p:spPr>
      </p:sp>
      <p:sp>
        <p:nvSpPr>
          <p:cNvPr id="22" name="Text 20"/>
          <p:cNvSpPr/>
          <p:nvPr/>
        </p:nvSpPr>
        <p:spPr>
          <a:xfrm>
            <a:off x="9400032" y="4343400"/>
            <a:ext cx="2432304" cy="320040"/>
          </a:xfrm>
          <a:prstGeom prst="rect">
            <a:avLst/>
          </a:prstGeom>
          <a:noFill/>
          <a:ln/>
        </p:spPr>
        <p:txBody>
          <a:bodyPr wrap="square" lIns="0" tIns="0" rIns="0" bIns="0" rtlCol="0" anchor="t"/>
          <a:lstStyle/>
          <a:p>
            <a:pPr algn="l" indent="0" marL="0">
              <a:buNone/>
            </a:pPr>
            <a:r>
              <a:rPr lang="en-US" sz="1300" b="1" dirty="0">
                <a:solidFill>
                  <a:srgbClr val="4E6070"/>
                </a:solidFill>
                <a:latin typeface="Calibri" pitchFamily="34" charset="0"/>
                <a:ea typeface="Calibri" pitchFamily="34" charset="-122"/>
                <a:cs typeface="Calibri" pitchFamily="34" charset="-120"/>
              </a:rPr>
              <a:t>Stamp</a:t>
            </a:r>
            <a:endParaRPr lang="en-US" sz="1300" dirty="0"/>
          </a:p>
        </p:txBody>
      </p:sp>
      <p:sp>
        <p:nvSpPr>
          <p:cNvPr id="23" name="Text 21"/>
          <p:cNvSpPr/>
          <p:nvPr/>
        </p:nvSpPr>
        <p:spPr>
          <a:xfrm>
            <a:off x="9400032" y="4709160"/>
            <a:ext cx="2432304" cy="45720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2026-10-03 00:00 UTC</a:t>
            </a:r>
            <a:endParaRPr lang="en-US" sz="2000" dirty="0"/>
          </a:p>
        </p:txBody>
      </p:sp>
      <p:sp>
        <p:nvSpPr>
          <p:cNvPr id="24" name="Text 22"/>
          <p:cNvSpPr/>
          <p:nvPr/>
        </p:nvSpPr>
        <p:spPr>
          <a:xfrm>
            <a:off x="502920" y="5623560"/>
            <a:ext cx="10972800" cy="365760"/>
          </a:xfrm>
          <a:prstGeom prst="rect">
            <a:avLst/>
          </a:prstGeom>
          <a:noFill/>
          <a:ln/>
        </p:spPr>
        <p:txBody>
          <a:bodyPr wrap="square" lIns="0" tIns="0" rIns="0" bIns="0" rtlCol="0" anchor="t"/>
          <a:lstStyle/>
          <a:p>
            <a:pPr algn="l" indent="0" marL="0">
              <a:buNone/>
            </a:pPr>
            <a:r>
              <a:rPr lang="en-US" sz="1400" dirty="0">
                <a:solidFill>
                  <a:srgbClr val="4E6070"/>
                </a:solidFill>
                <a:latin typeface="Calibri" pitchFamily="34" charset="0"/>
                <a:ea typeface="Calibri" pitchFamily="34" charset="-122"/>
                <a:cs typeface="Calibri" pitchFamily="34" charset="-120"/>
              </a:rPr>
              <a:t>Foreign shelf prices are converted to the cent before scoring. The stamp is stored on the quote.</a:t>
            </a:r>
            <a:endParaRPr lang="en-US" sz="1400" dirty="0"/>
          </a:p>
        </p:txBody>
      </p:sp>
      <p:sp>
        <p:nvSpPr>
          <p:cNvPr id="26" name="Text 23"/>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27" name="Text 24"/>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THE SCORE</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Six parts, added. Higher wins.</a:t>
            </a:r>
            <a:endParaRPr lang="en-US" sz="3200" dirty="0"/>
          </a:p>
        </p:txBody>
      </p:sp>
      <p:sp>
        <p:nvSpPr>
          <p:cNvPr id="4" name="Shape 2"/>
          <p:cNvSpPr/>
          <p:nvPr/>
        </p:nvSpPr>
        <p:spPr>
          <a:xfrm>
            <a:off x="365760" y="114300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548640" y="1289304"/>
            <a:ext cx="3383280" cy="411480"/>
          </a:xfrm>
          <a:prstGeom prst="rect">
            <a:avLst/>
          </a:prstGeom>
          <a:noFill/>
          <a:ln/>
        </p:spPr>
        <p:txBody>
          <a:bodyPr wrap="square" lIns="0" tIns="0" rIns="0" bIns="0" rtlCol="0" anchor="t"/>
          <a:lstStyle/>
          <a:p>
            <a:pPr algn="l" indent="0" marL="0">
              <a:buNone/>
            </a:pPr>
            <a:r>
              <a:rPr lang="en-US" sz="2600" b="1" dirty="0">
                <a:solidFill>
                  <a:srgbClr val="A67C2D"/>
                </a:solidFill>
                <a:latin typeface="Cambria" pitchFamily="34" charset="0"/>
                <a:ea typeface="Cambria" pitchFamily="34" charset="-122"/>
                <a:cs typeface="Cambria" pitchFamily="34" charset="-120"/>
              </a:rPr>
              <a:t>0.35</a:t>
            </a:r>
            <a:endParaRPr lang="en-US" sz="2600" dirty="0"/>
          </a:p>
        </p:txBody>
      </p:sp>
      <p:sp>
        <p:nvSpPr>
          <p:cNvPr id="6" name="Text 4"/>
          <p:cNvSpPr/>
          <p:nvPr/>
        </p:nvSpPr>
        <p:spPr>
          <a:xfrm>
            <a:off x="548640" y="1764792"/>
            <a:ext cx="3383280" cy="320040"/>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Relevance</a:t>
            </a:r>
            <a:endParaRPr lang="en-US" sz="1600" dirty="0"/>
          </a:p>
        </p:txBody>
      </p:sp>
      <p:sp>
        <p:nvSpPr>
          <p:cNvPr id="7" name="Text 5"/>
          <p:cNvSpPr/>
          <p:nvPr/>
        </p:nvSpPr>
        <p:spPr>
          <a:xfrm>
            <a:off x="548640" y="2167128"/>
            <a:ext cx="3383280" cy="114300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full share, on every survivor. Category, brand, and appearance already removed mismatches, so this part does not reorder the rows.</a:t>
            </a:r>
            <a:endParaRPr lang="en-US" sz="1300" dirty="0"/>
          </a:p>
        </p:txBody>
      </p:sp>
      <p:sp>
        <p:nvSpPr>
          <p:cNvPr id="8" name="Shape 6"/>
          <p:cNvSpPr/>
          <p:nvPr/>
        </p:nvSpPr>
        <p:spPr>
          <a:xfrm>
            <a:off x="4279392" y="114300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9" name="Text 7"/>
          <p:cNvSpPr/>
          <p:nvPr/>
        </p:nvSpPr>
        <p:spPr>
          <a:xfrm>
            <a:off x="4462272" y="1289304"/>
            <a:ext cx="3383280" cy="411480"/>
          </a:xfrm>
          <a:prstGeom prst="rect">
            <a:avLst/>
          </a:prstGeom>
          <a:noFill/>
          <a:ln/>
        </p:spPr>
        <p:txBody>
          <a:bodyPr wrap="square" lIns="0" tIns="0" rIns="0" bIns="0" rtlCol="0" anchor="t"/>
          <a:lstStyle/>
          <a:p>
            <a:pPr algn="l" indent="0" marL="0">
              <a:buNone/>
            </a:pPr>
            <a:r>
              <a:rPr lang="en-US" sz="2600" b="1" dirty="0">
                <a:solidFill>
                  <a:srgbClr val="A67C2D"/>
                </a:solidFill>
                <a:latin typeface="Cambria" pitchFamily="34" charset="0"/>
                <a:ea typeface="Cambria" pitchFamily="34" charset="-122"/>
                <a:cs typeface="Cambria" pitchFamily="34" charset="-120"/>
              </a:rPr>
              <a:t>0.25</a:t>
            </a:r>
            <a:endParaRPr lang="en-US" sz="2600" dirty="0"/>
          </a:p>
        </p:txBody>
      </p:sp>
      <p:sp>
        <p:nvSpPr>
          <p:cNvPr id="10" name="Text 8"/>
          <p:cNvSpPr/>
          <p:nvPr/>
        </p:nvSpPr>
        <p:spPr>
          <a:xfrm>
            <a:off x="4462272" y="1764792"/>
            <a:ext cx="3383280" cy="320040"/>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Cash</a:t>
            </a:r>
            <a:endParaRPr lang="en-US" sz="1600" dirty="0"/>
          </a:p>
        </p:txBody>
      </p:sp>
      <p:sp>
        <p:nvSpPr>
          <p:cNvPr id="11" name="Text 9"/>
          <p:cNvSpPr/>
          <p:nvPr/>
        </p:nvSpPr>
        <p:spPr>
          <a:xfrm>
            <a:off x="4462272" y="2167128"/>
            <a:ext cx="3383280" cy="114300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Share × (1 − this cash / highest cash). The cash is the cheapest tender the form allows. Lower cash makes a larger part.</a:t>
            </a:r>
            <a:endParaRPr lang="en-US" sz="1300" dirty="0"/>
          </a:p>
        </p:txBody>
      </p:sp>
      <p:sp>
        <p:nvSpPr>
          <p:cNvPr id="12" name="Shape 10"/>
          <p:cNvSpPr/>
          <p:nvPr/>
        </p:nvSpPr>
        <p:spPr>
          <a:xfrm>
            <a:off x="8193024" y="114300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13" name="Text 11"/>
          <p:cNvSpPr/>
          <p:nvPr/>
        </p:nvSpPr>
        <p:spPr>
          <a:xfrm>
            <a:off x="8375904" y="1289304"/>
            <a:ext cx="3383280" cy="411480"/>
          </a:xfrm>
          <a:prstGeom prst="rect">
            <a:avLst/>
          </a:prstGeom>
          <a:noFill/>
          <a:ln/>
        </p:spPr>
        <p:txBody>
          <a:bodyPr wrap="square" lIns="0" tIns="0" rIns="0" bIns="0" rtlCol="0" anchor="t"/>
          <a:lstStyle/>
          <a:p>
            <a:pPr algn="l" indent="0" marL="0">
              <a:buNone/>
            </a:pPr>
            <a:r>
              <a:rPr lang="en-US" sz="2600" b="1" dirty="0">
                <a:solidFill>
                  <a:srgbClr val="A67C2D"/>
                </a:solidFill>
                <a:latin typeface="Cambria" pitchFamily="34" charset="0"/>
                <a:ea typeface="Cambria" pitchFamily="34" charset="-122"/>
                <a:cs typeface="Cambria" pitchFamily="34" charset="-120"/>
              </a:rPr>
              <a:t>0.15</a:t>
            </a:r>
            <a:endParaRPr lang="en-US" sz="2600" dirty="0"/>
          </a:p>
        </p:txBody>
      </p:sp>
      <p:sp>
        <p:nvSpPr>
          <p:cNvPr id="14" name="Text 12"/>
          <p:cNvSpPr/>
          <p:nvPr/>
        </p:nvSpPr>
        <p:spPr>
          <a:xfrm>
            <a:off x="8375904" y="1764792"/>
            <a:ext cx="3383280" cy="320040"/>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Rating</a:t>
            </a:r>
            <a:endParaRPr lang="en-US" sz="1600" dirty="0"/>
          </a:p>
        </p:txBody>
      </p:sp>
      <p:sp>
        <p:nvSpPr>
          <p:cNvPr id="15" name="Text 13"/>
          <p:cNvSpPr/>
          <p:nvPr/>
        </p:nvSpPr>
        <p:spPr>
          <a:xfrm>
            <a:off x="8375904" y="2167128"/>
            <a:ext cx="3383280" cy="114300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Share × stars / 5. The catalogue stops at 5 stars.</a:t>
            </a:r>
            <a:endParaRPr lang="en-US" sz="1300" dirty="0"/>
          </a:p>
        </p:txBody>
      </p:sp>
      <p:sp>
        <p:nvSpPr>
          <p:cNvPr id="16" name="Shape 14"/>
          <p:cNvSpPr/>
          <p:nvPr/>
        </p:nvSpPr>
        <p:spPr>
          <a:xfrm>
            <a:off x="365760" y="370332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17" name="Text 15"/>
          <p:cNvSpPr/>
          <p:nvPr/>
        </p:nvSpPr>
        <p:spPr>
          <a:xfrm>
            <a:off x="548640" y="3849624"/>
            <a:ext cx="3383280" cy="411480"/>
          </a:xfrm>
          <a:prstGeom prst="rect">
            <a:avLst/>
          </a:prstGeom>
          <a:noFill/>
          <a:ln/>
        </p:spPr>
        <p:txBody>
          <a:bodyPr wrap="square" lIns="0" tIns="0" rIns="0" bIns="0" rtlCol="0" anchor="t"/>
          <a:lstStyle/>
          <a:p>
            <a:pPr algn="l" indent="0" marL="0">
              <a:buNone/>
            </a:pPr>
            <a:r>
              <a:rPr lang="en-US" sz="2600" b="1" dirty="0">
                <a:solidFill>
                  <a:srgbClr val="A67C2D"/>
                </a:solidFill>
                <a:latin typeface="Cambria" pitchFamily="34" charset="0"/>
                <a:ea typeface="Cambria" pitchFamily="34" charset="-122"/>
                <a:cs typeface="Cambria" pitchFamily="34" charset="-120"/>
              </a:rPr>
              <a:t>0.10</a:t>
            </a:r>
            <a:endParaRPr lang="en-US" sz="2600" dirty="0"/>
          </a:p>
        </p:txBody>
      </p:sp>
      <p:sp>
        <p:nvSpPr>
          <p:cNvPr id="18" name="Text 16"/>
          <p:cNvSpPr/>
          <p:nvPr/>
        </p:nvSpPr>
        <p:spPr>
          <a:xfrm>
            <a:off x="548640" y="4325112"/>
            <a:ext cx="3383280" cy="320040"/>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Purchases</a:t>
            </a:r>
            <a:endParaRPr lang="en-US" sz="1600" dirty="0"/>
          </a:p>
        </p:txBody>
      </p:sp>
      <p:sp>
        <p:nvSpPr>
          <p:cNvPr id="19" name="Text 17"/>
          <p:cNvSpPr/>
          <p:nvPr/>
        </p:nvSpPr>
        <p:spPr>
          <a:xfrm>
            <a:off x="548640" y="4727448"/>
            <a:ext cx="3383280" cy="114300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Share × this count / the highest count still racing. The catalogue’s count, not this person’s history.</a:t>
            </a:r>
            <a:endParaRPr lang="en-US" sz="1300" dirty="0"/>
          </a:p>
        </p:txBody>
      </p:sp>
      <p:sp>
        <p:nvSpPr>
          <p:cNvPr id="20" name="Shape 18"/>
          <p:cNvSpPr/>
          <p:nvPr/>
        </p:nvSpPr>
        <p:spPr>
          <a:xfrm>
            <a:off x="4279392" y="370332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21" name="Text 19"/>
          <p:cNvSpPr/>
          <p:nvPr/>
        </p:nvSpPr>
        <p:spPr>
          <a:xfrm>
            <a:off x="4462272" y="3849624"/>
            <a:ext cx="3383280" cy="411480"/>
          </a:xfrm>
          <a:prstGeom prst="rect">
            <a:avLst/>
          </a:prstGeom>
          <a:noFill/>
          <a:ln/>
        </p:spPr>
        <p:txBody>
          <a:bodyPr wrap="square" lIns="0" tIns="0" rIns="0" bIns="0" rtlCol="0" anchor="t"/>
          <a:lstStyle/>
          <a:p>
            <a:pPr algn="l" indent="0" marL="0">
              <a:buNone/>
            </a:pPr>
            <a:r>
              <a:rPr lang="en-US" sz="2600" b="1" dirty="0">
                <a:solidFill>
                  <a:srgbClr val="A67C2D"/>
                </a:solidFill>
                <a:latin typeface="Cambria" pitchFamily="34" charset="0"/>
                <a:ea typeface="Cambria" pitchFamily="34" charset="-122"/>
                <a:cs typeface="Cambria" pitchFamily="34" charset="-120"/>
              </a:rPr>
              <a:t>0.15</a:t>
            </a:r>
            <a:endParaRPr lang="en-US" sz="2600" dirty="0"/>
          </a:p>
        </p:txBody>
      </p:sp>
      <p:sp>
        <p:nvSpPr>
          <p:cNvPr id="22" name="Text 20"/>
          <p:cNvSpPr/>
          <p:nvPr/>
        </p:nvSpPr>
        <p:spPr>
          <a:xfrm>
            <a:off x="4462272" y="4325112"/>
            <a:ext cx="3383280" cy="320040"/>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History</a:t>
            </a:r>
            <a:endParaRPr lang="en-US" sz="1600" dirty="0"/>
          </a:p>
        </p:txBody>
      </p:sp>
      <p:sp>
        <p:nvSpPr>
          <p:cNvPr id="23" name="Text 21"/>
          <p:cNvSpPr/>
          <p:nvPr/>
        </p:nvSpPr>
        <p:spPr>
          <a:xfrm>
            <a:off x="4462272" y="4727448"/>
            <a:ext cx="3383280" cy="114300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full share if this sku appears on any earlier booking. Otherwise 0. This is not the 72-hour question.</a:t>
            </a:r>
            <a:endParaRPr lang="en-US" sz="1300" dirty="0"/>
          </a:p>
        </p:txBody>
      </p:sp>
      <p:sp>
        <p:nvSpPr>
          <p:cNvPr id="24" name="Shape 22"/>
          <p:cNvSpPr/>
          <p:nvPr/>
        </p:nvSpPr>
        <p:spPr>
          <a:xfrm>
            <a:off x="8193024" y="370332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25" name="Text 23"/>
          <p:cNvSpPr/>
          <p:nvPr/>
        </p:nvSpPr>
        <p:spPr>
          <a:xfrm>
            <a:off x="8375904" y="3849624"/>
            <a:ext cx="3383280" cy="411480"/>
          </a:xfrm>
          <a:prstGeom prst="rect">
            <a:avLst/>
          </a:prstGeom>
          <a:noFill/>
          <a:ln/>
        </p:spPr>
        <p:txBody>
          <a:bodyPr wrap="square" lIns="0" tIns="0" rIns="0" bIns="0" rtlCol="0" anchor="t"/>
          <a:lstStyle/>
          <a:p>
            <a:pPr algn="l" indent="0" marL="0">
              <a:buNone/>
            </a:pPr>
            <a:r>
              <a:rPr lang="en-US" sz="2600" b="1" dirty="0">
                <a:solidFill>
                  <a:srgbClr val="A67C2D"/>
                </a:solidFill>
                <a:latin typeface="Cambria" pitchFamily="34" charset="0"/>
                <a:ea typeface="Cambria" pitchFamily="34" charset="-122"/>
                <a:cs typeface="Cambria" pitchFamily="34" charset="-120"/>
              </a:rPr>
              <a:t>0 or more</a:t>
            </a:r>
            <a:endParaRPr lang="en-US" sz="2600" dirty="0"/>
          </a:p>
        </p:txBody>
      </p:sp>
      <p:sp>
        <p:nvSpPr>
          <p:cNvPr id="26" name="Text 24"/>
          <p:cNvSpPr/>
          <p:nvPr/>
        </p:nvSpPr>
        <p:spPr>
          <a:xfrm>
            <a:off x="8375904" y="4325112"/>
            <a:ext cx="3383280" cy="320040"/>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Reward</a:t>
            </a:r>
            <a:endParaRPr lang="en-US" sz="1600" dirty="0"/>
          </a:p>
        </p:txBody>
      </p:sp>
      <p:sp>
        <p:nvSpPr>
          <p:cNvPr id="27" name="Text 25"/>
          <p:cNvSpPr/>
          <p:nvPr/>
        </p:nvSpPr>
        <p:spPr>
          <a:xfrm>
            <a:off x="8375904" y="4727448"/>
            <a:ext cx="3383280" cy="114300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Cash share × (cash − score cost) / highest cash, only when rewards are on. Otherwise 0.</a:t>
            </a:r>
            <a:endParaRPr lang="en-US" sz="1300" dirty="0"/>
          </a:p>
        </p:txBody>
      </p:sp>
      <p:sp>
        <p:nvSpPr>
          <p:cNvPr id="29" name="Text 26"/>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30" name="Text 27"/>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CAPS AND CLOCKS</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The limits that are not a score</a:t>
            </a:r>
            <a:endParaRPr lang="en-US" sz="3200" dirty="0"/>
          </a:p>
        </p:txBody>
      </p:sp>
      <p:sp>
        <p:nvSpPr>
          <p:cNvPr id="4" name="Shape 2"/>
          <p:cNvSpPr/>
          <p:nvPr/>
        </p:nvSpPr>
        <p:spPr>
          <a:xfrm>
            <a:off x="365760" y="1170432"/>
            <a:ext cx="2788920" cy="2359152"/>
          </a:xfrm>
          <a:prstGeom prst="roundRect">
            <a:avLst>
              <a:gd name="adj" fmla="val 3101"/>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512064" y="1335024"/>
            <a:ext cx="2496312" cy="50292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250</a:t>
            </a:r>
            <a:endParaRPr lang="en-US" sz="2200" dirty="0"/>
          </a:p>
        </p:txBody>
      </p:sp>
      <p:sp>
        <p:nvSpPr>
          <p:cNvPr id="6" name="Text 4"/>
          <p:cNvSpPr/>
          <p:nvPr/>
        </p:nvSpPr>
        <p:spPr>
          <a:xfrm>
            <a:off x="512064" y="1901952"/>
            <a:ext cx="2496312" cy="320040"/>
          </a:xfrm>
          <a:prstGeom prst="rect">
            <a:avLst/>
          </a:prstGeom>
          <a:noFill/>
          <a:ln/>
        </p:spPr>
        <p:txBody>
          <a:bodyPr wrap="square" lIns="0" tIns="0" rIns="0" bIns="0" rtlCol="0" anchor="t"/>
          <a:lstStyle/>
          <a:p>
            <a:pPr algn="l" indent="0" marL="0">
              <a:buNone/>
            </a:pPr>
            <a:r>
              <a:rPr lang="en-US" sz="1400" b="1" dirty="0">
                <a:solidFill>
                  <a:srgbClr val="A67C2D"/>
                </a:solidFill>
                <a:latin typeface="Calibri" pitchFamily="34" charset="0"/>
                <a:ea typeface="Calibri" pitchFamily="34" charset="-122"/>
                <a:cs typeface="Calibri" pitchFamily="34" charset="-120"/>
              </a:rPr>
              <a:t>Per item</a:t>
            </a:r>
            <a:endParaRPr lang="en-US" sz="1400" dirty="0"/>
          </a:p>
        </p:txBody>
      </p:sp>
      <p:sp>
        <p:nvSpPr>
          <p:cNvPr id="7" name="Text 5"/>
          <p:cNvSpPr/>
          <p:nvPr/>
        </p:nvSpPr>
        <p:spPr>
          <a:xfrm>
            <a:off x="512064" y="2313432"/>
            <a:ext cx="2496312" cy="9601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pre-coupon line. Default on an unset form.</a:t>
            </a:r>
            <a:endParaRPr lang="en-US" sz="1300" dirty="0"/>
          </a:p>
        </p:txBody>
      </p:sp>
      <p:sp>
        <p:nvSpPr>
          <p:cNvPr id="8" name="Shape 6"/>
          <p:cNvSpPr/>
          <p:nvPr/>
        </p:nvSpPr>
        <p:spPr>
          <a:xfrm>
            <a:off x="3310128" y="1170432"/>
            <a:ext cx="2788920" cy="2359152"/>
          </a:xfrm>
          <a:prstGeom prst="roundRect">
            <a:avLst>
              <a:gd name="adj" fmla="val 3101"/>
            </a:avLst>
          </a:prstGeom>
          <a:solidFill>
            <a:srgbClr val="FFFFFF"/>
          </a:solidFill>
          <a:ln/>
          <a:effectLst>
            <a:outerShdw sx="100000" sy="100000" kx="0" ky="0" algn="bl" rotWithShape="0" blurRad="152400" dist="38100" dir="5400000">
              <a:srgbClr val="0F1C2E">
                <a:alpha val="10000"/>
              </a:srgbClr>
            </a:outerShdw>
          </a:effectLst>
        </p:spPr>
      </p:sp>
      <p:sp>
        <p:nvSpPr>
          <p:cNvPr id="9" name="Text 7"/>
          <p:cNvSpPr/>
          <p:nvPr/>
        </p:nvSpPr>
        <p:spPr>
          <a:xfrm>
            <a:off x="3456432" y="1335024"/>
            <a:ext cx="2496312" cy="50292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400</a:t>
            </a:r>
            <a:endParaRPr lang="en-US" sz="2200" dirty="0"/>
          </a:p>
        </p:txBody>
      </p:sp>
      <p:sp>
        <p:nvSpPr>
          <p:cNvPr id="10" name="Text 8"/>
          <p:cNvSpPr/>
          <p:nvPr/>
        </p:nvSpPr>
        <p:spPr>
          <a:xfrm>
            <a:off x="3456432" y="1901952"/>
            <a:ext cx="2496312" cy="320040"/>
          </a:xfrm>
          <a:prstGeom prst="rect">
            <a:avLst/>
          </a:prstGeom>
          <a:noFill/>
          <a:ln/>
        </p:spPr>
        <p:txBody>
          <a:bodyPr wrap="square" lIns="0" tIns="0" rIns="0" bIns="0" rtlCol="0" anchor="t"/>
          <a:lstStyle/>
          <a:p>
            <a:pPr algn="l" indent="0" marL="0">
              <a:buNone/>
            </a:pPr>
            <a:r>
              <a:rPr lang="en-US" sz="1400" b="1" dirty="0">
                <a:solidFill>
                  <a:srgbClr val="A67C2D"/>
                </a:solidFill>
                <a:latin typeface="Calibri" pitchFamily="34" charset="0"/>
                <a:ea typeface="Calibri" pitchFamily="34" charset="-122"/>
                <a:cs typeface="Calibri" pitchFamily="34" charset="-120"/>
              </a:rPr>
              <a:t>Per order</a:t>
            </a:r>
            <a:endParaRPr lang="en-US" sz="1400" dirty="0"/>
          </a:p>
        </p:txBody>
      </p:sp>
      <p:sp>
        <p:nvSpPr>
          <p:cNvPr id="11" name="Text 9"/>
          <p:cNvSpPr/>
          <p:nvPr/>
        </p:nvSpPr>
        <p:spPr>
          <a:xfrm>
            <a:off x="3456432" y="2313432"/>
            <a:ext cx="2496312" cy="9601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Cash after the card discount.</a:t>
            </a:r>
            <a:endParaRPr lang="en-US" sz="1300" dirty="0"/>
          </a:p>
        </p:txBody>
      </p:sp>
      <p:sp>
        <p:nvSpPr>
          <p:cNvPr id="12" name="Shape 10"/>
          <p:cNvSpPr/>
          <p:nvPr/>
        </p:nvSpPr>
        <p:spPr>
          <a:xfrm>
            <a:off x="6254496" y="1170432"/>
            <a:ext cx="2788920" cy="2359152"/>
          </a:xfrm>
          <a:prstGeom prst="roundRect">
            <a:avLst>
              <a:gd name="adj" fmla="val 3101"/>
            </a:avLst>
          </a:prstGeom>
          <a:solidFill>
            <a:srgbClr val="FFFFFF"/>
          </a:solidFill>
          <a:ln/>
          <a:effectLst>
            <a:outerShdw sx="100000" sy="100000" kx="0" ky="0" algn="bl" rotWithShape="0" blurRad="152400" dist="38100" dir="5400000">
              <a:srgbClr val="0F1C2E">
                <a:alpha val="10000"/>
              </a:srgbClr>
            </a:outerShdw>
          </a:effectLst>
        </p:spPr>
      </p:sp>
      <p:sp>
        <p:nvSpPr>
          <p:cNvPr id="13" name="Text 11"/>
          <p:cNvSpPr/>
          <p:nvPr/>
        </p:nvSpPr>
        <p:spPr>
          <a:xfrm>
            <a:off x="6400800" y="1335024"/>
            <a:ext cx="2496312" cy="50292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1,000</a:t>
            </a:r>
            <a:endParaRPr lang="en-US" sz="2200" dirty="0"/>
          </a:p>
        </p:txBody>
      </p:sp>
      <p:sp>
        <p:nvSpPr>
          <p:cNvPr id="14" name="Text 12"/>
          <p:cNvSpPr/>
          <p:nvPr/>
        </p:nvSpPr>
        <p:spPr>
          <a:xfrm>
            <a:off x="6400800" y="1901952"/>
            <a:ext cx="2496312" cy="320040"/>
          </a:xfrm>
          <a:prstGeom prst="rect">
            <a:avLst/>
          </a:prstGeom>
          <a:noFill/>
          <a:ln/>
        </p:spPr>
        <p:txBody>
          <a:bodyPr wrap="square" lIns="0" tIns="0" rIns="0" bIns="0" rtlCol="0" anchor="t"/>
          <a:lstStyle/>
          <a:p>
            <a:pPr algn="l" indent="0" marL="0">
              <a:buNone/>
            </a:pPr>
            <a:r>
              <a:rPr lang="en-US" sz="1400" b="1" dirty="0">
                <a:solidFill>
                  <a:srgbClr val="A67C2D"/>
                </a:solidFill>
                <a:latin typeface="Calibri" pitchFamily="34" charset="0"/>
                <a:ea typeface="Calibri" pitchFamily="34" charset="-122"/>
                <a:cs typeface="Calibri" pitchFamily="34" charset="-120"/>
              </a:rPr>
              <a:t>The week</a:t>
            </a:r>
            <a:endParaRPr lang="en-US" sz="1400" dirty="0"/>
          </a:p>
        </p:txBody>
      </p:sp>
      <p:sp>
        <p:nvSpPr>
          <p:cNvPr id="15" name="Text 13"/>
          <p:cNvSpPr/>
          <p:nvPr/>
        </p:nvSpPr>
        <p:spPr>
          <a:xfrm>
            <a:off x="6400800" y="2313432"/>
            <a:ext cx="2496312" cy="9601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Booked cash in the past 168 hours. A refund still counts.</a:t>
            </a:r>
            <a:endParaRPr lang="en-US" sz="1300" dirty="0"/>
          </a:p>
        </p:txBody>
      </p:sp>
      <p:sp>
        <p:nvSpPr>
          <p:cNvPr id="16" name="Shape 14"/>
          <p:cNvSpPr/>
          <p:nvPr/>
        </p:nvSpPr>
        <p:spPr>
          <a:xfrm>
            <a:off x="9198864" y="1170432"/>
            <a:ext cx="2788920" cy="2359152"/>
          </a:xfrm>
          <a:prstGeom prst="roundRect">
            <a:avLst>
              <a:gd name="adj" fmla="val 3101"/>
            </a:avLst>
          </a:prstGeom>
          <a:solidFill>
            <a:srgbClr val="FFFFFF"/>
          </a:solidFill>
          <a:ln/>
          <a:effectLst>
            <a:outerShdw sx="100000" sy="100000" kx="0" ky="0" algn="bl" rotWithShape="0" blurRad="152400" dist="38100" dir="5400000">
              <a:srgbClr val="0F1C2E">
                <a:alpha val="10000"/>
              </a:srgbClr>
            </a:outerShdw>
          </a:effectLst>
        </p:spPr>
      </p:sp>
      <p:sp>
        <p:nvSpPr>
          <p:cNvPr id="17" name="Text 15"/>
          <p:cNvSpPr/>
          <p:nvPr/>
        </p:nvSpPr>
        <p:spPr>
          <a:xfrm>
            <a:off x="9345168" y="1335024"/>
            <a:ext cx="2496312" cy="50292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72 h</a:t>
            </a:r>
            <a:endParaRPr lang="en-US" sz="2200" dirty="0"/>
          </a:p>
        </p:txBody>
      </p:sp>
      <p:sp>
        <p:nvSpPr>
          <p:cNvPr id="18" name="Text 16"/>
          <p:cNvSpPr/>
          <p:nvPr/>
        </p:nvSpPr>
        <p:spPr>
          <a:xfrm>
            <a:off x="9345168" y="1901952"/>
            <a:ext cx="2496312" cy="320040"/>
          </a:xfrm>
          <a:prstGeom prst="rect">
            <a:avLst/>
          </a:prstGeom>
          <a:noFill/>
          <a:ln/>
        </p:spPr>
        <p:txBody>
          <a:bodyPr wrap="square" lIns="0" tIns="0" rIns="0" bIns="0" rtlCol="0" anchor="t"/>
          <a:lstStyle/>
          <a:p>
            <a:pPr algn="l" indent="0" marL="0">
              <a:buNone/>
            </a:pPr>
            <a:r>
              <a:rPr lang="en-US" sz="1400" b="1" dirty="0">
                <a:solidFill>
                  <a:srgbClr val="A67C2D"/>
                </a:solidFill>
                <a:latin typeface="Calibri" pitchFamily="34" charset="0"/>
                <a:ea typeface="Calibri" pitchFamily="34" charset="-122"/>
                <a:cs typeface="Calibri" pitchFamily="34" charset="-120"/>
              </a:rPr>
              <a:t>Repeat</a:t>
            </a:r>
            <a:endParaRPr lang="en-US" sz="1400" dirty="0"/>
          </a:p>
        </p:txBody>
      </p:sp>
      <p:sp>
        <p:nvSpPr>
          <p:cNvPr id="19" name="Text 17"/>
          <p:cNvSpPr/>
          <p:nvPr/>
        </p:nvSpPr>
        <p:spPr>
          <a:xfrm>
            <a:off x="9345168" y="2313432"/>
            <a:ext cx="2496312" cy="9601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Same sku asks the person before pay. It does not change the score.</a:t>
            </a:r>
            <a:endParaRPr lang="en-US" sz="1300" dirty="0"/>
          </a:p>
        </p:txBody>
      </p:sp>
      <p:sp>
        <p:nvSpPr>
          <p:cNvPr id="20" name="Shape 18"/>
          <p:cNvSpPr/>
          <p:nvPr/>
        </p:nvSpPr>
        <p:spPr>
          <a:xfrm>
            <a:off x="365760" y="3730752"/>
            <a:ext cx="2788920" cy="2359152"/>
          </a:xfrm>
          <a:prstGeom prst="roundRect">
            <a:avLst>
              <a:gd name="adj" fmla="val 3101"/>
            </a:avLst>
          </a:prstGeom>
          <a:solidFill>
            <a:srgbClr val="FFFFFF"/>
          </a:solidFill>
          <a:ln/>
          <a:effectLst>
            <a:outerShdw sx="100000" sy="100000" kx="0" ky="0" algn="bl" rotWithShape="0" blurRad="152400" dist="38100" dir="5400000">
              <a:srgbClr val="0F1C2E">
                <a:alpha val="10000"/>
              </a:srgbClr>
            </a:outerShdw>
          </a:effectLst>
        </p:spPr>
      </p:sp>
      <p:sp>
        <p:nvSpPr>
          <p:cNvPr id="21" name="Text 19"/>
          <p:cNvSpPr/>
          <p:nvPr/>
        </p:nvSpPr>
        <p:spPr>
          <a:xfrm>
            <a:off x="512064" y="3895344"/>
            <a:ext cx="2496312" cy="50292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15 s</a:t>
            </a:r>
            <a:endParaRPr lang="en-US" sz="2200" dirty="0"/>
          </a:p>
        </p:txBody>
      </p:sp>
      <p:sp>
        <p:nvSpPr>
          <p:cNvPr id="22" name="Text 20"/>
          <p:cNvSpPr/>
          <p:nvPr/>
        </p:nvSpPr>
        <p:spPr>
          <a:xfrm>
            <a:off x="512064" y="4462272"/>
            <a:ext cx="2496312" cy="320040"/>
          </a:xfrm>
          <a:prstGeom prst="rect">
            <a:avLst/>
          </a:prstGeom>
          <a:noFill/>
          <a:ln/>
        </p:spPr>
        <p:txBody>
          <a:bodyPr wrap="square" lIns="0" tIns="0" rIns="0" bIns="0" rtlCol="0" anchor="t"/>
          <a:lstStyle/>
          <a:p>
            <a:pPr algn="l" indent="0" marL="0">
              <a:buNone/>
            </a:pPr>
            <a:r>
              <a:rPr lang="en-US" sz="1400" b="1" dirty="0">
                <a:solidFill>
                  <a:srgbClr val="A67C2D"/>
                </a:solidFill>
                <a:latin typeface="Calibri" pitchFamily="34" charset="0"/>
                <a:ea typeface="Calibri" pitchFamily="34" charset="-122"/>
                <a:cs typeface="Calibri" pitchFamily="34" charset="-120"/>
              </a:rPr>
              <a:t>Search</a:t>
            </a:r>
            <a:endParaRPr lang="en-US" sz="1400" dirty="0"/>
          </a:p>
        </p:txBody>
      </p:sp>
      <p:sp>
        <p:nvSpPr>
          <p:cNvPr id="23" name="Text 21"/>
          <p:cNvSpPr/>
          <p:nvPr/>
        </p:nvSpPr>
        <p:spPr>
          <a:xfrm>
            <a:off x="512064" y="4873752"/>
            <a:ext cx="2496312" cy="9601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Or less, if the form sets a shorter max.</a:t>
            </a:r>
            <a:endParaRPr lang="en-US" sz="1300" dirty="0"/>
          </a:p>
        </p:txBody>
      </p:sp>
      <p:sp>
        <p:nvSpPr>
          <p:cNvPr id="24" name="Shape 22"/>
          <p:cNvSpPr/>
          <p:nvPr/>
        </p:nvSpPr>
        <p:spPr>
          <a:xfrm>
            <a:off x="3310128" y="3730752"/>
            <a:ext cx="2788920" cy="2359152"/>
          </a:xfrm>
          <a:prstGeom prst="roundRect">
            <a:avLst>
              <a:gd name="adj" fmla="val 3101"/>
            </a:avLst>
          </a:prstGeom>
          <a:solidFill>
            <a:srgbClr val="FFFFFF"/>
          </a:solidFill>
          <a:ln/>
          <a:effectLst>
            <a:outerShdw sx="100000" sy="100000" kx="0" ky="0" algn="bl" rotWithShape="0" blurRad="152400" dist="38100" dir="5400000">
              <a:srgbClr val="0F1C2E">
                <a:alpha val="10000"/>
              </a:srgbClr>
            </a:outerShdw>
          </a:effectLst>
        </p:spPr>
      </p:sp>
      <p:sp>
        <p:nvSpPr>
          <p:cNvPr id="25" name="Text 23"/>
          <p:cNvSpPr/>
          <p:nvPr/>
        </p:nvSpPr>
        <p:spPr>
          <a:xfrm>
            <a:off x="3456432" y="3895344"/>
            <a:ext cx="2496312" cy="50292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120 s</a:t>
            </a:r>
            <a:endParaRPr lang="en-US" sz="2200" dirty="0"/>
          </a:p>
        </p:txBody>
      </p:sp>
      <p:sp>
        <p:nvSpPr>
          <p:cNvPr id="26" name="Text 24"/>
          <p:cNvSpPr/>
          <p:nvPr/>
        </p:nvSpPr>
        <p:spPr>
          <a:xfrm>
            <a:off x="3456432" y="4462272"/>
            <a:ext cx="2496312" cy="320040"/>
          </a:xfrm>
          <a:prstGeom prst="rect">
            <a:avLst/>
          </a:prstGeom>
          <a:noFill/>
          <a:ln/>
        </p:spPr>
        <p:txBody>
          <a:bodyPr wrap="square" lIns="0" tIns="0" rIns="0" bIns="0" rtlCol="0" anchor="t"/>
          <a:lstStyle/>
          <a:p>
            <a:pPr algn="l" indent="0" marL="0">
              <a:buNone/>
            </a:pPr>
            <a:r>
              <a:rPr lang="en-US" sz="1400" b="1" dirty="0">
                <a:solidFill>
                  <a:srgbClr val="A67C2D"/>
                </a:solidFill>
                <a:latin typeface="Calibri" pitchFamily="34" charset="0"/>
                <a:ea typeface="Calibri" pitchFamily="34" charset="-122"/>
                <a:cs typeface="Calibri" pitchFamily="34" charset="-120"/>
              </a:rPr>
              <a:t>Quote and questions</a:t>
            </a:r>
            <a:endParaRPr lang="en-US" sz="1400" dirty="0"/>
          </a:p>
        </p:txBody>
      </p:sp>
      <p:sp>
        <p:nvSpPr>
          <p:cNvPr id="27" name="Text 25"/>
          <p:cNvSpPr/>
          <p:nvPr/>
        </p:nvSpPr>
        <p:spPr>
          <a:xfrm>
            <a:off x="3456432" y="4873752"/>
            <a:ext cx="2496312" cy="9601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A quote older than this cannot be paid. An unanswered question ends the attempt.</a:t>
            </a:r>
            <a:endParaRPr lang="en-US" sz="1300" dirty="0"/>
          </a:p>
        </p:txBody>
      </p:sp>
      <p:sp>
        <p:nvSpPr>
          <p:cNvPr id="28" name="Shape 26"/>
          <p:cNvSpPr/>
          <p:nvPr/>
        </p:nvSpPr>
        <p:spPr>
          <a:xfrm>
            <a:off x="6254496" y="3730752"/>
            <a:ext cx="2788920" cy="2359152"/>
          </a:xfrm>
          <a:prstGeom prst="roundRect">
            <a:avLst>
              <a:gd name="adj" fmla="val 3101"/>
            </a:avLst>
          </a:prstGeom>
          <a:solidFill>
            <a:srgbClr val="FFFFFF"/>
          </a:solidFill>
          <a:ln/>
          <a:effectLst>
            <a:outerShdw sx="100000" sy="100000" kx="0" ky="0" algn="bl" rotWithShape="0" blurRad="152400" dist="38100" dir="5400000">
              <a:srgbClr val="0F1C2E">
                <a:alpha val="10000"/>
              </a:srgbClr>
            </a:outerShdw>
          </a:effectLst>
        </p:spPr>
      </p:sp>
      <p:sp>
        <p:nvSpPr>
          <p:cNvPr id="29" name="Text 27"/>
          <p:cNvSpPr/>
          <p:nvPr/>
        </p:nvSpPr>
        <p:spPr>
          <a:xfrm>
            <a:off x="6400800" y="3895344"/>
            <a:ext cx="2496312" cy="50292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0.0000000001</a:t>
            </a:r>
            <a:endParaRPr lang="en-US" sz="2200" dirty="0"/>
          </a:p>
        </p:txBody>
      </p:sp>
      <p:sp>
        <p:nvSpPr>
          <p:cNvPr id="30" name="Text 28"/>
          <p:cNvSpPr/>
          <p:nvPr/>
        </p:nvSpPr>
        <p:spPr>
          <a:xfrm>
            <a:off x="6400800" y="4462272"/>
            <a:ext cx="2496312" cy="320040"/>
          </a:xfrm>
          <a:prstGeom prst="rect">
            <a:avLst/>
          </a:prstGeom>
          <a:noFill/>
          <a:ln/>
        </p:spPr>
        <p:txBody>
          <a:bodyPr wrap="square" lIns="0" tIns="0" rIns="0" bIns="0" rtlCol="0" anchor="t"/>
          <a:lstStyle/>
          <a:p>
            <a:pPr algn="l" indent="0" marL="0">
              <a:buNone/>
            </a:pPr>
            <a:r>
              <a:rPr lang="en-US" sz="1400" b="1" dirty="0">
                <a:solidFill>
                  <a:srgbClr val="A67C2D"/>
                </a:solidFill>
                <a:latin typeface="Calibri" pitchFamily="34" charset="0"/>
                <a:ea typeface="Calibri" pitchFamily="34" charset="-122"/>
                <a:cs typeface="Calibri" pitchFamily="34" charset="-120"/>
              </a:rPr>
              <a:t>Tie</a:t>
            </a:r>
            <a:endParaRPr lang="en-US" sz="1400" dirty="0"/>
          </a:p>
        </p:txBody>
      </p:sp>
      <p:sp>
        <p:nvSpPr>
          <p:cNvPr id="31" name="Text 29"/>
          <p:cNvSpPr/>
          <p:nvPr/>
        </p:nvSpPr>
        <p:spPr>
          <a:xfrm>
            <a:off x="6400800" y="4873752"/>
            <a:ext cx="2496312" cy="9601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A smaller gap asks the person, including across sellers.</a:t>
            </a:r>
            <a:endParaRPr lang="en-US" sz="1300" dirty="0"/>
          </a:p>
        </p:txBody>
      </p:sp>
      <p:sp>
        <p:nvSpPr>
          <p:cNvPr id="32" name="Shape 30"/>
          <p:cNvSpPr/>
          <p:nvPr/>
        </p:nvSpPr>
        <p:spPr>
          <a:xfrm>
            <a:off x="9198864" y="3730752"/>
            <a:ext cx="2788920" cy="2359152"/>
          </a:xfrm>
          <a:prstGeom prst="roundRect">
            <a:avLst>
              <a:gd name="adj" fmla="val 3101"/>
            </a:avLst>
          </a:prstGeom>
          <a:solidFill>
            <a:srgbClr val="FFFFFF"/>
          </a:solidFill>
          <a:ln/>
          <a:effectLst>
            <a:outerShdw sx="100000" sy="100000" kx="0" ky="0" algn="bl" rotWithShape="0" blurRad="152400" dist="38100" dir="5400000">
              <a:srgbClr val="0F1C2E">
                <a:alpha val="10000"/>
              </a:srgbClr>
            </a:outerShdw>
          </a:effectLst>
        </p:spPr>
      </p:sp>
      <p:sp>
        <p:nvSpPr>
          <p:cNvPr id="33" name="Text 31"/>
          <p:cNvSpPr/>
          <p:nvPr/>
        </p:nvSpPr>
        <p:spPr>
          <a:xfrm>
            <a:off x="9345168" y="3895344"/>
            <a:ext cx="2496312" cy="50292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1</a:t>
            </a:r>
            <a:endParaRPr lang="en-US" sz="2200" dirty="0"/>
          </a:p>
        </p:txBody>
      </p:sp>
      <p:sp>
        <p:nvSpPr>
          <p:cNvPr id="34" name="Text 32"/>
          <p:cNvSpPr/>
          <p:nvPr/>
        </p:nvSpPr>
        <p:spPr>
          <a:xfrm>
            <a:off x="9345168" y="4462272"/>
            <a:ext cx="2496312" cy="320040"/>
          </a:xfrm>
          <a:prstGeom prst="rect">
            <a:avLst/>
          </a:prstGeom>
          <a:noFill/>
          <a:ln/>
        </p:spPr>
        <p:txBody>
          <a:bodyPr wrap="square" lIns="0" tIns="0" rIns="0" bIns="0" rtlCol="0" anchor="t"/>
          <a:lstStyle/>
          <a:p>
            <a:pPr algn="l" indent="0" marL="0">
              <a:buNone/>
            </a:pPr>
            <a:r>
              <a:rPr lang="en-US" sz="1400" b="1" dirty="0">
                <a:solidFill>
                  <a:srgbClr val="A67C2D"/>
                </a:solidFill>
                <a:latin typeface="Calibri" pitchFamily="34" charset="0"/>
                <a:ea typeface="Calibri" pitchFamily="34" charset="-122"/>
                <a:cs typeface="Calibri" pitchFamily="34" charset="-120"/>
              </a:rPr>
              <a:t>Floor for a divisor</a:t>
            </a:r>
            <a:endParaRPr lang="en-US" sz="1400" dirty="0"/>
          </a:p>
        </p:txBody>
      </p:sp>
      <p:sp>
        <p:nvSpPr>
          <p:cNvPr id="35" name="Text 33"/>
          <p:cNvSpPr/>
          <p:nvPr/>
        </p:nvSpPr>
        <p:spPr>
          <a:xfrm>
            <a:off x="9345168" y="4873752"/>
            <a:ext cx="2496312" cy="9601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Highest cash and highest purchase count are at least 1.</a:t>
            </a:r>
            <a:endParaRPr lang="en-US" sz="1300" dirty="0"/>
          </a:p>
        </p:txBody>
      </p:sp>
      <p:sp>
        <p:nvSpPr>
          <p:cNvPr id="37" name="Text 34"/>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38" name="Text 35"/>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C2E"/>
        </a:solidFill>
      </p:bgPr>
    </p:bg>
    <p:spTree>
      <p:nvGrpSpPr>
        <p:cNvPr id="1" name=""/>
        <p:cNvGrpSpPr/>
        <p:nvPr/>
      </p:nvGrpSpPr>
      <p:grpSpPr>
        <a:xfrm>
          <a:off x="0" y="0"/>
          <a:ext cx="0" cy="0"/>
          <a:chOff x="0" y="0"/>
          <a:chExt cx="0" cy="0"/>
        </a:xfrm>
      </p:grpSpPr>
      <p:sp>
        <p:nvSpPr>
          <p:cNvPr id="2" name="Text 0"/>
          <p:cNvSpPr/>
          <p:nvPr/>
        </p:nvSpPr>
        <p:spPr>
          <a:xfrm>
            <a:off x="640080" y="1828800"/>
            <a:ext cx="3657600" cy="640080"/>
          </a:xfrm>
          <a:prstGeom prst="rect">
            <a:avLst/>
          </a:prstGeom>
          <a:noFill/>
          <a:ln/>
        </p:spPr>
        <p:txBody>
          <a:bodyPr wrap="square" lIns="0" tIns="0" rIns="0" bIns="0" rtlCol="0" anchor="t"/>
          <a:lstStyle/>
          <a:p>
            <a:pPr algn="l" indent="0" marL="0">
              <a:buNone/>
            </a:pPr>
            <a:r>
              <a:rPr lang="en-US" sz="5400" dirty="0">
                <a:solidFill>
                  <a:srgbClr val="A67C2D"/>
                </a:solidFill>
                <a:latin typeface="Cambria" pitchFamily="34" charset="0"/>
                <a:ea typeface="Cambria" pitchFamily="34" charset="-122"/>
                <a:cs typeface="Cambria" pitchFamily="34" charset="-120"/>
              </a:rPr>
              <a:t>05</a:t>
            </a:r>
            <a:endParaRPr lang="en-US" sz="5400" dirty="0"/>
          </a:p>
        </p:txBody>
      </p:sp>
      <p:sp>
        <p:nvSpPr>
          <p:cNvPr id="3" name="Text 1"/>
          <p:cNvSpPr/>
          <p:nvPr/>
        </p:nvSpPr>
        <p:spPr>
          <a:xfrm>
            <a:off x="640080" y="2560320"/>
            <a:ext cx="10058400" cy="64008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Why these choices</a:t>
            </a:r>
            <a:endParaRPr lang="en-US" sz="4400" dirty="0"/>
          </a:p>
        </p:txBody>
      </p:sp>
      <p:sp>
        <p:nvSpPr>
          <p:cNvPr id="4" name="Text 2"/>
          <p:cNvSpPr/>
          <p:nvPr/>
        </p:nvSpPr>
        <p:spPr>
          <a:xfrm>
            <a:off x="640080" y="3383280"/>
            <a:ext cx="10058400" cy="914400"/>
          </a:xfrm>
          <a:prstGeom prst="rect">
            <a:avLst/>
          </a:prstGeom>
          <a:noFill/>
          <a:ln/>
        </p:spPr>
        <p:txBody>
          <a:bodyPr wrap="square" lIns="0" tIns="0" rIns="0" bIns="0" rtlCol="0" anchor="t"/>
          <a:lstStyle/>
          <a:p>
            <a:pPr algn="l" indent="0" marL="0">
              <a:buNone/>
            </a:pPr>
            <a:r>
              <a:rPr lang="en-US" sz="2200" dirty="0">
                <a:solidFill>
                  <a:srgbClr val="D5E0EA"/>
                </a:solidFill>
                <a:latin typeface="Calibri" pitchFamily="34" charset="0"/>
                <a:ea typeface="Calibri" pitchFamily="34" charset="-122"/>
                <a:cs typeface="Calibri" pitchFamily="34" charset="-120"/>
              </a:rPr>
              <a:t>The shares were stated for this shop.</a:t>
            </a:r>
            <a:endParaRPr lang="en-US" sz="2200" dirty="0"/>
          </a:p>
          <a:p>
            <a:pPr algn="l" indent="0" marL="0">
              <a:buNone/>
            </a:pPr>
            <a:r>
              <a:rPr lang="en-US" sz="2200" dirty="0">
                <a:solidFill>
                  <a:srgbClr val="D5E0EA"/>
                </a:solidFill>
                <a:latin typeface="Calibri" pitchFamily="34" charset="0"/>
                <a:ea typeface="Calibri" pitchFamily="34" charset="-122"/>
                <a:cs typeface="Calibri" pitchFamily="34" charset="-120"/>
              </a:rPr>
              <a:t>They were not fitted to a sales sample.</a:t>
            </a:r>
            <a:endParaRPr lang="en-US" sz="2200" dirty="0"/>
          </a:p>
        </p:txBody>
      </p:sp>
      <p:sp>
        <p:nvSpPr>
          <p:cNvPr id="6" name="Text 3"/>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8EA0B3"/>
                </a:solidFill>
                <a:latin typeface="Calibri" pitchFamily="34" charset="0"/>
                <a:ea typeface="Calibri" pitchFamily="34" charset="-122"/>
                <a:cs typeface="Calibri" pitchFamily="34" charset="-120"/>
              </a:rPr>
              <a:t>Scout</a:t>
            </a:r>
            <a:endParaRPr lang="en-US" sz="1200" dirty="0"/>
          </a:p>
        </p:txBody>
      </p:sp>
      <p:sp>
        <p:nvSpPr>
          <p:cNvPr id="7" name="Text 4"/>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8EA0B3"/>
                </a:solidFill>
                <a:latin typeface="Calibri" pitchFamily="34" charset="0"/>
                <a:ea typeface="Calibri" pitchFamily="34" charset="-122"/>
                <a:cs typeface="Calibri"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WHY THE WORK IS SPLIT</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A constraint is not a preference</a:t>
            </a:r>
            <a:endParaRPr lang="en-US" sz="3200" dirty="0"/>
          </a:p>
        </p:txBody>
      </p:sp>
      <p:sp>
        <p:nvSpPr>
          <p:cNvPr id="4" name="Shape 2"/>
          <p:cNvSpPr/>
          <p:nvPr/>
        </p:nvSpPr>
        <p:spPr>
          <a:xfrm>
            <a:off x="365760" y="114300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566928" y="1344168"/>
            <a:ext cx="3337560" cy="36576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Shopper</a:t>
            </a:r>
            <a:endParaRPr lang="en-US" sz="2200" dirty="0"/>
          </a:p>
        </p:txBody>
      </p:sp>
      <p:sp>
        <p:nvSpPr>
          <p:cNvPr id="6" name="Text 4"/>
          <p:cNvSpPr/>
          <p:nvPr/>
        </p:nvSpPr>
        <p:spPr>
          <a:xfrm>
            <a:off x="566928" y="1874520"/>
            <a:ext cx="3337560" cy="14173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Adds unlike facts into one score, and prices each tender. It cannot sign the form, drop a listing by itself, or book.</a:t>
            </a:r>
            <a:endParaRPr lang="en-US" sz="1400" dirty="0"/>
          </a:p>
        </p:txBody>
      </p:sp>
      <p:sp>
        <p:nvSpPr>
          <p:cNvPr id="7" name="Shape 5"/>
          <p:cNvSpPr/>
          <p:nvPr/>
        </p:nvSpPr>
        <p:spPr>
          <a:xfrm>
            <a:off x="4279392" y="114300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8" name="Text 6"/>
          <p:cNvSpPr/>
          <p:nvPr/>
        </p:nvSpPr>
        <p:spPr>
          <a:xfrm>
            <a:off x="4480560" y="1344168"/>
            <a:ext cx="3337560" cy="36576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Mandate</a:t>
            </a:r>
            <a:endParaRPr lang="en-US" sz="2200" dirty="0"/>
          </a:p>
        </p:txBody>
      </p:sp>
      <p:sp>
        <p:nvSpPr>
          <p:cNvPr id="9" name="Text 7"/>
          <p:cNvSpPr/>
          <p:nvPr/>
        </p:nvSpPr>
        <p:spPr>
          <a:xfrm>
            <a:off x="4480560" y="1874520"/>
            <a:ext cx="3337560" cy="14173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Holds the hard limits. Category, brand, appearance, and the money caps are constraints. They remove a row before it can earn points.</a:t>
            </a:r>
            <a:endParaRPr lang="en-US" sz="1400" dirty="0"/>
          </a:p>
        </p:txBody>
      </p:sp>
      <p:sp>
        <p:nvSpPr>
          <p:cNvPr id="10" name="Shape 8"/>
          <p:cNvSpPr/>
          <p:nvPr/>
        </p:nvSpPr>
        <p:spPr>
          <a:xfrm>
            <a:off x="8193024" y="114300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11" name="Text 9"/>
          <p:cNvSpPr/>
          <p:nvPr/>
        </p:nvSpPr>
        <p:spPr>
          <a:xfrm>
            <a:off x="8394192" y="1344168"/>
            <a:ext cx="3337560" cy="36576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Auditor</a:t>
            </a:r>
            <a:endParaRPr lang="en-US" sz="2200" dirty="0"/>
          </a:p>
        </p:txBody>
      </p:sp>
      <p:sp>
        <p:nvSpPr>
          <p:cNvPr id="12" name="Text 10"/>
          <p:cNvSpPr/>
          <p:nvPr/>
        </p:nvSpPr>
        <p:spPr>
          <a:xfrm>
            <a:off x="8394192" y="1874520"/>
            <a:ext cx="3337560" cy="14173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Treats listing text as data. One bad row does not end a request that still has a clean row. The slips are a separate check, immediately before money.</a:t>
            </a:r>
            <a:endParaRPr lang="en-US" sz="1400" dirty="0"/>
          </a:p>
        </p:txBody>
      </p:sp>
      <p:sp>
        <p:nvSpPr>
          <p:cNvPr id="13" name="Shape 11"/>
          <p:cNvSpPr/>
          <p:nvPr/>
        </p:nvSpPr>
        <p:spPr>
          <a:xfrm>
            <a:off x="365760" y="370332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14" name="Text 12"/>
          <p:cNvSpPr/>
          <p:nvPr/>
        </p:nvSpPr>
        <p:spPr>
          <a:xfrm>
            <a:off x="566928" y="3904488"/>
            <a:ext cx="3337560" cy="36576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Merchant</a:t>
            </a:r>
            <a:endParaRPr lang="en-US" sz="2200" dirty="0"/>
          </a:p>
        </p:txBody>
      </p:sp>
      <p:sp>
        <p:nvSpPr>
          <p:cNvPr id="15" name="Text 13"/>
          <p:cNvSpPr/>
          <p:nvPr/>
        </p:nvSpPr>
        <p:spPr>
          <a:xfrm>
            <a:off x="566928" y="4434840"/>
            <a:ext cx="3337560" cy="14173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Speaks only for its own catalogue. It does not see the budget and does not pick a different product. The shelf stays the human price.</a:t>
            </a:r>
            <a:endParaRPr lang="en-US" sz="1400" dirty="0"/>
          </a:p>
        </p:txBody>
      </p:sp>
      <p:sp>
        <p:nvSpPr>
          <p:cNvPr id="16" name="Shape 14"/>
          <p:cNvSpPr/>
          <p:nvPr/>
        </p:nvSpPr>
        <p:spPr>
          <a:xfrm>
            <a:off x="4279392" y="370332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17" name="Text 15"/>
          <p:cNvSpPr/>
          <p:nvPr/>
        </p:nvSpPr>
        <p:spPr>
          <a:xfrm>
            <a:off x="4480560" y="3904488"/>
            <a:ext cx="3337560" cy="36576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Payer</a:t>
            </a:r>
            <a:endParaRPr lang="en-US" sz="2200" dirty="0"/>
          </a:p>
        </p:txBody>
      </p:sp>
      <p:sp>
        <p:nvSpPr>
          <p:cNvPr id="18" name="Text 16"/>
          <p:cNvSpPr/>
          <p:nvPr/>
        </p:nvSpPr>
        <p:spPr>
          <a:xfrm>
            <a:off x="4480560" y="4434840"/>
            <a:ext cx="3337560" cy="14173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Books a choice that already exists on the quote. It does not re-rank, re-price, or read a card number.</a:t>
            </a:r>
            <a:endParaRPr lang="en-US" sz="1400" dirty="0"/>
          </a:p>
        </p:txBody>
      </p:sp>
      <p:sp>
        <p:nvSpPr>
          <p:cNvPr id="19" name="Shape 17"/>
          <p:cNvSpPr/>
          <p:nvPr/>
        </p:nvSpPr>
        <p:spPr>
          <a:xfrm>
            <a:off x="8193024" y="3703320"/>
            <a:ext cx="3749040" cy="2395728"/>
          </a:xfrm>
          <a:prstGeom prst="roundRect">
            <a:avLst>
              <a:gd name="adj" fmla="val 3053"/>
            </a:avLst>
          </a:prstGeom>
          <a:solidFill>
            <a:srgbClr val="FFFFFF"/>
          </a:solidFill>
          <a:ln/>
          <a:effectLst>
            <a:outerShdw sx="100000" sy="100000" kx="0" ky="0" algn="bl" rotWithShape="0" blurRad="152400" dist="38100" dir="5400000">
              <a:srgbClr val="0F1C2E">
                <a:alpha val="10000"/>
              </a:srgbClr>
            </a:outerShdw>
          </a:effectLst>
        </p:spPr>
      </p:sp>
      <p:sp>
        <p:nvSpPr>
          <p:cNvPr id="20" name="Text 18"/>
          <p:cNvSpPr/>
          <p:nvPr/>
        </p:nvSpPr>
        <p:spPr>
          <a:xfrm>
            <a:off x="8394192" y="3904488"/>
            <a:ext cx="3337560" cy="36576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The model</a:t>
            </a:r>
            <a:endParaRPr lang="en-US" sz="2200" dirty="0"/>
          </a:p>
        </p:txBody>
      </p:sp>
      <p:sp>
        <p:nvSpPr>
          <p:cNvPr id="21" name="Text 19"/>
          <p:cNvSpPr/>
          <p:nvPr/>
        </p:nvSpPr>
        <p:spPr>
          <a:xfrm>
            <a:off x="8394192" y="4434840"/>
            <a:ext cx="3337560" cy="141732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May draft a parse, add one sentence, and propose the next legal message. The tool’s cash, tender, signature, and booking stay.</a:t>
            </a:r>
            <a:endParaRPr lang="en-US" sz="1400" dirty="0"/>
          </a:p>
        </p:txBody>
      </p:sp>
      <p:sp>
        <p:nvSpPr>
          <p:cNvPr id="23" name="Text 20"/>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24" name="Text 21"/>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WHY THESE SHARES</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A stated tradeoff, not a fitted weight</a:t>
            </a:r>
            <a:endParaRPr lang="en-US" sz="3200" dirty="0"/>
          </a:p>
        </p:txBody>
      </p:sp>
      <p:sp>
        <p:nvSpPr>
          <p:cNvPr id="4" name="Shape 2"/>
          <p:cNvSpPr/>
          <p:nvPr/>
        </p:nvSpPr>
        <p:spPr>
          <a:xfrm>
            <a:off x="457200" y="1115568"/>
            <a:ext cx="11247120" cy="1170432"/>
          </a:xfrm>
          <a:prstGeom prst="roundRect">
            <a:avLst>
              <a:gd name="adj" fmla="val 6250"/>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658368" y="1280160"/>
            <a:ext cx="3017520" cy="822960"/>
          </a:xfrm>
          <a:prstGeom prst="rect">
            <a:avLst/>
          </a:prstGeom>
          <a:noFill/>
          <a:ln/>
        </p:spPr>
        <p:txBody>
          <a:bodyPr wrap="square" lIns="0" tIns="0" rIns="0" bIns="0" rtlCol="0" anchor="ctr"/>
          <a:lstStyle/>
          <a:p>
            <a:pPr algn="l" indent="0" marL="0">
              <a:buNone/>
            </a:pPr>
            <a:r>
              <a:rPr lang="en-US" sz="1800" b="1" dirty="0">
                <a:solidFill>
                  <a:srgbClr val="0F1C2E"/>
                </a:solidFill>
                <a:latin typeface="Cambria" pitchFamily="34" charset="0"/>
                <a:ea typeface="Cambria" pitchFamily="34" charset="-122"/>
                <a:cs typeface="Cambria" pitchFamily="34" charset="-120"/>
              </a:rPr>
              <a:t>0.35  Relevance</a:t>
            </a:r>
            <a:endParaRPr lang="en-US" sz="1800" dirty="0"/>
          </a:p>
        </p:txBody>
      </p:sp>
      <p:sp>
        <p:nvSpPr>
          <p:cNvPr id="6" name="Text 4"/>
          <p:cNvSpPr/>
          <p:nvPr/>
        </p:nvSpPr>
        <p:spPr>
          <a:xfrm>
            <a:off x="3794760" y="1261872"/>
            <a:ext cx="7680960" cy="896112"/>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Largest, so the card shows that matching the request was the main concern in balanced mode. Among survivors it is a constant, so it does not pick the winner. Setting it to 0 would say the request did not count.</a:t>
            </a:r>
            <a:endParaRPr lang="en-US" sz="1400" dirty="0"/>
          </a:p>
        </p:txBody>
      </p:sp>
      <p:sp>
        <p:nvSpPr>
          <p:cNvPr id="7" name="Shape 5"/>
          <p:cNvSpPr/>
          <p:nvPr/>
        </p:nvSpPr>
        <p:spPr>
          <a:xfrm>
            <a:off x="457200" y="2395728"/>
            <a:ext cx="11247120" cy="1170432"/>
          </a:xfrm>
          <a:prstGeom prst="roundRect">
            <a:avLst>
              <a:gd name="adj" fmla="val 6250"/>
            </a:avLst>
          </a:prstGeom>
          <a:solidFill>
            <a:srgbClr val="FFFFFF"/>
          </a:solidFill>
          <a:ln/>
          <a:effectLst>
            <a:outerShdw sx="100000" sy="100000" kx="0" ky="0" algn="bl" rotWithShape="0" blurRad="152400" dist="38100" dir="5400000">
              <a:srgbClr val="0F1C2E">
                <a:alpha val="10000"/>
              </a:srgbClr>
            </a:outerShdw>
          </a:effectLst>
        </p:spPr>
      </p:sp>
      <p:sp>
        <p:nvSpPr>
          <p:cNvPr id="8" name="Text 6"/>
          <p:cNvSpPr/>
          <p:nvPr/>
        </p:nvSpPr>
        <p:spPr>
          <a:xfrm>
            <a:off x="658368" y="2560320"/>
            <a:ext cx="3017520" cy="822960"/>
          </a:xfrm>
          <a:prstGeom prst="rect">
            <a:avLst/>
          </a:prstGeom>
          <a:noFill/>
          <a:ln/>
        </p:spPr>
        <p:txBody>
          <a:bodyPr wrap="square" lIns="0" tIns="0" rIns="0" bIns="0" rtlCol="0" anchor="ctr"/>
          <a:lstStyle/>
          <a:p>
            <a:pPr algn="l" indent="0" marL="0">
              <a:buNone/>
            </a:pPr>
            <a:r>
              <a:rPr lang="en-US" sz="1800" b="1" dirty="0">
                <a:solidFill>
                  <a:srgbClr val="0F1C2E"/>
                </a:solidFill>
                <a:latin typeface="Cambria" pitchFamily="34" charset="0"/>
                <a:ea typeface="Cambria" pitchFamily="34" charset="-122"/>
                <a:cs typeface="Cambria" pitchFamily="34" charset="-120"/>
              </a:rPr>
              <a:t>0.25  Cash</a:t>
            </a:r>
            <a:endParaRPr lang="en-US" sz="1800" dirty="0"/>
          </a:p>
        </p:txBody>
      </p:sp>
      <p:sp>
        <p:nvSpPr>
          <p:cNvPr id="9" name="Text 7"/>
          <p:cNvSpPr/>
          <p:nvPr/>
        </p:nvSpPr>
        <p:spPr>
          <a:xfrm>
            <a:off x="3794760" y="2542032"/>
            <a:ext cx="7680960" cy="896112"/>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Second, because balanced mode is not cheapest-only. Lowest cash moves this share to 0.60 and shrinks the others to 0.20, 0.10, 0.05, 0.05. “Cheapest” in a sentence asks; it does not swap the vector.</a:t>
            </a:r>
            <a:endParaRPr lang="en-US" sz="1400" dirty="0"/>
          </a:p>
        </p:txBody>
      </p:sp>
      <p:sp>
        <p:nvSpPr>
          <p:cNvPr id="10" name="Shape 8"/>
          <p:cNvSpPr/>
          <p:nvPr/>
        </p:nvSpPr>
        <p:spPr>
          <a:xfrm>
            <a:off x="457200" y="3675888"/>
            <a:ext cx="11247120" cy="1170432"/>
          </a:xfrm>
          <a:prstGeom prst="roundRect">
            <a:avLst>
              <a:gd name="adj" fmla="val 6250"/>
            </a:avLst>
          </a:prstGeom>
          <a:solidFill>
            <a:srgbClr val="FFFFFF"/>
          </a:solidFill>
          <a:ln/>
          <a:effectLst>
            <a:outerShdw sx="100000" sy="100000" kx="0" ky="0" algn="bl" rotWithShape="0" blurRad="152400" dist="38100" dir="5400000">
              <a:srgbClr val="0F1C2E">
                <a:alpha val="10000"/>
              </a:srgbClr>
            </a:outerShdw>
          </a:effectLst>
        </p:spPr>
      </p:sp>
      <p:sp>
        <p:nvSpPr>
          <p:cNvPr id="11" name="Text 9"/>
          <p:cNvSpPr/>
          <p:nvPr/>
        </p:nvSpPr>
        <p:spPr>
          <a:xfrm>
            <a:off x="658368" y="3840480"/>
            <a:ext cx="3017520" cy="822960"/>
          </a:xfrm>
          <a:prstGeom prst="rect">
            <a:avLst/>
          </a:prstGeom>
          <a:noFill/>
          <a:ln/>
        </p:spPr>
        <p:txBody>
          <a:bodyPr wrap="square" lIns="0" tIns="0" rIns="0" bIns="0" rtlCol="0" anchor="ctr"/>
          <a:lstStyle/>
          <a:p>
            <a:pPr algn="l" indent="0" marL="0">
              <a:buNone/>
            </a:pPr>
            <a:r>
              <a:rPr lang="en-US" sz="1800" b="1" dirty="0">
                <a:solidFill>
                  <a:srgbClr val="0F1C2E"/>
                </a:solidFill>
                <a:latin typeface="Cambria" pitchFamily="34" charset="0"/>
                <a:ea typeface="Cambria" pitchFamily="34" charset="-122"/>
                <a:cs typeface="Cambria" pitchFamily="34" charset="-120"/>
              </a:rPr>
              <a:t>0.15  Rating and history</a:t>
            </a:r>
            <a:endParaRPr lang="en-US" sz="1800" dirty="0"/>
          </a:p>
        </p:txBody>
      </p:sp>
      <p:sp>
        <p:nvSpPr>
          <p:cNvPr id="12" name="Text 10"/>
          <p:cNvSpPr/>
          <p:nvPr/>
        </p:nvSpPr>
        <p:spPr>
          <a:xfrm>
            <a:off x="3794760" y="3822192"/>
            <a:ext cx="7680960" cy="896112"/>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Equal, and both smaller than cash. Stars are a 0-to-1 grade. History is yes or no: any earlier booking of this sku. The 72-hour rule stays a question, so a familiar item is not punished at the moment the person is asked about it.</a:t>
            </a:r>
            <a:endParaRPr lang="en-US" sz="1400" dirty="0"/>
          </a:p>
        </p:txBody>
      </p:sp>
      <p:sp>
        <p:nvSpPr>
          <p:cNvPr id="13" name="Shape 11"/>
          <p:cNvSpPr/>
          <p:nvPr/>
        </p:nvSpPr>
        <p:spPr>
          <a:xfrm>
            <a:off x="457200" y="4956048"/>
            <a:ext cx="11247120" cy="1170432"/>
          </a:xfrm>
          <a:prstGeom prst="roundRect">
            <a:avLst>
              <a:gd name="adj" fmla="val 6250"/>
            </a:avLst>
          </a:prstGeom>
          <a:solidFill>
            <a:srgbClr val="FFFFFF"/>
          </a:solidFill>
          <a:ln/>
          <a:effectLst>
            <a:outerShdw sx="100000" sy="100000" kx="0" ky="0" algn="bl" rotWithShape="0" blurRad="152400" dist="38100" dir="5400000">
              <a:srgbClr val="0F1C2E">
                <a:alpha val="10000"/>
              </a:srgbClr>
            </a:outerShdw>
          </a:effectLst>
        </p:spPr>
      </p:sp>
      <p:sp>
        <p:nvSpPr>
          <p:cNvPr id="14" name="Text 12"/>
          <p:cNvSpPr/>
          <p:nvPr/>
        </p:nvSpPr>
        <p:spPr>
          <a:xfrm>
            <a:off x="658368" y="5120640"/>
            <a:ext cx="3017520" cy="822960"/>
          </a:xfrm>
          <a:prstGeom prst="rect">
            <a:avLst/>
          </a:prstGeom>
          <a:noFill/>
          <a:ln/>
        </p:spPr>
        <p:txBody>
          <a:bodyPr wrap="square" lIns="0" tIns="0" rIns="0" bIns="0" rtlCol="0" anchor="ctr"/>
          <a:lstStyle/>
          <a:p>
            <a:pPr algn="l" indent="0" marL="0">
              <a:buNone/>
            </a:pPr>
            <a:r>
              <a:rPr lang="en-US" sz="1800" b="1" dirty="0">
                <a:solidFill>
                  <a:srgbClr val="0F1C2E"/>
                </a:solidFill>
                <a:latin typeface="Cambria" pitchFamily="34" charset="0"/>
                <a:ea typeface="Cambria" pitchFamily="34" charset="-122"/>
                <a:cs typeface="Cambria" pitchFamily="34" charset="-120"/>
              </a:rPr>
              <a:t>0.10  Purchases</a:t>
            </a:r>
            <a:endParaRPr lang="en-US" sz="1800" dirty="0"/>
          </a:p>
        </p:txBody>
      </p:sp>
      <p:sp>
        <p:nvSpPr>
          <p:cNvPr id="15" name="Text 13"/>
          <p:cNvSpPr/>
          <p:nvPr/>
        </p:nvSpPr>
        <p:spPr>
          <a:xfrm>
            <a:off x="3794760" y="5102352"/>
            <a:ext cx="7680960" cy="896112"/>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Smallest. Dividing by the highest count in the race puts a shop of 10 and a shop of 10,000 on one scale. Popularity can nudge a close call. It cannot overturn a large price or star gap.</a:t>
            </a:r>
            <a:endParaRPr lang="en-US" sz="1400" dirty="0"/>
          </a:p>
        </p:txBody>
      </p:sp>
      <p:sp>
        <p:nvSpPr>
          <p:cNvPr id="17" name="Text 14"/>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18" name="Text 15"/>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THE SAME TWO ROWS, TWO VECTORS</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Row A wins. Cash is why it wins harder.</a:t>
            </a:r>
            <a:endParaRPr lang="en-US" sz="3200" dirty="0"/>
          </a:p>
        </p:txBody>
      </p:sp>
      <p:sp>
        <p:nvSpPr>
          <p:cNvPr id="4" name="Text 2"/>
          <p:cNvSpPr/>
          <p:nvPr/>
        </p:nvSpPr>
        <p:spPr>
          <a:xfrm>
            <a:off x="502920" y="1024128"/>
            <a:ext cx="7315200" cy="411480"/>
          </a:xfrm>
          <a:prstGeom prst="rect">
            <a:avLst/>
          </a:prstGeom>
          <a:noFill/>
          <a:ln/>
        </p:spPr>
        <p:txBody>
          <a:bodyPr wrap="square" lIns="0" tIns="0" rIns="0" bIns="0" rtlCol="0" anchor="t"/>
          <a:lstStyle/>
          <a:p>
            <a:pPr algn="l" indent="0" marL="0">
              <a:buNone/>
            </a:pPr>
            <a:r>
              <a:rPr lang="en-US" sz="1300" dirty="0">
                <a:solidFill>
                  <a:srgbClr val="4E6070"/>
                </a:solidFill>
                <a:latin typeface="Calibri" pitchFamily="34" charset="0"/>
                <a:ea typeface="Calibri" pitchFamily="34" charset="-122"/>
                <a:cs typeface="Calibri" pitchFamily="34" charset="-120"/>
              </a:rPr>
              <a:t>Rewards off. Neither sku bought before. Highest cash in the race is 300. Highest purchase count is 10.</a:t>
            </a:r>
            <a:endParaRPr lang="en-US" sz="1300" dirty="0"/>
          </a:p>
        </p:txBody>
      </p:sp>
      <p:sp>
        <p:nvSpPr>
          <p:cNvPr id="5" name="Text 3"/>
          <p:cNvSpPr/>
          <p:nvPr/>
        </p:nvSpPr>
        <p:spPr>
          <a:xfrm>
            <a:off x="1965960" y="1481328"/>
            <a:ext cx="2926080" cy="219456"/>
          </a:xfrm>
          <a:prstGeom prst="rect">
            <a:avLst/>
          </a:prstGeom>
          <a:noFill/>
          <a:ln/>
        </p:spPr>
        <p:txBody>
          <a:bodyPr wrap="square" lIns="0" tIns="0" rIns="0" bIns="0" rtlCol="0" anchor="t"/>
          <a:lstStyle/>
          <a:p>
            <a:pPr algn="l" indent="0" marL="0">
              <a:buNone/>
            </a:pPr>
            <a:r>
              <a:rPr lang="en-US" sz="1200" b="1" dirty="0">
                <a:solidFill>
                  <a:srgbClr val="1E6B45"/>
                </a:solidFill>
                <a:latin typeface="Calibri" pitchFamily="34" charset="0"/>
                <a:ea typeface="Calibri" pitchFamily="34" charset="-122"/>
                <a:cs typeface="Calibri" pitchFamily="34" charset="-120"/>
              </a:rPr>
              <a:t>A   cash 260, 4 stars, 10 purchases</a:t>
            </a:r>
            <a:endParaRPr lang="en-US" sz="1200" dirty="0"/>
          </a:p>
        </p:txBody>
      </p:sp>
      <p:sp>
        <p:nvSpPr>
          <p:cNvPr id="6" name="Text 4"/>
          <p:cNvSpPr/>
          <p:nvPr/>
        </p:nvSpPr>
        <p:spPr>
          <a:xfrm>
            <a:off x="4937760" y="1481328"/>
            <a:ext cx="2834640" cy="219456"/>
          </a:xfrm>
          <a:prstGeom prst="rect">
            <a:avLst/>
          </a:prstGeom>
          <a:noFill/>
          <a:ln/>
        </p:spPr>
        <p:txBody>
          <a:bodyPr wrap="square" lIns="0" tIns="0" rIns="0" bIns="0" rtlCol="0" anchor="t"/>
          <a:lstStyle/>
          <a:p>
            <a:pPr algn="l" indent="0" marL="0">
              <a:buNone/>
            </a:pPr>
            <a:r>
              <a:rPr lang="en-US" sz="1200" b="1" dirty="0">
                <a:solidFill>
                  <a:srgbClr val="1A3048"/>
                </a:solidFill>
                <a:latin typeface="Calibri" pitchFamily="34" charset="0"/>
                <a:ea typeface="Calibri" pitchFamily="34" charset="-122"/>
                <a:cs typeface="Calibri" pitchFamily="34" charset="-120"/>
              </a:rPr>
              <a:t>B   cash 300, 5 stars, 2 purchases</a:t>
            </a:r>
            <a:endParaRPr lang="en-US" sz="1200" dirty="0"/>
          </a:p>
        </p:txBody>
      </p:sp>
      <p:sp>
        <p:nvSpPr>
          <p:cNvPr id="7" name="Text 5"/>
          <p:cNvSpPr/>
          <p:nvPr/>
        </p:nvSpPr>
        <p:spPr>
          <a:xfrm>
            <a:off x="411480" y="1993392"/>
            <a:ext cx="1417320" cy="365760"/>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Relevance</a:t>
            </a:r>
            <a:endParaRPr lang="en-US" sz="1400" dirty="0"/>
          </a:p>
        </p:txBody>
      </p:sp>
      <p:sp>
        <p:nvSpPr>
          <p:cNvPr id="8" name="Shape 6"/>
          <p:cNvSpPr/>
          <p:nvPr/>
        </p:nvSpPr>
        <p:spPr>
          <a:xfrm>
            <a:off x="1965960" y="1847088"/>
            <a:ext cx="3108960" cy="256032"/>
          </a:xfrm>
          <a:prstGeom prst="roundRect">
            <a:avLst>
              <a:gd name="adj" fmla="val 14286"/>
            </a:avLst>
          </a:prstGeom>
          <a:solidFill>
            <a:srgbClr val="1E6B45"/>
          </a:solidFill>
          <a:ln/>
        </p:spPr>
      </p:sp>
      <p:sp>
        <p:nvSpPr>
          <p:cNvPr id="9" name="Text 7"/>
          <p:cNvSpPr/>
          <p:nvPr/>
        </p:nvSpPr>
        <p:spPr>
          <a:xfrm>
            <a:off x="5148072" y="1847088"/>
            <a:ext cx="777240" cy="256032"/>
          </a:xfrm>
          <a:prstGeom prst="rect">
            <a:avLst/>
          </a:prstGeom>
          <a:noFill/>
          <a:ln/>
        </p:spPr>
        <p:txBody>
          <a:bodyPr wrap="square" lIns="0" tIns="0" rIns="0" bIns="0" rtlCol="0" anchor="ctr"/>
          <a:lstStyle/>
          <a:p>
            <a:pPr algn="l" indent="0" marL="0">
              <a:buNone/>
            </a:pPr>
            <a:r>
              <a:rPr lang="en-US" sz="1200" dirty="0">
                <a:solidFill>
                  <a:srgbClr val="1E6B45"/>
                </a:solidFill>
                <a:latin typeface="Calibri" pitchFamily="34" charset="0"/>
                <a:ea typeface="Calibri" pitchFamily="34" charset="-122"/>
                <a:cs typeface="Calibri" pitchFamily="34" charset="-120"/>
              </a:rPr>
              <a:t>0.35</a:t>
            </a:r>
            <a:endParaRPr lang="en-US" sz="1200" dirty="0"/>
          </a:p>
        </p:txBody>
      </p:sp>
      <p:sp>
        <p:nvSpPr>
          <p:cNvPr id="10" name="Shape 8"/>
          <p:cNvSpPr/>
          <p:nvPr/>
        </p:nvSpPr>
        <p:spPr>
          <a:xfrm>
            <a:off x="1965960" y="2176272"/>
            <a:ext cx="3108960" cy="256032"/>
          </a:xfrm>
          <a:prstGeom prst="roundRect">
            <a:avLst>
              <a:gd name="adj" fmla="val 14286"/>
            </a:avLst>
          </a:prstGeom>
          <a:solidFill>
            <a:srgbClr val="1A3048"/>
          </a:solidFill>
          <a:ln/>
        </p:spPr>
      </p:sp>
      <p:sp>
        <p:nvSpPr>
          <p:cNvPr id="11" name="Text 9"/>
          <p:cNvSpPr/>
          <p:nvPr/>
        </p:nvSpPr>
        <p:spPr>
          <a:xfrm>
            <a:off x="5148072" y="2176272"/>
            <a:ext cx="777240" cy="256032"/>
          </a:xfrm>
          <a:prstGeom prst="rect">
            <a:avLst/>
          </a:prstGeom>
          <a:noFill/>
          <a:ln/>
        </p:spPr>
        <p:txBody>
          <a:bodyPr wrap="square" lIns="0" tIns="0" rIns="0" bIns="0" rtlCol="0" anchor="ctr"/>
          <a:lstStyle/>
          <a:p>
            <a:pPr algn="l" indent="0" marL="0">
              <a:buNone/>
            </a:pPr>
            <a:r>
              <a:rPr lang="en-US" sz="1200" dirty="0">
                <a:solidFill>
                  <a:srgbClr val="1A3048"/>
                </a:solidFill>
                <a:latin typeface="Calibri" pitchFamily="34" charset="0"/>
                <a:ea typeface="Calibri" pitchFamily="34" charset="-122"/>
                <a:cs typeface="Calibri" pitchFamily="34" charset="-120"/>
              </a:rPr>
              <a:t>0.35</a:t>
            </a:r>
            <a:endParaRPr lang="en-US" sz="1200" dirty="0"/>
          </a:p>
        </p:txBody>
      </p:sp>
      <p:sp>
        <p:nvSpPr>
          <p:cNvPr id="12" name="Text 10"/>
          <p:cNvSpPr/>
          <p:nvPr/>
        </p:nvSpPr>
        <p:spPr>
          <a:xfrm>
            <a:off x="411480" y="2798064"/>
            <a:ext cx="1417320" cy="365760"/>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Cash</a:t>
            </a:r>
            <a:endParaRPr lang="en-US" sz="1400" dirty="0"/>
          </a:p>
        </p:txBody>
      </p:sp>
      <p:sp>
        <p:nvSpPr>
          <p:cNvPr id="13" name="Shape 11"/>
          <p:cNvSpPr/>
          <p:nvPr/>
        </p:nvSpPr>
        <p:spPr>
          <a:xfrm>
            <a:off x="1965960" y="2651760"/>
            <a:ext cx="295795" cy="256032"/>
          </a:xfrm>
          <a:prstGeom prst="roundRect">
            <a:avLst>
              <a:gd name="adj" fmla="val 14286"/>
            </a:avLst>
          </a:prstGeom>
          <a:solidFill>
            <a:srgbClr val="1E6B45"/>
          </a:solidFill>
          <a:ln/>
        </p:spPr>
      </p:sp>
      <p:sp>
        <p:nvSpPr>
          <p:cNvPr id="14" name="Text 12"/>
          <p:cNvSpPr/>
          <p:nvPr/>
        </p:nvSpPr>
        <p:spPr>
          <a:xfrm>
            <a:off x="2334907" y="2651760"/>
            <a:ext cx="777240" cy="256032"/>
          </a:xfrm>
          <a:prstGeom prst="rect">
            <a:avLst/>
          </a:prstGeom>
          <a:noFill/>
          <a:ln/>
        </p:spPr>
        <p:txBody>
          <a:bodyPr wrap="square" lIns="0" tIns="0" rIns="0" bIns="0" rtlCol="0" anchor="ctr"/>
          <a:lstStyle/>
          <a:p>
            <a:pPr algn="l" indent="0" marL="0">
              <a:buNone/>
            </a:pPr>
            <a:r>
              <a:rPr lang="en-US" sz="1200" dirty="0">
                <a:solidFill>
                  <a:srgbClr val="1E6B45"/>
                </a:solidFill>
                <a:latin typeface="Calibri" pitchFamily="34" charset="0"/>
                <a:ea typeface="Calibri" pitchFamily="34" charset="-122"/>
                <a:cs typeface="Calibri" pitchFamily="34" charset="-120"/>
              </a:rPr>
              <a:t>0.0333</a:t>
            </a:r>
            <a:endParaRPr lang="en-US" sz="1200" dirty="0"/>
          </a:p>
        </p:txBody>
      </p:sp>
      <p:sp>
        <p:nvSpPr>
          <p:cNvPr id="15" name="Text 13"/>
          <p:cNvSpPr/>
          <p:nvPr/>
        </p:nvSpPr>
        <p:spPr>
          <a:xfrm>
            <a:off x="2039112" y="2980944"/>
            <a:ext cx="777240" cy="256032"/>
          </a:xfrm>
          <a:prstGeom prst="rect">
            <a:avLst/>
          </a:prstGeom>
          <a:noFill/>
          <a:ln/>
        </p:spPr>
        <p:txBody>
          <a:bodyPr wrap="square" lIns="0" tIns="0" rIns="0" bIns="0" rtlCol="0" anchor="ctr"/>
          <a:lstStyle/>
          <a:p>
            <a:pPr algn="l" indent="0" marL="0">
              <a:buNone/>
            </a:pPr>
            <a:r>
              <a:rPr lang="en-US" sz="1200" dirty="0">
                <a:solidFill>
                  <a:srgbClr val="1A3048"/>
                </a:solidFill>
                <a:latin typeface="Calibri" pitchFamily="34" charset="0"/>
                <a:ea typeface="Calibri" pitchFamily="34" charset="-122"/>
                <a:cs typeface="Calibri" pitchFamily="34" charset="-120"/>
              </a:rPr>
              <a:t>0</a:t>
            </a:r>
            <a:endParaRPr lang="en-US" sz="1200" dirty="0"/>
          </a:p>
        </p:txBody>
      </p:sp>
      <p:sp>
        <p:nvSpPr>
          <p:cNvPr id="16" name="Text 14"/>
          <p:cNvSpPr/>
          <p:nvPr/>
        </p:nvSpPr>
        <p:spPr>
          <a:xfrm>
            <a:off x="411480" y="3602736"/>
            <a:ext cx="1417320" cy="365760"/>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Rating</a:t>
            </a:r>
            <a:endParaRPr lang="en-US" sz="1400" dirty="0"/>
          </a:p>
        </p:txBody>
      </p:sp>
      <p:sp>
        <p:nvSpPr>
          <p:cNvPr id="17" name="Shape 15"/>
          <p:cNvSpPr/>
          <p:nvPr/>
        </p:nvSpPr>
        <p:spPr>
          <a:xfrm>
            <a:off x="1965960" y="3456432"/>
            <a:ext cx="1065929" cy="256032"/>
          </a:xfrm>
          <a:prstGeom prst="roundRect">
            <a:avLst>
              <a:gd name="adj" fmla="val 14286"/>
            </a:avLst>
          </a:prstGeom>
          <a:solidFill>
            <a:srgbClr val="1E6B45"/>
          </a:solidFill>
          <a:ln/>
        </p:spPr>
      </p:sp>
      <p:sp>
        <p:nvSpPr>
          <p:cNvPr id="18" name="Text 16"/>
          <p:cNvSpPr/>
          <p:nvPr/>
        </p:nvSpPr>
        <p:spPr>
          <a:xfrm>
            <a:off x="3105041" y="3456432"/>
            <a:ext cx="777240" cy="256032"/>
          </a:xfrm>
          <a:prstGeom prst="rect">
            <a:avLst/>
          </a:prstGeom>
          <a:noFill/>
          <a:ln/>
        </p:spPr>
        <p:txBody>
          <a:bodyPr wrap="square" lIns="0" tIns="0" rIns="0" bIns="0" rtlCol="0" anchor="ctr"/>
          <a:lstStyle/>
          <a:p>
            <a:pPr algn="l" indent="0" marL="0">
              <a:buNone/>
            </a:pPr>
            <a:r>
              <a:rPr lang="en-US" sz="1200" dirty="0">
                <a:solidFill>
                  <a:srgbClr val="1E6B45"/>
                </a:solidFill>
                <a:latin typeface="Calibri" pitchFamily="34" charset="0"/>
                <a:ea typeface="Calibri" pitchFamily="34" charset="-122"/>
                <a:cs typeface="Calibri" pitchFamily="34" charset="-120"/>
              </a:rPr>
              <a:t>0.12</a:t>
            </a:r>
            <a:endParaRPr lang="en-US" sz="1200" dirty="0"/>
          </a:p>
        </p:txBody>
      </p:sp>
      <p:sp>
        <p:nvSpPr>
          <p:cNvPr id="19" name="Shape 17"/>
          <p:cNvSpPr/>
          <p:nvPr/>
        </p:nvSpPr>
        <p:spPr>
          <a:xfrm>
            <a:off x="1965960" y="3785616"/>
            <a:ext cx="1332411" cy="256032"/>
          </a:xfrm>
          <a:prstGeom prst="roundRect">
            <a:avLst>
              <a:gd name="adj" fmla="val 14286"/>
            </a:avLst>
          </a:prstGeom>
          <a:solidFill>
            <a:srgbClr val="1A3048"/>
          </a:solidFill>
          <a:ln/>
        </p:spPr>
      </p:sp>
      <p:sp>
        <p:nvSpPr>
          <p:cNvPr id="20" name="Text 18"/>
          <p:cNvSpPr/>
          <p:nvPr/>
        </p:nvSpPr>
        <p:spPr>
          <a:xfrm>
            <a:off x="3371523" y="3785616"/>
            <a:ext cx="777240" cy="256032"/>
          </a:xfrm>
          <a:prstGeom prst="rect">
            <a:avLst/>
          </a:prstGeom>
          <a:noFill/>
          <a:ln/>
        </p:spPr>
        <p:txBody>
          <a:bodyPr wrap="square" lIns="0" tIns="0" rIns="0" bIns="0" rtlCol="0" anchor="ctr"/>
          <a:lstStyle/>
          <a:p>
            <a:pPr algn="l" indent="0" marL="0">
              <a:buNone/>
            </a:pPr>
            <a:r>
              <a:rPr lang="en-US" sz="1200" dirty="0">
                <a:solidFill>
                  <a:srgbClr val="1A3048"/>
                </a:solidFill>
                <a:latin typeface="Calibri" pitchFamily="34" charset="0"/>
                <a:ea typeface="Calibri" pitchFamily="34" charset="-122"/>
                <a:cs typeface="Calibri" pitchFamily="34" charset="-120"/>
              </a:rPr>
              <a:t>0.15</a:t>
            </a:r>
            <a:endParaRPr lang="en-US" sz="1200" dirty="0"/>
          </a:p>
        </p:txBody>
      </p:sp>
      <p:sp>
        <p:nvSpPr>
          <p:cNvPr id="21" name="Text 19"/>
          <p:cNvSpPr/>
          <p:nvPr/>
        </p:nvSpPr>
        <p:spPr>
          <a:xfrm>
            <a:off x="411480" y="4407408"/>
            <a:ext cx="1417320" cy="365760"/>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Purchases</a:t>
            </a:r>
            <a:endParaRPr lang="en-US" sz="1400" dirty="0"/>
          </a:p>
        </p:txBody>
      </p:sp>
      <p:sp>
        <p:nvSpPr>
          <p:cNvPr id="22" name="Shape 20"/>
          <p:cNvSpPr/>
          <p:nvPr/>
        </p:nvSpPr>
        <p:spPr>
          <a:xfrm>
            <a:off x="1965960" y="4261104"/>
            <a:ext cx="888274" cy="256032"/>
          </a:xfrm>
          <a:prstGeom prst="roundRect">
            <a:avLst>
              <a:gd name="adj" fmla="val 14286"/>
            </a:avLst>
          </a:prstGeom>
          <a:solidFill>
            <a:srgbClr val="1E6B45"/>
          </a:solidFill>
          <a:ln/>
        </p:spPr>
      </p:sp>
      <p:sp>
        <p:nvSpPr>
          <p:cNvPr id="23" name="Text 21"/>
          <p:cNvSpPr/>
          <p:nvPr/>
        </p:nvSpPr>
        <p:spPr>
          <a:xfrm>
            <a:off x="2927386" y="4261104"/>
            <a:ext cx="777240" cy="256032"/>
          </a:xfrm>
          <a:prstGeom prst="rect">
            <a:avLst/>
          </a:prstGeom>
          <a:noFill/>
          <a:ln/>
        </p:spPr>
        <p:txBody>
          <a:bodyPr wrap="square" lIns="0" tIns="0" rIns="0" bIns="0" rtlCol="0" anchor="ctr"/>
          <a:lstStyle/>
          <a:p>
            <a:pPr algn="l" indent="0" marL="0">
              <a:buNone/>
            </a:pPr>
            <a:r>
              <a:rPr lang="en-US" sz="1200" dirty="0">
                <a:solidFill>
                  <a:srgbClr val="1E6B45"/>
                </a:solidFill>
                <a:latin typeface="Calibri" pitchFamily="34" charset="0"/>
                <a:ea typeface="Calibri" pitchFamily="34" charset="-122"/>
                <a:cs typeface="Calibri" pitchFamily="34" charset="-120"/>
              </a:rPr>
              <a:t>0.1</a:t>
            </a:r>
            <a:endParaRPr lang="en-US" sz="1200" dirty="0"/>
          </a:p>
        </p:txBody>
      </p:sp>
      <p:sp>
        <p:nvSpPr>
          <p:cNvPr id="24" name="Shape 22"/>
          <p:cNvSpPr/>
          <p:nvPr/>
        </p:nvSpPr>
        <p:spPr>
          <a:xfrm>
            <a:off x="1965960" y="4590288"/>
            <a:ext cx="177655" cy="256032"/>
          </a:xfrm>
          <a:prstGeom prst="roundRect">
            <a:avLst>
              <a:gd name="adj" fmla="val 20588"/>
            </a:avLst>
          </a:prstGeom>
          <a:solidFill>
            <a:srgbClr val="1A3048"/>
          </a:solidFill>
          <a:ln/>
        </p:spPr>
      </p:sp>
      <p:sp>
        <p:nvSpPr>
          <p:cNvPr id="25" name="Text 23"/>
          <p:cNvSpPr/>
          <p:nvPr/>
        </p:nvSpPr>
        <p:spPr>
          <a:xfrm>
            <a:off x="2216767" y="4590288"/>
            <a:ext cx="777240" cy="256032"/>
          </a:xfrm>
          <a:prstGeom prst="rect">
            <a:avLst/>
          </a:prstGeom>
          <a:noFill/>
          <a:ln/>
        </p:spPr>
        <p:txBody>
          <a:bodyPr wrap="square" lIns="0" tIns="0" rIns="0" bIns="0" rtlCol="0" anchor="ctr"/>
          <a:lstStyle/>
          <a:p>
            <a:pPr algn="l" indent="0" marL="0">
              <a:buNone/>
            </a:pPr>
            <a:r>
              <a:rPr lang="en-US" sz="1200" dirty="0">
                <a:solidFill>
                  <a:srgbClr val="1A3048"/>
                </a:solidFill>
                <a:latin typeface="Calibri" pitchFamily="34" charset="0"/>
                <a:ea typeface="Calibri" pitchFamily="34" charset="-122"/>
                <a:cs typeface="Calibri" pitchFamily="34" charset="-120"/>
              </a:rPr>
              <a:t>0.02</a:t>
            </a:r>
            <a:endParaRPr lang="en-US" sz="1200" dirty="0"/>
          </a:p>
        </p:txBody>
      </p:sp>
      <p:sp>
        <p:nvSpPr>
          <p:cNvPr id="26" name="Text 24"/>
          <p:cNvSpPr/>
          <p:nvPr/>
        </p:nvSpPr>
        <p:spPr>
          <a:xfrm>
            <a:off x="411480" y="5212080"/>
            <a:ext cx="1417320" cy="365760"/>
          </a:xfrm>
          <a:prstGeom prst="rect">
            <a:avLst/>
          </a:prstGeom>
          <a:noFill/>
          <a:ln/>
        </p:spPr>
        <p:txBody>
          <a:bodyPr wrap="square" lIns="0" tIns="0" rIns="0" bIns="0" rtlCol="0" anchor="t"/>
          <a:lstStyle/>
          <a:p>
            <a:pPr algn="l" indent="0" marL="0">
              <a:buNone/>
            </a:pPr>
            <a:r>
              <a:rPr lang="en-US" sz="1400" b="1" dirty="0">
                <a:solidFill>
                  <a:srgbClr val="0F1C2E"/>
                </a:solidFill>
                <a:latin typeface="Calibri" pitchFamily="34" charset="0"/>
                <a:ea typeface="Calibri" pitchFamily="34" charset="-122"/>
                <a:cs typeface="Calibri" pitchFamily="34" charset="-120"/>
              </a:rPr>
              <a:t>History</a:t>
            </a:r>
            <a:endParaRPr lang="en-US" sz="1400" dirty="0"/>
          </a:p>
        </p:txBody>
      </p:sp>
      <p:sp>
        <p:nvSpPr>
          <p:cNvPr id="27" name="Text 25"/>
          <p:cNvSpPr/>
          <p:nvPr/>
        </p:nvSpPr>
        <p:spPr>
          <a:xfrm>
            <a:off x="2039112" y="5065776"/>
            <a:ext cx="777240" cy="256032"/>
          </a:xfrm>
          <a:prstGeom prst="rect">
            <a:avLst/>
          </a:prstGeom>
          <a:noFill/>
          <a:ln/>
        </p:spPr>
        <p:txBody>
          <a:bodyPr wrap="square" lIns="0" tIns="0" rIns="0" bIns="0" rtlCol="0" anchor="ctr"/>
          <a:lstStyle/>
          <a:p>
            <a:pPr algn="l" indent="0" marL="0">
              <a:buNone/>
            </a:pPr>
            <a:r>
              <a:rPr lang="en-US" sz="1200" dirty="0">
                <a:solidFill>
                  <a:srgbClr val="1E6B45"/>
                </a:solidFill>
                <a:latin typeface="Calibri" pitchFamily="34" charset="0"/>
                <a:ea typeface="Calibri" pitchFamily="34" charset="-122"/>
                <a:cs typeface="Calibri" pitchFamily="34" charset="-120"/>
              </a:rPr>
              <a:t>0</a:t>
            </a:r>
            <a:endParaRPr lang="en-US" sz="1200" dirty="0"/>
          </a:p>
        </p:txBody>
      </p:sp>
      <p:sp>
        <p:nvSpPr>
          <p:cNvPr id="28" name="Text 26"/>
          <p:cNvSpPr/>
          <p:nvPr/>
        </p:nvSpPr>
        <p:spPr>
          <a:xfrm>
            <a:off x="2039112" y="5394960"/>
            <a:ext cx="777240" cy="256032"/>
          </a:xfrm>
          <a:prstGeom prst="rect">
            <a:avLst/>
          </a:prstGeom>
          <a:noFill/>
          <a:ln/>
        </p:spPr>
        <p:txBody>
          <a:bodyPr wrap="square" lIns="0" tIns="0" rIns="0" bIns="0" rtlCol="0" anchor="ctr"/>
          <a:lstStyle/>
          <a:p>
            <a:pPr algn="l" indent="0" marL="0">
              <a:buNone/>
            </a:pPr>
            <a:r>
              <a:rPr lang="en-US" sz="1200" dirty="0">
                <a:solidFill>
                  <a:srgbClr val="1A3048"/>
                </a:solidFill>
                <a:latin typeface="Calibri" pitchFamily="34" charset="0"/>
                <a:ea typeface="Calibri" pitchFamily="34" charset="-122"/>
                <a:cs typeface="Calibri" pitchFamily="34" charset="-120"/>
              </a:rPr>
              <a:t>0</a:t>
            </a:r>
            <a:endParaRPr lang="en-US" sz="1200" dirty="0"/>
          </a:p>
        </p:txBody>
      </p:sp>
      <p:sp>
        <p:nvSpPr>
          <p:cNvPr id="29" name="Shape 27"/>
          <p:cNvSpPr/>
          <p:nvPr/>
        </p:nvSpPr>
        <p:spPr>
          <a:xfrm>
            <a:off x="8001000" y="1463040"/>
            <a:ext cx="3703320" cy="2148840"/>
          </a:xfrm>
          <a:prstGeom prst="roundRect">
            <a:avLst>
              <a:gd name="adj" fmla="val 3404"/>
            </a:avLst>
          </a:prstGeom>
          <a:solidFill>
            <a:srgbClr val="0F1C2E"/>
          </a:solidFill>
          <a:ln/>
          <a:effectLst>
            <a:outerShdw sx="100000" sy="100000" kx="0" ky="0" algn="bl" rotWithShape="0" blurRad="152400" dist="38100" dir="5400000">
              <a:srgbClr val="0F1C2E">
                <a:alpha val="10000"/>
              </a:srgbClr>
            </a:outerShdw>
          </a:effectLst>
        </p:spPr>
      </p:sp>
      <p:sp>
        <p:nvSpPr>
          <p:cNvPr id="30" name="Text 28"/>
          <p:cNvSpPr/>
          <p:nvPr/>
        </p:nvSpPr>
        <p:spPr>
          <a:xfrm>
            <a:off x="8183880" y="1600200"/>
            <a:ext cx="3337560" cy="256032"/>
          </a:xfrm>
          <a:prstGeom prst="rect">
            <a:avLst/>
          </a:prstGeom>
          <a:noFill/>
          <a:ln/>
        </p:spPr>
        <p:txBody>
          <a:bodyPr wrap="square" lIns="0" tIns="0" rIns="0" bIns="0" rtlCol="0" anchor="t"/>
          <a:lstStyle/>
          <a:p>
            <a:pPr algn="l" indent="0" marL="0">
              <a:buNone/>
            </a:pPr>
            <a:r>
              <a:rPr lang="en-US" sz="1300" b="1" dirty="0">
                <a:solidFill>
                  <a:srgbClr val="A67C2D"/>
                </a:solidFill>
                <a:latin typeface="Calibri" pitchFamily="34" charset="0"/>
                <a:ea typeface="Calibri" pitchFamily="34" charset="-122"/>
                <a:cs typeface="Calibri" pitchFamily="34" charset="-120"/>
              </a:rPr>
              <a:t>Balanced</a:t>
            </a:r>
            <a:endParaRPr lang="en-US" sz="1300" dirty="0"/>
          </a:p>
        </p:txBody>
      </p:sp>
      <p:sp>
        <p:nvSpPr>
          <p:cNvPr id="31" name="Text 29"/>
          <p:cNvSpPr/>
          <p:nvPr/>
        </p:nvSpPr>
        <p:spPr>
          <a:xfrm>
            <a:off x="8183880" y="1920240"/>
            <a:ext cx="3337560" cy="457200"/>
          </a:xfrm>
          <a:prstGeom prst="rect">
            <a:avLst/>
          </a:prstGeom>
          <a:noFill/>
          <a:ln/>
        </p:spPr>
        <p:txBody>
          <a:bodyPr wrap="square" lIns="0" tIns="0" rIns="0" bIns="0" rtlCol="0" anchor="t"/>
          <a:lstStyle/>
          <a:p>
            <a:pPr algn="l" indent="0" marL="0">
              <a:buNone/>
            </a:pPr>
            <a:r>
              <a:rPr lang="en-US" sz="2200" b="1" dirty="0">
                <a:solidFill>
                  <a:srgbClr val="FFFFFF"/>
                </a:solidFill>
                <a:latin typeface="Cambria" pitchFamily="34" charset="0"/>
                <a:ea typeface="Cambria" pitchFamily="34" charset="-122"/>
                <a:cs typeface="Cambria" pitchFamily="34" charset="-120"/>
              </a:rPr>
              <a:t>0.6033   vs   0.52</a:t>
            </a:r>
            <a:endParaRPr lang="en-US" sz="2200" dirty="0"/>
          </a:p>
        </p:txBody>
      </p:sp>
      <p:sp>
        <p:nvSpPr>
          <p:cNvPr id="32" name="Text 30"/>
          <p:cNvSpPr/>
          <p:nvPr/>
        </p:nvSpPr>
        <p:spPr>
          <a:xfrm>
            <a:off x="8183880" y="2468880"/>
            <a:ext cx="3337560" cy="868680"/>
          </a:xfrm>
          <a:prstGeom prst="rect">
            <a:avLst/>
          </a:prstGeom>
          <a:noFill/>
          <a:ln/>
        </p:spPr>
        <p:txBody>
          <a:bodyPr wrap="square" lIns="0" tIns="0" rIns="0" bIns="0" rtlCol="0" anchor="t"/>
          <a:lstStyle/>
          <a:p>
            <a:pPr algn="l" indent="0" marL="0">
              <a:buNone/>
            </a:pPr>
            <a:r>
              <a:rPr lang="en-US" sz="1300" dirty="0">
                <a:solidFill>
                  <a:srgbClr val="E6EDF4"/>
                </a:solidFill>
                <a:latin typeface="Calibri" pitchFamily="34" charset="0"/>
                <a:ea typeface="Calibri" pitchFamily="34" charset="-122"/>
                <a:cs typeface="Calibri" pitchFamily="34" charset="-120"/>
              </a:rPr>
              <a:t>Purchases 0.08 and cash 0.0333 outweigh B’s extra star of 0.03.</a:t>
            </a:r>
            <a:endParaRPr lang="en-US" sz="1300" dirty="0"/>
          </a:p>
        </p:txBody>
      </p:sp>
      <p:sp>
        <p:nvSpPr>
          <p:cNvPr id="33" name="Shape 31"/>
          <p:cNvSpPr/>
          <p:nvPr/>
        </p:nvSpPr>
        <p:spPr>
          <a:xfrm>
            <a:off x="8001000" y="3794760"/>
            <a:ext cx="3703320" cy="2148840"/>
          </a:xfrm>
          <a:prstGeom prst="roundRect">
            <a:avLst>
              <a:gd name="adj" fmla="val 3404"/>
            </a:avLst>
          </a:prstGeom>
          <a:solidFill>
            <a:srgbClr val="FFFFFF"/>
          </a:solidFill>
          <a:ln/>
          <a:effectLst>
            <a:outerShdw sx="100000" sy="100000" kx="0" ky="0" algn="bl" rotWithShape="0" blurRad="152400" dist="38100" dir="5400000">
              <a:srgbClr val="0F1C2E">
                <a:alpha val="10000"/>
              </a:srgbClr>
            </a:outerShdw>
          </a:effectLst>
        </p:spPr>
      </p:sp>
      <p:sp>
        <p:nvSpPr>
          <p:cNvPr id="34" name="Text 32"/>
          <p:cNvSpPr/>
          <p:nvPr/>
        </p:nvSpPr>
        <p:spPr>
          <a:xfrm>
            <a:off x="8183880" y="3931920"/>
            <a:ext cx="3337560" cy="256032"/>
          </a:xfrm>
          <a:prstGeom prst="rect">
            <a:avLst/>
          </a:prstGeom>
          <a:noFill/>
          <a:ln/>
        </p:spPr>
        <p:txBody>
          <a:bodyPr wrap="square" lIns="0" tIns="0" rIns="0" bIns="0" rtlCol="0" anchor="t"/>
          <a:lstStyle/>
          <a:p>
            <a:pPr algn="l" indent="0" marL="0">
              <a:buNone/>
            </a:pPr>
            <a:r>
              <a:rPr lang="en-US" sz="1300" b="1" dirty="0">
                <a:solidFill>
                  <a:srgbClr val="A67C2D"/>
                </a:solidFill>
                <a:latin typeface="Calibri" pitchFamily="34" charset="0"/>
                <a:ea typeface="Calibri" pitchFamily="34" charset="-122"/>
                <a:cs typeface="Calibri" pitchFamily="34" charset="-120"/>
              </a:rPr>
              <a:t>Lowest cash</a:t>
            </a:r>
            <a:endParaRPr lang="en-US" sz="1300" dirty="0"/>
          </a:p>
        </p:txBody>
      </p:sp>
      <p:sp>
        <p:nvSpPr>
          <p:cNvPr id="35" name="Text 33"/>
          <p:cNvSpPr/>
          <p:nvPr/>
        </p:nvSpPr>
        <p:spPr>
          <a:xfrm>
            <a:off x="8183880" y="4251960"/>
            <a:ext cx="3337560" cy="45720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0.41   vs   0.31</a:t>
            </a:r>
            <a:endParaRPr lang="en-US" sz="2200" dirty="0"/>
          </a:p>
        </p:txBody>
      </p:sp>
      <p:sp>
        <p:nvSpPr>
          <p:cNvPr id="36" name="Text 34"/>
          <p:cNvSpPr/>
          <p:nvPr/>
        </p:nvSpPr>
        <p:spPr>
          <a:xfrm>
            <a:off x="8183880" y="4800600"/>
            <a:ext cx="3337560" cy="91440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cash gap grows to 0.08. The star gap shrinks to 0.02. That is what 0.60 does.</a:t>
            </a:r>
            <a:endParaRPr lang="en-US" sz="1300" dirty="0"/>
          </a:p>
        </p:txBody>
      </p:sp>
      <p:sp>
        <p:nvSpPr>
          <p:cNvPr id="38" name="Text 35"/>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39" name="Text 36"/>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THE TIE LINE, AND WHERE THE METHOD COMES FROM</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A real cent still ranks</a:t>
            </a:r>
            <a:endParaRPr lang="en-US" sz="3200" dirty="0"/>
          </a:p>
        </p:txBody>
      </p:sp>
      <p:sp>
        <p:nvSpPr>
          <p:cNvPr id="4" name="Shape 2"/>
          <p:cNvSpPr/>
          <p:nvPr/>
        </p:nvSpPr>
        <p:spPr>
          <a:xfrm>
            <a:off x="457200" y="1143000"/>
            <a:ext cx="5669280" cy="2468880"/>
          </a:xfrm>
          <a:prstGeom prst="roundRect">
            <a:avLst>
              <a:gd name="adj" fmla="val 2963"/>
            </a:avLst>
          </a:prstGeom>
          <a:solidFill>
            <a:srgbClr val="0F1C2E"/>
          </a:solidFill>
          <a:ln/>
          <a:effectLst>
            <a:outerShdw sx="100000" sy="100000" kx="0" ky="0" algn="bl" rotWithShape="0" blurRad="152400" dist="38100" dir="5400000">
              <a:srgbClr val="0F1C2E">
                <a:alpha val="10000"/>
              </a:srgbClr>
            </a:outerShdw>
          </a:effectLst>
        </p:spPr>
      </p:sp>
      <p:sp>
        <p:nvSpPr>
          <p:cNvPr id="5" name="Text 3"/>
          <p:cNvSpPr/>
          <p:nvPr/>
        </p:nvSpPr>
        <p:spPr>
          <a:xfrm>
            <a:off x="685800" y="1371600"/>
            <a:ext cx="5212080" cy="640080"/>
          </a:xfrm>
          <a:prstGeom prst="rect">
            <a:avLst/>
          </a:prstGeom>
          <a:noFill/>
          <a:ln/>
        </p:spPr>
        <p:txBody>
          <a:bodyPr wrap="square" lIns="0" tIns="0" rIns="0" bIns="0" rtlCol="0" anchor="t"/>
          <a:lstStyle/>
          <a:p>
            <a:pPr algn="l" indent="0" marL="0">
              <a:buNone/>
            </a:pPr>
            <a:r>
              <a:rPr lang="en-US" sz="3600" b="1" dirty="0">
                <a:solidFill>
                  <a:srgbClr val="F3D48A"/>
                </a:solidFill>
                <a:latin typeface="Cambria" pitchFamily="34" charset="0"/>
                <a:ea typeface="Cambria" pitchFamily="34" charset="-122"/>
                <a:cs typeface="Cambria" pitchFamily="34" charset="-120"/>
              </a:rPr>
              <a:t>0.0000025</a:t>
            </a:r>
            <a:endParaRPr lang="en-US" sz="3600" dirty="0"/>
          </a:p>
        </p:txBody>
      </p:sp>
      <p:sp>
        <p:nvSpPr>
          <p:cNvPr id="6" name="Text 4"/>
          <p:cNvSpPr/>
          <p:nvPr/>
        </p:nvSpPr>
        <p:spPr>
          <a:xfrm>
            <a:off x="685800" y="2148840"/>
            <a:ext cx="5212080" cy="1188720"/>
          </a:xfrm>
          <a:prstGeom prst="rect">
            <a:avLst/>
          </a:prstGeom>
          <a:noFill/>
          <a:ln/>
        </p:spPr>
        <p:txBody>
          <a:bodyPr wrap="square" lIns="0" tIns="0" rIns="0" bIns="0" rtlCol="0" anchor="t"/>
          <a:lstStyle/>
          <a:p>
            <a:pPr algn="l" indent="0" marL="0">
              <a:buNone/>
            </a:pPr>
            <a:r>
              <a:rPr lang="en-US" sz="1500" dirty="0">
                <a:solidFill>
                  <a:srgbClr val="FFFFFF"/>
                </a:solidFill>
                <a:latin typeface="Calibri" pitchFamily="34" charset="0"/>
                <a:ea typeface="Calibri" pitchFamily="34" charset="-122"/>
                <a:cs typeface="Calibri" pitchFamily="34" charset="-120"/>
              </a:rPr>
              <a:t>One cent, when the highest cash is 1,000 and the cash share is 0.25. The tie line is 0.0000000001. The cent is larger, so it still sorts. The tie line catches floating-point dust.</a:t>
            </a:r>
            <a:endParaRPr lang="en-US" sz="1500" dirty="0"/>
          </a:p>
        </p:txBody>
      </p:sp>
      <p:sp>
        <p:nvSpPr>
          <p:cNvPr id="7" name="Shape 5"/>
          <p:cNvSpPr/>
          <p:nvPr/>
        </p:nvSpPr>
        <p:spPr>
          <a:xfrm>
            <a:off x="6309360" y="1143000"/>
            <a:ext cx="5394960" cy="2468880"/>
          </a:xfrm>
          <a:prstGeom prst="roundRect">
            <a:avLst>
              <a:gd name="adj" fmla="val 2963"/>
            </a:avLst>
          </a:prstGeom>
          <a:solidFill>
            <a:srgbClr val="FFFFFF"/>
          </a:solidFill>
          <a:ln/>
          <a:effectLst>
            <a:outerShdw sx="100000" sy="100000" kx="0" ky="0" algn="bl" rotWithShape="0" blurRad="152400" dist="38100" dir="5400000">
              <a:srgbClr val="0F1C2E">
                <a:alpha val="10000"/>
              </a:srgbClr>
            </a:outerShdw>
          </a:effectLst>
        </p:spPr>
      </p:sp>
      <p:sp>
        <p:nvSpPr>
          <p:cNvPr id="8" name="Text 6"/>
          <p:cNvSpPr/>
          <p:nvPr/>
        </p:nvSpPr>
        <p:spPr>
          <a:xfrm>
            <a:off x="6537960" y="1353312"/>
            <a:ext cx="4937760" cy="320040"/>
          </a:xfrm>
          <a:prstGeom prst="rect">
            <a:avLst/>
          </a:prstGeom>
          <a:noFill/>
          <a:ln/>
        </p:spPr>
        <p:txBody>
          <a:bodyPr wrap="square" lIns="0" tIns="0" rIns="0" bIns="0" rtlCol="0" anchor="t"/>
          <a:lstStyle/>
          <a:p>
            <a:pPr algn="l" indent="0" marL="0">
              <a:buNone/>
            </a:pPr>
            <a:r>
              <a:rPr lang="en-US" sz="1600" b="1" dirty="0">
                <a:solidFill>
                  <a:srgbClr val="0F1C2E"/>
                </a:solidFill>
                <a:latin typeface="Calibri" pitchFamily="34" charset="0"/>
                <a:ea typeface="Calibri" pitchFamily="34" charset="-122"/>
                <a:cs typeface="Calibri" pitchFamily="34" charset="-120"/>
              </a:rPr>
              <a:t>Gift, restated</a:t>
            </a:r>
            <a:endParaRPr lang="en-US" sz="1600" dirty="0"/>
          </a:p>
        </p:txBody>
      </p:sp>
      <p:sp>
        <p:nvSpPr>
          <p:cNvPr id="9" name="Text 7"/>
          <p:cNvSpPr/>
          <p:nvPr/>
        </p:nvSpPr>
        <p:spPr>
          <a:xfrm>
            <a:off x="6537960" y="1828800"/>
            <a:ext cx="4937760" cy="1463040"/>
          </a:xfrm>
          <a:prstGeom prst="rect">
            <a:avLst/>
          </a:prstGeom>
          <a:noFill/>
          <a:ln/>
        </p:spPr>
        <p:txBody>
          <a:bodyPr wrap="square" lIns="0" tIns="0" rIns="0" bIns="0" rtlCol="0" anchor="t"/>
          <a:lstStyle/>
          <a:p>
            <a:pPr algn="l" indent="0" marL="0">
              <a:buNone/>
            </a:pPr>
            <a:r>
              <a:rPr lang="en-US" sz="1500" dirty="0">
                <a:solidFill>
                  <a:srgbClr val="14202C"/>
                </a:solidFill>
                <a:latin typeface="Calibri" pitchFamily="34" charset="0"/>
                <a:ea typeface="Calibri" pitchFamily="34" charset="-122"/>
                <a:cs typeface="Calibri" pitchFamily="34" charset="-120"/>
              </a:rPr>
              <a:t>A gift is not money. It may change which row is offered. It does not reduce the charge. Half is the published rule: line 400, merchandise 320, cash 350, score cost 300.</a:t>
            </a:r>
            <a:endParaRPr lang="en-US" sz="1500" dirty="0"/>
          </a:p>
        </p:txBody>
      </p:sp>
      <p:sp>
        <p:nvSpPr>
          <p:cNvPr id="10" name="Shape 8"/>
          <p:cNvSpPr/>
          <p:nvPr/>
        </p:nvSpPr>
        <p:spPr>
          <a:xfrm>
            <a:off x="457200" y="3794760"/>
            <a:ext cx="3657600" cy="2331720"/>
          </a:xfrm>
          <a:prstGeom prst="roundRect">
            <a:avLst>
              <a:gd name="adj" fmla="val 3137"/>
            </a:avLst>
          </a:prstGeom>
          <a:solidFill>
            <a:srgbClr val="EEF2F5"/>
          </a:solidFill>
          <a:ln/>
          <a:effectLst>
            <a:outerShdw sx="100000" sy="100000" kx="0" ky="0" algn="bl" rotWithShape="0" blurRad="152400" dist="38100" dir="5400000">
              <a:srgbClr val="0F1C2E">
                <a:alpha val="10000"/>
              </a:srgbClr>
            </a:outerShdw>
          </a:effectLst>
        </p:spPr>
      </p:sp>
      <p:sp>
        <p:nvSpPr>
          <p:cNvPr id="11" name="Text 9"/>
          <p:cNvSpPr/>
          <p:nvPr/>
        </p:nvSpPr>
        <p:spPr>
          <a:xfrm>
            <a:off x="621792" y="3950208"/>
            <a:ext cx="3328416" cy="502920"/>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Weighted sum</a:t>
            </a:r>
            <a:endParaRPr lang="en-US" sz="1500" dirty="0"/>
          </a:p>
        </p:txBody>
      </p:sp>
      <p:sp>
        <p:nvSpPr>
          <p:cNvPr id="12" name="Text 10"/>
          <p:cNvSpPr/>
          <p:nvPr/>
        </p:nvSpPr>
        <p:spPr>
          <a:xfrm>
            <a:off x="621792" y="4526280"/>
            <a:ext cx="3328416" cy="137160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Normalise each fact from 0 to 1, multiply by its share, add. A cost is flipped first. Hwang and Yoon, 1981. Triantaphyllou, 2000.</a:t>
            </a:r>
            <a:endParaRPr lang="en-US" sz="1300" dirty="0"/>
          </a:p>
        </p:txBody>
      </p:sp>
      <p:sp>
        <p:nvSpPr>
          <p:cNvPr id="13" name="Shape 11"/>
          <p:cNvSpPr/>
          <p:nvPr/>
        </p:nvSpPr>
        <p:spPr>
          <a:xfrm>
            <a:off x="4297680" y="3794760"/>
            <a:ext cx="3657600" cy="2331720"/>
          </a:xfrm>
          <a:prstGeom prst="roundRect">
            <a:avLst>
              <a:gd name="adj" fmla="val 3137"/>
            </a:avLst>
          </a:prstGeom>
          <a:solidFill>
            <a:srgbClr val="EEF2F5"/>
          </a:solidFill>
          <a:ln/>
          <a:effectLst>
            <a:outerShdw sx="100000" sy="100000" kx="0" ky="0" algn="bl" rotWithShape="0" blurRad="152400" dist="38100" dir="5400000">
              <a:srgbClr val="0F1C2E">
                <a:alpha val="10000"/>
              </a:srgbClr>
            </a:outerShdw>
          </a:effectLst>
        </p:spPr>
      </p:sp>
      <p:sp>
        <p:nvSpPr>
          <p:cNvPr id="14" name="Text 12"/>
          <p:cNvSpPr/>
          <p:nvPr/>
        </p:nvSpPr>
        <p:spPr>
          <a:xfrm>
            <a:off x="4462272" y="3950208"/>
            <a:ext cx="3328416" cy="502920"/>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Constraint vs criterion</a:t>
            </a:r>
            <a:endParaRPr lang="en-US" sz="1500" dirty="0"/>
          </a:p>
        </p:txBody>
      </p:sp>
      <p:sp>
        <p:nvSpPr>
          <p:cNvPr id="15" name="Text 13"/>
          <p:cNvSpPr/>
          <p:nvPr/>
        </p:nvSpPr>
        <p:spPr>
          <a:xfrm>
            <a:off x="4462272" y="4526280"/>
            <a:ext cx="3328416" cy="137160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Filters remove rows. The score grades whoever remains. Belton and Stewart, 2002.</a:t>
            </a:r>
            <a:endParaRPr lang="en-US" sz="1300" dirty="0"/>
          </a:p>
        </p:txBody>
      </p:sp>
      <p:sp>
        <p:nvSpPr>
          <p:cNvPr id="16" name="Shape 14"/>
          <p:cNvSpPr/>
          <p:nvPr/>
        </p:nvSpPr>
        <p:spPr>
          <a:xfrm>
            <a:off x="8138160" y="3794760"/>
            <a:ext cx="3657600" cy="2331720"/>
          </a:xfrm>
          <a:prstGeom prst="roundRect">
            <a:avLst>
              <a:gd name="adj" fmla="val 3137"/>
            </a:avLst>
          </a:prstGeom>
          <a:solidFill>
            <a:srgbClr val="EEF2F5"/>
          </a:solidFill>
          <a:ln/>
          <a:effectLst>
            <a:outerShdw sx="100000" sy="100000" kx="0" ky="0" algn="bl" rotWithShape="0" blurRad="152400" dist="38100" dir="5400000">
              <a:srgbClr val="0F1C2E">
                <a:alpha val="10000"/>
              </a:srgbClr>
            </a:outerShdw>
          </a:effectLst>
        </p:spPr>
      </p:sp>
      <p:sp>
        <p:nvSpPr>
          <p:cNvPr id="17" name="Text 15"/>
          <p:cNvSpPr/>
          <p:nvPr/>
        </p:nvSpPr>
        <p:spPr>
          <a:xfrm>
            <a:off x="8302752" y="3950208"/>
            <a:ext cx="3328416" cy="502920"/>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Shares that add to 1</a:t>
            </a:r>
            <a:endParaRPr lang="en-US" sz="1500" dirty="0"/>
          </a:p>
        </p:txBody>
      </p:sp>
      <p:sp>
        <p:nvSpPr>
          <p:cNvPr id="18" name="Text 16"/>
          <p:cNvSpPr/>
          <p:nvPr/>
        </p:nvSpPr>
        <p:spPr>
          <a:xfrm>
            <a:off x="8302752" y="4526280"/>
            <a:ext cx="3328416" cy="137160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A value tradeoff the person declares, not a coefficient from data. Keeney and Raiffa, 1976. No sales sample estimated 0.35 or 0.25.</a:t>
            </a:r>
            <a:endParaRPr lang="en-US" sz="1300" dirty="0"/>
          </a:p>
        </p:txBody>
      </p:sp>
      <p:sp>
        <p:nvSpPr>
          <p:cNvPr id="20" name="Text 17"/>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21" name="Text 18"/>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WHAT THE PERSON CAN SET</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The form is the standing instruction</a:t>
            </a:r>
            <a:endParaRPr lang="en-US" sz="3200" dirty="0"/>
          </a:p>
        </p:txBody>
      </p:sp>
      <p:sp>
        <p:nvSpPr>
          <p:cNvPr id="4" name="Shape 2"/>
          <p:cNvSpPr/>
          <p:nvPr/>
        </p:nvSpPr>
        <p:spPr>
          <a:xfrm>
            <a:off x="365760" y="111556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530352" y="124358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Confirm</a:t>
            </a:r>
            <a:endParaRPr lang="en-US" sz="1500" dirty="0"/>
          </a:p>
        </p:txBody>
      </p:sp>
      <p:sp>
        <p:nvSpPr>
          <p:cNvPr id="6" name="Text 4"/>
          <p:cNvSpPr/>
          <p:nvPr/>
        </p:nvSpPr>
        <p:spPr>
          <a:xfrm>
            <a:off x="530352" y="159105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Manual, or auto when one offer is strictly first.</a:t>
            </a:r>
            <a:endParaRPr lang="en-US" sz="1300" dirty="0"/>
          </a:p>
        </p:txBody>
      </p:sp>
      <p:sp>
        <p:nvSpPr>
          <p:cNvPr id="7" name="Shape 5"/>
          <p:cNvSpPr/>
          <p:nvPr/>
        </p:nvSpPr>
        <p:spPr>
          <a:xfrm>
            <a:off x="4279392" y="111556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8" name="Text 6"/>
          <p:cNvSpPr/>
          <p:nvPr/>
        </p:nvSpPr>
        <p:spPr>
          <a:xfrm>
            <a:off x="4443984" y="124358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Expiry</a:t>
            </a:r>
            <a:endParaRPr lang="en-US" sz="1500" dirty="0"/>
          </a:p>
        </p:txBody>
      </p:sp>
      <p:sp>
        <p:nvSpPr>
          <p:cNvPr id="9" name="Text 7"/>
          <p:cNvSpPr/>
          <p:nvPr/>
        </p:nvSpPr>
        <p:spPr>
          <a:xfrm>
            <a:off x="4443984" y="159105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No expiry, or a time. A past time stops before search.</a:t>
            </a:r>
            <a:endParaRPr lang="en-US" sz="1300" dirty="0"/>
          </a:p>
        </p:txBody>
      </p:sp>
      <p:sp>
        <p:nvSpPr>
          <p:cNvPr id="10" name="Shape 8"/>
          <p:cNvSpPr/>
          <p:nvPr/>
        </p:nvSpPr>
        <p:spPr>
          <a:xfrm>
            <a:off x="8193024" y="111556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11" name="Text 9"/>
          <p:cNvSpPr/>
          <p:nvPr/>
        </p:nvSpPr>
        <p:spPr>
          <a:xfrm>
            <a:off x="8357616" y="124358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Sellers</a:t>
            </a:r>
            <a:endParaRPr lang="en-US" sz="1500" dirty="0"/>
          </a:p>
        </p:txBody>
      </p:sp>
      <p:sp>
        <p:nvSpPr>
          <p:cNvPr id="12" name="Text 10"/>
          <p:cNvSpPr/>
          <p:nvPr/>
        </p:nvSpPr>
        <p:spPr>
          <a:xfrm>
            <a:off x="8357616" y="159105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Allow list and deny list. Empty allow means everyone except deny.</a:t>
            </a:r>
            <a:endParaRPr lang="en-US" sz="1300" dirty="0"/>
          </a:p>
        </p:txBody>
      </p:sp>
      <p:sp>
        <p:nvSpPr>
          <p:cNvPr id="13" name="Shape 11"/>
          <p:cNvSpPr/>
          <p:nvPr/>
        </p:nvSpPr>
        <p:spPr>
          <a:xfrm>
            <a:off x="365760" y="239572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14" name="Text 12"/>
          <p:cNvSpPr/>
          <p:nvPr/>
        </p:nvSpPr>
        <p:spPr>
          <a:xfrm>
            <a:off x="530352" y="252374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Categories</a:t>
            </a:r>
            <a:endParaRPr lang="en-US" sz="1500" dirty="0"/>
          </a:p>
        </p:txBody>
      </p:sp>
      <p:sp>
        <p:nvSpPr>
          <p:cNvPr id="15" name="Text 13"/>
          <p:cNvSpPr/>
          <p:nvPr/>
        </p:nvSpPr>
        <p:spPr>
          <a:xfrm>
            <a:off x="530352" y="287121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Allow and deny, from the closed snack and balloon tree.</a:t>
            </a:r>
            <a:endParaRPr lang="en-US" sz="1300" dirty="0"/>
          </a:p>
        </p:txBody>
      </p:sp>
      <p:sp>
        <p:nvSpPr>
          <p:cNvPr id="16" name="Shape 14"/>
          <p:cNvSpPr/>
          <p:nvPr/>
        </p:nvSpPr>
        <p:spPr>
          <a:xfrm>
            <a:off x="4279392" y="239572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17" name="Text 15"/>
          <p:cNvSpPr/>
          <p:nvPr/>
        </p:nvSpPr>
        <p:spPr>
          <a:xfrm>
            <a:off x="4443984" y="252374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Per item</a:t>
            </a:r>
            <a:endParaRPr lang="en-US" sz="1500" dirty="0"/>
          </a:p>
        </p:txBody>
      </p:sp>
      <p:sp>
        <p:nvSpPr>
          <p:cNvPr id="18" name="Text 16"/>
          <p:cNvSpPr/>
          <p:nvPr/>
        </p:nvSpPr>
        <p:spPr>
          <a:xfrm>
            <a:off x="4443984" y="287121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Default 250, on the pre-coupon line.</a:t>
            </a:r>
            <a:endParaRPr lang="en-US" sz="1300" dirty="0"/>
          </a:p>
        </p:txBody>
      </p:sp>
      <p:sp>
        <p:nvSpPr>
          <p:cNvPr id="19" name="Shape 17"/>
          <p:cNvSpPr/>
          <p:nvPr/>
        </p:nvSpPr>
        <p:spPr>
          <a:xfrm>
            <a:off x="8193024" y="239572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20" name="Text 18"/>
          <p:cNvSpPr/>
          <p:nvPr/>
        </p:nvSpPr>
        <p:spPr>
          <a:xfrm>
            <a:off x="8357616" y="252374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Per order</a:t>
            </a:r>
            <a:endParaRPr lang="en-US" sz="1500" dirty="0"/>
          </a:p>
        </p:txBody>
      </p:sp>
      <p:sp>
        <p:nvSpPr>
          <p:cNvPr id="21" name="Text 19"/>
          <p:cNvSpPr/>
          <p:nvPr/>
        </p:nvSpPr>
        <p:spPr>
          <a:xfrm>
            <a:off x="8357616" y="287121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Default 400, on cash.</a:t>
            </a:r>
            <a:endParaRPr lang="en-US" sz="1300" dirty="0"/>
          </a:p>
        </p:txBody>
      </p:sp>
      <p:sp>
        <p:nvSpPr>
          <p:cNvPr id="22" name="Shape 20"/>
          <p:cNvSpPr/>
          <p:nvPr/>
        </p:nvSpPr>
        <p:spPr>
          <a:xfrm>
            <a:off x="365760" y="367588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23" name="Text 21"/>
          <p:cNvSpPr/>
          <p:nvPr/>
        </p:nvSpPr>
        <p:spPr>
          <a:xfrm>
            <a:off x="530352" y="380390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The week</a:t>
            </a:r>
            <a:endParaRPr lang="en-US" sz="1500" dirty="0"/>
          </a:p>
        </p:txBody>
      </p:sp>
      <p:sp>
        <p:nvSpPr>
          <p:cNvPr id="24" name="Text 22"/>
          <p:cNvSpPr/>
          <p:nvPr/>
        </p:nvSpPr>
        <p:spPr>
          <a:xfrm>
            <a:off x="530352" y="415137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Default 1,000 across 168 hours.</a:t>
            </a:r>
            <a:endParaRPr lang="en-US" sz="1300" dirty="0"/>
          </a:p>
        </p:txBody>
      </p:sp>
      <p:sp>
        <p:nvSpPr>
          <p:cNvPr id="25" name="Shape 23"/>
          <p:cNvSpPr/>
          <p:nvPr/>
        </p:nvSpPr>
        <p:spPr>
          <a:xfrm>
            <a:off x="4279392" y="367588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26" name="Text 24"/>
          <p:cNvSpPr/>
          <p:nvPr/>
        </p:nvSpPr>
        <p:spPr>
          <a:xfrm>
            <a:off x="4443984" y="380390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Tenders</a:t>
            </a:r>
            <a:endParaRPr lang="en-US" sz="1500" dirty="0"/>
          </a:p>
        </p:txBody>
      </p:sp>
      <p:sp>
        <p:nvSpPr>
          <p:cNvPr id="27" name="Text 25"/>
          <p:cNvSpPr/>
          <p:nvPr/>
        </p:nvSpPr>
        <p:spPr>
          <a:xfrm>
            <a:off x="4443984" y="415137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card, hsbc-visa, citi-mastercard, wallet. Default is card.</a:t>
            </a:r>
            <a:endParaRPr lang="en-US" sz="1300" dirty="0"/>
          </a:p>
        </p:txBody>
      </p:sp>
      <p:sp>
        <p:nvSpPr>
          <p:cNvPr id="28" name="Shape 26"/>
          <p:cNvSpPr/>
          <p:nvPr/>
        </p:nvSpPr>
        <p:spPr>
          <a:xfrm>
            <a:off x="8193024" y="367588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29" name="Text 27"/>
          <p:cNvSpPr/>
          <p:nvPr/>
        </p:nvSpPr>
        <p:spPr>
          <a:xfrm>
            <a:off x="8357616" y="380390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One seller</a:t>
            </a:r>
            <a:endParaRPr lang="en-US" sz="1500" dirty="0"/>
          </a:p>
        </p:txBody>
      </p:sp>
      <p:sp>
        <p:nvSpPr>
          <p:cNvPr id="30" name="Text 28"/>
          <p:cNvSpPr/>
          <p:nvPr/>
        </p:nvSpPr>
        <p:spPr>
          <a:xfrm>
            <a:off x="8357616" y="415137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On. One order does not mix merchant ids.</a:t>
            </a:r>
            <a:endParaRPr lang="en-US" sz="1300" dirty="0"/>
          </a:p>
        </p:txBody>
      </p:sp>
      <p:sp>
        <p:nvSpPr>
          <p:cNvPr id="31" name="Shape 29"/>
          <p:cNvSpPr/>
          <p:nvPr/>
        </p:nvSpPr>
        <p:spPr>
          <a:xfrm>
            <a:off x="365760" y="495604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32" name="Text 30"/>
          <p:cNvSpPr/>
          <p:nvPr/>
        </p:nvSpPr>
        <p:spPr>
          <a:xfrm>
            <a:off x="530352" y="508406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Search clock</a:t>
            </a:r>
            <a:endParaRPr lang="en-US" sz="1500" dirty="0"/>
          </a:p>
        </p:txBody>
      </p:sp>
      <p:sp>
        <p:nvSpPr>
          <p:cNvPr id="33" name="Text 31"/>
          <p:cNvSpPr/>
          <p:nvPr/>
        </p:nvSpPr>
        <p:spPr>
          <a:xfrm>
            <a:off x="530352" y="543153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15 seconds, or a shorter cap on the form.</a:t>
            </a:r>
            <a:endParaRPr lang="en-US" sz="1300" dirty="0"/>
          </a:p>
        </p:txBody>
      </p:sp>
      <p:sp>
        <p:nvSpPr>
          <p:cNvPr id="34" name="Shape 32"/>
          <p:cNvSpPr/>
          <p:nvPr/>
        </p:nvSpPr>
        <p:spPr>
          <a:xfrm>
            <a:off x="4279392" y="495604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35" name="Text 33"/>
          <p:cNvSpPr/>
          <p:nvPr/>
        </p:nvSpPr>
        <p:spPr>
          <a:xfrm>
            <a:off x="4443984" y="508406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Objective</a:t>
            </a:r>
            <a:endParaRPr lang="en-US" sz="1500" dirty="0"/>
          </a:p>
        </p:txBody>
      </p:sp>
      <p:sp>
        <p:nvSpPr>
          <p:cNvPr id="36" name="Text 34"/>
          <p:cNvSpPr/>
          <p:nvPr/>
        </p:nvSpPr>
        <p:spPr>
          <a:xfrm>
            <a:off x="4443984" y="543153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Balanced, or lowest cash. This picks the five shares.</a:t>
            </a:r>
            <a:endParaRPr lang="en-US" sz="1300" dirty="0"/>
          </a:p>
        </p:txBody>
      </p:sp>
      <p:sp>
        <p:nvSpPr>
          <p:cNvPr id="37" name="Shape 35"/>
          <p:cNvSpPr/>
          <p:nvPr/>
        </p:nvSpPr>
        <p:spPr>
          <a:xfrm>
            <a:off x="8193024" y="4956048"/>
            <a:ext cx="3749040" cy="1152144"/>
          </a:xfrm>
          <a:prstGeom prst="roundRect">
            <a:avLst>
              <a:gd name="adj" fmla="val 6349"/>
            </a:avLst>
          </a:prstGeom>
          <a:solidFill>
            <a:srgbClr val="FFFFFF"/>
          </a:solidFill>
          <a:ln/>
          <a:effectLst>
            <a:outerShdw sx="100000" sy="100000" kx="0" ky="0" algn="bl" rotWithShape="0" blurRad="152400" dist="38100" dir="5400000">
              <a:srgbClr val="0F1C2E">
                <a:alpha val="10000"/>
              </a:srgbClr>
            </a:outerShdw>
          </a:effectLst>
        </p:spPr>
      </p:sp>
      <p:sp>
        <p:nvSpPr>
          <p:cNvPr id="38" name="Text 36"/>
          <p:cNvSpPr/>
          <p:nvPr/>
        </p:nvSpPr>
        <p:spPr>
          <a:xfrm>
            <a:off x="8357616" y="5084064"/>
            <a:ext cx="3419856" cy="292608"/>
          </a:xfrm>
          <a:prstGeom prst="rect">
            <a:avLst/>
          </a:prstGeom>
          <a:noFill/>
          <a:ln/>
        </p:spPr>
        <p:txBody>
          <a:bodyPr wrap="square" lIns="0" tIns="0" rIns="0" bIns="0" rtlCol="0" anchor="t"/>
          <a:lstStyle/>
          <a:p>
            <a:pPr algn="l" indent="0" marL="0">
              <a:buNone/>
            </a:pPr>
            <a:r>
              <a:rPr lang="en-US" sz="1500" b="1" dirty="0">
                <a:solidFill>
                  <a:srgbClr val="0F1C2E"/>
                </a:solidFill>
                <a:latin typeface="Calibri" pitchFamily="34" charset="0"/>
                <a:ea typeface="Calibri" pitchFamily="34" charset="-122"/>
                <a:cs typeface="Calibri" pitchFamily="34" charset="-120"/>
              </a:rPr>
              <a:t>Rewards</a:t>
            </a:r>
            <a:endParaRPr lang="en-US" sz="1500" dirty="0"/>
          </a:p>
        </p:txBody>
      </p:sp>
      <p:sp>
        <p:nvSpPr>
          <p:cNvPr id="39" name="Text 37"/>
          <p:cNvSpPr/>
          <p:nvPr/>
        </p:nvSpPr>
        <p:spPr>
          <a:xfrm>
            <a:off x="8357616" y="5431536"/>
            <a:ext cx="3419856" cy="53035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On by default. Off makes the score cost equal cash.</a:t>
            </a:r>
            <a:endParaRPr lang="en-US" sz="1300" dirty="0"/>
          </a:p>
        </p:txBody>
      </p:sp>
      <p:sp>
        <p:nvSpPr>
          <p:cNvPr id="41" name="Text 38"/>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42" name="Text 39"/>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WHAT A SENTENCE MAY CHANGE</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The request is editable. The form is not.</a:t>
            </a:r>
            <a:endParaRPr lang="en-US" sz="3200" dirty="0"/>
          </a:p>
        </p:txBody>
      </p:sp>
      <p:sp>
        <p:nvSpPr>
          <p:cNvPr id="4" name="Shape 2"/>
          <p:cNvSpPr/>
          <p:nvPr/>
        </p:nvSpPr>
        <p:spPr>
          <a:xfrm>
            <a:off x="411480" y="1143000"/>
            <a:ext cx="5669280" cy="4983480"/>
          </a:xfrm>
          <a:prstGeom prst="roundRect">
            <a:avLst>
              <a:gd name="adj" fmla="val 1468"/>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640080" y="1353312"/>
            <a:ext cx="5212080" cy="365760"/>
          </a:xfrm>
          <a:prstGeom prst="rect">
            <a:avLst/>
          </a:prstGeom>
          <a:noFill/>
          <a:ln/>
        </p:spPr>
        <p:txBody>
          <a:bodyPr wrap="square" lIns="0" tIns="0" rIns="0" bIns="0" rtlCol="0" anchor="t"/>
          <a:lstStyle/>
          <a:p>
            <a:pPr algn="l" indent="0" marL="0">
              <a:buNone/>
            </a:pPr>
            <a:r>
              <a:rPr lang="en-US" sz="2200" b="1" dirty="0">
                <a:solidFill>
                  <a:srgbClr val="1E6B45"/>
                </a:solidFill>
                <a:latin typeface="Cambria" pitchFamily="34" charset="0"/>
                <a:ea typeface="Cambria" pitchFamily="34" charset="-122"/>
                <a:cs typeface="Cambria" pitchFamily="34" charset="-120"/>
              </a:rPr>
              <a:t>The person can set</a:t>
            </a:r>
            <a:endParaRPr lang="en-US" sz="2200" dirty="0"/>
          </a:p>
        </p:txBody>
      </p:sp>
      <p:sp>
        <p:nvSpPr>
          <p:cNvPr id="6" name="Text 4"/>
          <p:cNvSpPr/>
          <p:nvPr/>
        </p:nvSpPr>
        <p:spPr>
          <a:xfrm>
            <a:off x="685800" y="1920240"/>
            <a:ext cx="5120640" cy="62179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goal, such as balloons. “Party items” becomes an editable list. Quantities stay blank until they are set.</a:t>
            </a:r>
            <a:endParaRPr lang="en-US" sz="1300" dirty="0"/>
          </a:p>
        </p:txBody>
      </p:sp>
      <p:sp>
        <p:nvSpPr>
          <p:cNvPr id="7" name="Text 5"/>
          <p:cNvSpPr/>
          <p:nvPr/>
        </p:nvSpPr>
        <p:spPr>
          <a:xfrm>
            <a:off x="685800" y="2578608"/>
            <a:ext cx="5120640" cy="62179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Brand, appearance, and a budget hint.</a:t>
            </a:r>
            <a:endParaRPr lang="en-US" sz="1300" dirty="0"/>
          </a:p>
        </p:txBody>
      </p:sp>
      <p:sp>
        <p:nvSpPr>
          <p:cNvPr id="8" name="Text 6"/>
          <p:cNvSpPr/>
          <p:nvPr/>
        </p:nvSpPr>
        <p:spPr>
          <a:xfrm>
            <a:off x="685800" y="3236976"/>
            <a:ext cx="5120640" cy="62179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Each goal’s share of the request. Unassigned money stays reserved. A goal cannot borrow.</a:t>
            </a:r>
            <a:endParaRPr lang="en-US" sz="1300" dirty="0"/>
          </a:p>
        </p:txBody>
      </p:sp>
      <p:sp>
        <p:nvSpPr>
          <p:cNvPr id="9" name="Text 7"/>
          <p:cNvSpPr/>
          <p:nvPr/>
        </p:nvSpPr>
        <p:spPr>
          <a:xfrm>
            <a:off x="685800" y="3895344"/>
            <a:ext cx="5120640" cy="62179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Which offer, when two scores tie, or when a new quote replaces a yes.</a:t>
            </a:r>
            <a:endParaRPr lang="en-US" sz="1300" dirty="0"/>
          </a:p>
        </p:txBody>
      </p:sp>
      <p:sp>
        <p:nvSpPr>
          <p:cNvPr id="10" name="Text 8"/>
          <p:cNvSpPr/>
          <p:nvPr/>
        </p:nvSpPr>
        <p:spPr>
          <a:xfrm>
            <a:off x="685800" y="4553712"/>
            <a:ext cx="5120640" cy="62179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Whether a repeat inside 72 hours was intentional.</a:t>
            </a:r>
            <a:endParaRPr lang="en-US" sz="1300" dirty="0"/>
          </a:p>
        </p:txBody>
      </p:sp>
      <p:sp>
        <p:nvSpPr>
          <p:cNvPr id="11" name="Text 9"/>
          <p:cNvSpPr/>
          <p:nvPr/>
        </p:nvSpPr>
        <p:spPr>
          <a:xfrm>
            <a:off x="685800" y="5212080"/>
            <a:ext cx="5120640" cy="621792"/>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five shares, by editing the objective, or by a deliberate vector on this attempt.</a:t>
            </a:r>
            <a:endParaRPr lang="en-US" sz="1300" dirty="0"/>
          </a:p>
        </p:txBody>
      </p:sp>
      <p:sp>
        <p:nvSpPr>
          <p:cNvPr id="12" name="Shape 10"/>
          <p:cNvSpPr/>
          <p:nvPr/>
        </p:nvSpPr>
        <p:spPr>
          <a:xfrm>
            <a:off x="6263640" y="1143000"/>
            <a:ext cx="5440680" cy="4983480"/>
          </a:xfrm>
          <a:prstGeom prst="roundRect">
            <a:avLst>
              <a:gd name="adj" fmla="val 1468"/>
            </a:avLst>
          </a:prstGeom>
          <a:solidFill>
            <a:srgbClr val="0F1C2E"/>
          </a:solidFill>
          <a:ln/>
          <a:effectLst>
            <a:outerShdw sx="100000" sy="100000" kx="0" ky="0" algn="bl" rotWithShape="0" blurRad="152400" dist="38100" dir="5400000">
              <a:srgbClr val="0F1C2E">
                <a:alpha val="10000"/>
              </a:srgbClr>
            </a:outerShdw>
          </a:effectLst>
        </p:spPr>
      </p:sp>
      <p:sp>
        <p:nvSpPr>
          <p:cNvPr id="13" name="Text 11"/>
          <p:cNvSpPr/>
          <p:nvPr/>
        </p:nvSpPr>
        <p:spPr>
          <a:xfrm>
            <a:off x="6492240" y="1353312"/>
            <a:ext cx="4983480" cy="365760"/>
          </a:xfrm>
          <a:prstGeom prst="rect">
            <a:avLst/>
          </a:prstGeom>
          <a:noFill/>
          <a:ln/>
        </p:spPr>
        <p:txBody>
          <a:bodyPr wrap="square" lIns="0" tIns="0" rIns="0" bIns="0" rtlCol="0" anchor="t"/>
          <a:lstStyle/>
          <a:p>
            <a:pPr algn="l" indent="0" marL="0">
              <a:buNone/>
            </a:pPr>
            <a:r>
              <a:rPr lang="en-US" sz="2200" b="1" dirty="0">
                <a:solidFill>
                  <a:srgbClr val="F3D48A"/>
                </a:solidFill>
                <a:latin typeface="Cambria" pitchFamily="34" charset="0"/>
                <a:ea typeface="Cambria" pitchFamily="34" charset="-122"/>
                <a:cs typeface="Cambria" pitchFamily="34" charset="-120"/>
              </a:rPr>
              <a:t>The sentence cannot</a:t>
            </a:r>
            <a:endParaRPr lang="en-US" sz="2200" dirty="0"/>
          </a:p>
        </p:txBody>
      </p:sp>
      <p:sp>
        <p:nvSpPr>
          <p:cNvPr id="14" name="Text 12"/>
          <p:cNvSpPr/>
          <p:nvPr/>
        </p:nvSpPr>
        <p:spPr>
          <a:xfrm>
            <a:off x="6537960" y="1920240"/>
            <a:ext cx="4937760" cy="621792"/>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Raise a limit, add a seller, or switch confirm mode.</a:t>
            </a:r>
            <a:endParaRPr lang="en-US" sz="1400" dirty="0"/>
          </a:p>
        </p:txBody>
      </p:sp>
      <p:sp>
        <p:nvSpPr>
          <p:cNvPr id="15" name="Text 13"/>
          <p:cNvSpPr/>
          <p:nvPr/>
        </p:nvSpPr>
        <p:spPr>
          <a:xfrm>
            <a:off x="6537960" y="2578608"/>
            <a:ext cx="4937760" cy="621792"/>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Turn “cheapest” into the lowest-cash vector while the form is balanced.</a:t>
            </a:r>
            <a:endParaRPr lang="en-US" sz="1400" dirty="0"/>
          </a:p>
        </p:txBody>
      </p:sp>
      <p:sp>
        <p:nvSpPr>
          <p:cNvPr id="16" name="Text 14"/>
          <p:cNvSpPr/>
          <p:nvPr/>
        </p:nvSpPr>
        <p:spPr>
          <a:xfrm>
            <a:off x="6537960" y="3236976"/>
            <a:ext cx="4937760" cy="621792"/>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Invent a guest count, or search before the shares are assigned.</a:t>
            </a:r>
            <a:endParaRPr lang="en-US" sz="1400" dirty="0"/>
          </a:p>
        </p:txBody>
      </p:sp>
      <p:sp>
        <p:nvSpPr>
          <p:cNvPr id="17" name="Text 15"/>
          <p:cNvSpPr/>
          <p:nvPr/>
        </p:nvSpPr>
        <p:spPr>
          <a:xfrm>
            <a:off x="6537960" y="3895344"/>
            <a:ext cx="4937760" cy="621792"/>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Omit shipping, or treat a gift as a smaller charge.</a:t>
            </a:r>
            <a:endParaRPr lang="en-US" sz="1400" dirty="0"/>
          </a:p>
        </p:txBody>
      </p:sp>
      <p:sp>
        <p:nvSpPr>
          <p:cNvPr id="18" name="Text 16"/>
          <p:cNvSpPr/>
          <p:nvPr/>
        </p:nvSpPr>
        <p:spPr>
          <a:xfrm>
            <a:off x="6537960" y="4553712"/>
            <a:ext cx="4937760" cy="621792"/>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Tell the payer to run before the slips match.</a:t>
            </a:r>
            <a:endParaRPr lang="en-US" sz="1400" dirty="0"/>
          </a:p>
        </p:txBody>
      </p:sp>
      <p:sp>
        <p:nvSpPr>
          <p:cNvPr id="19" name="Text 17"/>
          <p:cNvSpPr/>
          <p:nvPr/>
        </p:nvSpPr>
        <p:spPr>
          <a:xfrm>
            <a:off x="6537960" y="5212080"/>
            <a:ext cx="4937760" cy="621792"/>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Become the booking. Code sets the money, the tender, and the key.</a:t>
            </a:r>
            <a:endParaRPr lang="en-US" sz="1400" dirty="0"/>
          </a:p>
        </p:txBody>
      </p:sp>
      <p:sp>
        <p:nvSpPr>
          <p:cNvPr id="21" name="Text 18"/>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22" name="Text 19"/>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THE CARD RULE, STATED ONCE</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A discount belongs to one tender</a:t>
            </a:r>
            <a:endParaRPr lang="en-US" sz="3200" dirty="0"/>
          </a:p>
        </p:txBody>
      </p:sp>
      <p:sp>
        <p:nvSpPr>
          <p:cNvPr id="4" name="Shape 2"/>
          <p:cNvSpPr/>
          <p:nvPr/>
        </p:nvSpPr>
        <p:spPr>
          <a:xfrm>
            <a:off x="365760" y="1170432"/>
            <a:ext cx="374904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566928" y="1399032"/>
            <a:ext cx="3337560" cy="64008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One rule, one name</a:t>
            </a:r>
            <a:endParaRPr lang="en-US" sz="2000" dirty="0"/>
          </a:p>
        </p:txBody>
      </p:sp>
      <p:sp>
        <p:nvSpPr>
          <p:cNvPr id="6" name="Text 4"/>
          <p:cNvSpPr/>
          <p:nvPr/>
        </p:nvSpPr>
        <p:spPr>
          <a:xfrm>
            <a:off x="566928" y="2176272"/>
            <a:ext cx="3337560" cy="10972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HSBC’s 40 does not also come off Citi. Two rules do not stack on one charge.</a:t>
            </a:r>
            <a:endParaRPr lang="en-US" sz="1400" dirty="0"/>
          </a:p>
        </p:txBody>
      </p:sp>
      <p:sp>
        <p:nvSpPr>
          <p:cNvPr id="7" name="Shape 5"/>
          <p:cNvSpPr/>
          <p:nvPr/>
        </p:nvSpPr>
        <p:spPr>
          <a:xfrm>
            <a:off x="4279392" y="1170432"/>
            <a:ext cx="374904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8" name="Text 6"/>
          <p:cNvSpPr/>
          <p:nvPr/>
        </p:nvSpPr>
        <p:spPr>
          <a:xfrm>
            <a:off x="4480560" y="1399032"/>
            <a:ext cx="3337560" cy="64008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Lowest cash is stored</a:t>
            </a:r>
            <a:endParaRPr lang="en-US" sz="2000" dirty="0"/>
          </a:p>
        </p:txBody>
      </p:sp>
      <p:sp>
        <p:nvSpPr>
          <p:cNvPr id="9" name="Text 7"/>
          <p:cNvSpPr/>
          <p:nvPr/>
        </p:nvSpPr>
        <p:spPr>
          <a:xfrm>
            <a:off x="4480560" y="2176272"/>
            <a:ext cx="3337560" cy="10972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260, 290, and 300. The quote keeps hsbc-visa and 260. Confirm sends that pair.</a:t>
            </a:r>
            <a:endParaRPr lang="en-US" sz="1400" dirty="0"/>
          </a:p>
        </p:txBody>
      </p:sp>
      <p:sp>
        <p:nvSpPr>
          <p:cNvPr id="10" name="Shape 8"/>
          <p:cNvSpPr/>
          <p:nvPr/>
        </p:nvSpPr>
        <p:spPr>
          <a:xfrm>
            <a:off x="8193024" y="1170432"/>
            <a:ext cx="374904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11" name="Text 9"/>
          <p:cNvSpPr/>
          <p:nvPr/>
        </p:nvSpPr>
        <p:spPr>
          <a:xfrm>
            <a:off x="8394192" y="1399032"/>
            <a:ext cx="3337560" cy="64008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Equal cash</a:t>
            </a:r>
            <a:endParaRPr lang="en-US" sz="2000" dirty="0"/>
          </a:p>
        </p:txBody>
      </p:sp>
      <p:sp>
        <p:nvSpPr>
          <p:cNvPr id="12" name="Text 10"/>
          <p:cNvSpPr/>
          <p:nvPr/>
        </p:nvSpPr>
        <p:spPr>
          <a:xfrm>
            <a:off x="8394192" y="2176272"/>
            <a:ext cx="3337560" cy="10972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The earlier name on the form wins. No extra score is invented to break a money tie.</a:t>
            </a:r>
            <a:endParaRPr lang="en-US" sz="1400" dirty="0"/>
          </a:p>
        </p:txBody>
      </p:sp>
      <p:sp>
        <p:nvSpPr>
          <p:cNvPr id="13" name="Shape 11"/>
          <p:cNvSpPr/>
          <p:nvPr/>
        </p:nvSpPr>
        <p:spPr>
          <a:xfrm>
            <a:off x="365760" y="3730752"/>
            <a:ext cx="374904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14" name="Text 12"/>
          <p:cNvSpPr/>
          <p:nvPr/>
        </p:nvSpPr>
        <p:spPr>
          <a:xfrm>
            <a:off x="566928" y="3959352"/>
            <a:ext cx="3337560" cy="64008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A decline reprices</a:t>
            </a:r>
            <a:endParaRPr lang="en-US" sz="2000" dirty="0"/>
          </a:p>
        </p:txBody>
      </p:sp>
      <p:sp>
        <p:nvSpPr>
          <p:cNvPr id="15" name="Text 13"/>
          <p:cNvSpPr/>
          <p:nvPr/>
        </p:nvSpPr>
        <p:spPr>
          <a:xfrm>
            <a:off x="566928" y="4736592"/>
            <a:ext cx="3337560" cy="10972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The next tender is priced with its own rule. If cash rises, the person is asked. The old cash is not booked on the new name.</a:t>
            </a:r>
            <a:endParaRPr lang="en-US" sz="1400" dirty="0"/>
          </a:p>
        </p:txBody>
      </p:sp>
      <p:sp>
        <p:nvSpPr>
          <p:cNvPr id="16" name="Shape 14"/>
          <p:cNvSpPr/>
          <p:nvPr/>
        </p:nvSpPr>
        <p:spPr>
          <a:xfrm>
            <a:off x="4279392" y="3730752"/>
            <a:ext cx="374904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17" name="Text 15"/>
          <p:cNvSpPr/>
          <p:nvPr/>
        </p:nvSpPr>
        <p:spPr>
          <a:xfrm>
            <a:off x="4480560" y="3959352"/>
            <a:ext cx="3337560" cy="64008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No discount, next tender</a:t>
            </a:r>
            <a:endParaRPr lang="en-US" sz="2000" dirty="0"/>
          </a:p>
        </p:txBody>
      </p:sp>
      <p:sp>
        <p:nvSpPr>
          <p:cNvPr id="18" name="Text 16"/>
          <p:cNvSpPr/>
          <p:nvPr/>
        </p:nvSpPr>
        <p:spPr>
          <a:xfrm>
            <a:off x="4480560" y="4736592"/>
            <a:ext cx="3337560" cy="10972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A plain card decline may book wallet at the same cash, on a different key, and only if wallet is later on the list.</a:t>
            </a:r>
            <a:endParaRPr lang="en-US" sz="1400" dirty="0"/>
          </a:p>
        </p:txBody>
      </p:sp>
      <p:sp>
        <p:nvSpPr>
          <p:cNvPr id="19" name="Shape 17"/>
          <p:cNvSpPr/>
          <p:nvPr/>
        </p:nvSpPr>
        <p:spPr>
          <a:xfrm>
            <a:off x="8193024" y="3730752"/>
            <a:ext cx="3749040" cy="2377440"/>
          </a:xfrm>
          <a:prstGeom prst="roundRect">
            <a:avLst>
              <a:gd name="adj" fmla="val 3077"/>
            </a:avLst>
          </a:prstGeom>
          <a:solidFill>
            <a:srgbClr val="FFFFFF"/>
          </a:solidFill>
          <a:ln/>
          <a:effectLst>
            <a:outerShdw sx="100000" sy="100000" kx="0" ky="0" algn="bl" rotWithShape="0" blurRad="152400" dist="38100" dir="5400000">
              <a:srgbClr val="0F1C2E">
                <a:alpha val="10000"/>
              </a:srgbClr>
            </a:outerShdw>
          </a:effectLst>
        </p:spPr>
      </p:sp>
      <p:sp>
        <p:nvSpPr>
          <p:cNvPr id="20" name="Text 18"/>
          <p:cNvSpPr/>
          <p:nvPr/>
        </p:nvSpPr>
        <p:spPr>
          <a:xfrm>
            <a:off x="8394192" y="3959352"/>
            <a:ext cx="3337560" cy="640080"/>
          </a:xfrm>
          <a:prstGeom prst="rect">
            <a:avLst/>
          </a:prstGeom>
          <a:noFill/>
          <a:ln/>
        </p:spPr>
        <p:txBody>
          <a:bodyPr wrap="square" lIns="0" tIns="0" rIns="0" bIns="0" rtlCol="0" anchor="t"/>
          <a:lstStyle/>
          <a:p>
            <a:pPr algn="l" indent="0" marL="0">
              <a:buNone/>
            </a:pPr>
            <a:r>
              <a:rPr lang="en-US" sz="2000" b="1" dirty="0">
                <a:solidFill>
                  <a:srgbClr val="0F1C2E"/>
                </a:solidFill>
                <a:latin typeface="Cambria" pitchFamily="34" charset="0"/>
                <a:ea typeface="Cambria" pitchFamily="34" charset="-122"/>
                <a:cs typeface="Cambria" pitchFamily="34" charset="-120"/>
              </a:rPr>
              <a:t>After a charge exists</a:t>
            </a:r>
            <a:endParaRPr lang="en-US" sz="2000" dirty="0"/>
          </a:p>
        </p:txBody>
      </p:sp>
      <p:sp>
        <p:nvSpPr>
          <p:cNvPr id="21" name="Text 19"/>
          <p:cNvSpPr/>
          <p:nvPr/>
        </p:nvSpPr>
        <p:spPr>
          <a:xfrm>
            <a:off x="8394192" y="4736592"/>
            <a:ext cx="3337560" cy="109728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A timeout retries that same key. It does not walk to the next card.</a:t>
            </a:r>
            <a:endParaRPr lang="en-US" sz="1400" dirty="0"/>
          </a:p>
        </p:txBody>
      </p:sp>
      <p:sp>
        <p:nvSpPr>
          <p:cNvPr id="23" name="Text 20"/>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24" name="Text 21"/>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THE DECISION LOG</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The same comparison, in three places</a:t>
            </a:r>
            <a:endParaRPr lang="en-US" sz="3200" dirty="0"/>
          </a:p>
        </p:txBody>
      </p:sp>
      <p:sp>
        <p:nvSpPr>
          <p:cNvPr id="4" name="Shape 2"/>
          <p:cNvSpPr/>
          <p:nvPr/>
        </p:nvSpPr>
        <p:spPr>
          <a:xfrm>
            <a:off x="411480" y="1143000"/>
            <a:ext cx="3703320" cy="2468880"/>
          </a:xfrm>
          <a:prstGeom prst="roundRect">
            <a:avLst>
              <a:gd name="adj" fmla="val 2963"/>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612648" y="1325880"/>
            <a:ext cx="3291840" cy="41148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On the offer</a:t>
            </a:r>
            <a:endParaRPr lang="en-US" sz="2200" dirty="0"/>
          </a:p>
        </p:txBody>
      </p:sp>
      <p:sp>
        <p:nvSpPr>
          <p:cNvPr id="6" name="Text 4"/>
          <p:cNvSpPr/>
          <p:nvPr/>
        </p:nvSpPr>
        <p:spPr>
          <a:xfrm>
            <a:off x="612648" y="1874520"/>
            <a:ext cx="3291840" cy="150876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The five shares, the six parts, the cash, the tender when a discount was used, and the score.</a:t>
            </a:r>
            <a:endParaRPr lang="en-US" sz="1400" dirty="0"/>
          </a:p>
        </p:txBody>
      </p:sp>
      <p:sp>
        <p:nvSpPr>
          <p:cNvPr id="7" name="Shape 5"/>
          <p:cNvSpPr/>
          <p:nvPr/>
        </p:nvSpPr>
        <p:spPr>
          <a:xfrm>
            <a:off x="4297680" y="1143000"/>
            <a:ext cx="3703320" cy="2468880"/>
          </a:xfrm>
          <a:prstGeom prst="roundRect">
            <a:avLst>
              <a:gd name="adj" fmla="val 2963"/>
            </a:avLst>
          </a:prstGeom>
          <a:solidFill>
            <a:srgbClr val="FFFFFF"/>
          </a:solidFill>
          <a:ln/>
          <a:effectLst>
            <a:outerShdw sx="100000" sy="100000" kx="0" ky="0" algn="bl" rotWithShape="0" blurRad="152400" dist="38100" dir="5400000">
              <a:srgbClr val="0F1C2E">
                <a:alpha val="10000"/>
              </a:srgbClr>
            </a:outerShdw>
          </a:effectLst>
        </p:spPr>
      </p:sp>
      <p:sp>
        <p:nvSpPr>
          <p:cNvPr id="8" name="Text 6"/>
          <p:cNvSpPr/>
          <p:nvPr/>
        </p:nvSpPr>
        <p:spPr>
          <a:xfrm>
            <a:off x="4498848" y="1325880"/>
            <a:ext cx="3291840" cy="411480"/>
          </a:xfrm>
          <a:prstGeom prst="rect">
            <a:avLst/>
          </a:prstGeom>
          <a:noFill/>
          <a:ln/>
        </p:spPr>
        <p:txBody>
          <a:bodyPr wrap="square" lIns="0" tIns="0" rIns="0" bIns="0" rtlCol="0" anchor="t"/>
          <a:lstStyle/>
          <a:p>
            <a:pPr algn="l" indent="0" marL="0">
              <a:buNone/>
            </a:pPr>
            <a:r>
              <a:rPr lang="en-US" sz="2200" b="1" dirty="0">
                <a:solidFill>
                  <a:srgbClr val="0F1C2E"/>
                </a:solidFill>
                <a:latin typeface="Cambria" pitchFamily="34" charset="0"/>
                <a:ea typeface="Cambria" pitchFamily="34" charset="-122"/>
                <a:cs typeface="Cambria" pitchFamily="34" charset="-120"/>
              </a:rPr>
              <a:t>On the screen</a:t>
            </a:r>
            <a:endParaRPr lang="en-US" sz="2200" dirty="0"/>
          </a:p>
        </p:txBody>
      </p:sp>
      <p:sp>
        <p:nvSpPr>
          <p:cNvPr id="9" name="Text 7"/>
          <p:cNvSpPr/>
          <p:nvPr/>
        </p:nvSpPr>
        <p:spPr>
          <a:xfrm>
            <a:off x="4498848" y="1874520"/>
            <a:ext cx="3291840" cy="1508760"/>
          </a:xfrm>
          <a:prstGeom prst="rect">
            <a:avLst/>
          </a:prstGeom>
          <a:noFill/>
          <a:ln/>
        </p:spPr>
        <p:txBody>
          <a:bodyPr wrap="square" lIns="0" tIns="0" rIns="0" bIns="0" rtlCol="0" anchor="t"/>
          <a:lstStyle/>
          <a:p>
            <a:pPr algn="l" indent="0" marL="0">
              <a:buNone/>
            </a:pPr>
            <a:r>
              <a:rPr lang="en-US" sz="1400" dirty="0">
                <a:solidFill>
                  <a:srgbClr val="14202C"/>
                </a:solidFill>
                <a:latin typeface="Calibri" pitchFamily="34" charset="0"/>
                <a:ea typeface="Calibri" pitchFamily="34" charset="-122"/>
                <a:cs typeface="Calibri" pitchFamily="34" charset="-120"/>
              </a:rPr>
              <a:t>One line per step: who, the rule, the reason, and each fact on its own line. The trace id is on the log.</a:t>
            </a:r>
            <a:endParaRPr lang="en-US" sz="1400" dirty="0"/>
          </a:p>
        </p:txBody>
      </p:sp>
      <p:sp>
        <p:nvSpPr>
          <p:cNvPr id="10" name="Shape 8"/>
          <p:cNvSpPr/>
          <p:nvPr/>
        </p:nvSpPr>
        <p:spPr>
          <a:xfrm>
            <a:off x="8183880" y="1143000"/>
            <a:ext cx="3703320" cy="2468880"/>
          </a:xfrm>
          <a:prstGeom prst="roundRect">
            <a:avLst>
              <a:gd name="adj" fmla="val 2963"/>
            </a:avLst>
          </a:prstGeom>
          <a:solidFill>
            <a:srgbClr val="0F1C2E"/>
          </a:solidFill>
          <a:ln/>
          <a:effectLst>
            <a:outerShdw sx="100000" sy="100000" kx="0" ky="0" algn="bl" rotWithShape="0" blurRad="152400" dist="38100" dir="5400000">
              <a:srgbClr val="0F1C2E">
                <a:alpha val="10000"/>
              </a:srgbClr>
            </a:outerShdw>
          </a:effectLst>
        </p:spPr>
      </p:sp>
      <p:sp>
        <p:nvSpPr>
          <p:cNvPr id="11" name="Text 9"/>
          <p:cNvSpPr/>
          <p:nvPr/>
        </p:nvSpPr>
        <p:spPr>
          <a:xfrm>
            <a:off x="8385048" y="1325880"/>
            <a:ext cx="3291840" cy="411480"/>
          </a:xfrm>
          <a:prstGeom prst="rect">
            <a:avLst/>
          </a:prstGeom>
          <a:noFill/>
          <a:ln/>
        </p:spPr>
        <p:txBody>
          <a:bodyPr wrap="square" lIns="0" tIns="0" rIns="0" bIns="0" rtlCol="0" anchor="t"/>
          <a:lstStyle/>
          <a:p>
            <a:pPr algn="l" indent="0" marL="0">
              <a:buNone/>
            </a:pPr>
            <a:r>
              <a:rPr lang="en-US" sz="2200" b="1" dirty="0">
                <a:solidFill>
                  <a:srgbClr val="F3D48A"/>
                </a:solidFill>
                <a:latin typeface="Cambria" pitchFamily="34" charset="0"/>
                <a:ea typeface="Cambria" pitchFamily="34" charset="-122"/>
                <a:cs typeface="Cambria" pitchFamily="34" charset="-120"/>
              </a:rPr>
              <a:t>While it runs</a:t>
            </a:r>
            <a:endParaRPr lang="en-US" sz="2200" dirty="0"/>
          </a:p>
        </p:txBody>
      </p:sp>
      <p:sp>
        <p:nvSpPr>
          <p:cNvPr id="12" name="Text 10"/>
          <p:cNvSpPr/>
          <p:nvPr/>
        </p:nvSpPr>
        <p:spPr>
          <a:xfrm>
            <a:off x="8385048" y="1874520"/>
            <a:ext cx="3291840" cy="1508760"/>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The terminal prints each line. scout.log, in the logs folder, keeps that line with the trace id and the clock. SCOUT_TRACE=0 turns both off.</a:t>
            </a:r>
            <a:endParaRPr lang="en-US" sz="1400" dirty="0"/>
          </a:p>
        </p:txBody>
      </p:sp>
      <p:sp>
        <p:nvSpPr>
          <p:cNvPr id="13" name="Shape 11"/>
          <p:cNvSpPr/>
          <p:nvPr/>
        </p:nvSpPr>
        <p:spPr>
          <a:xfrm>
            <a:off x="411480" y="3794760"/>
            <a:ext cx="5669280" cy="713232"/>
          </a:xfrm>
          <a:prstGeom prst="roundRect">
            <a:avLst>
              <a:gd name="adj" fmla="val 10256"/>
            </a:avLst>
          </a:prstGeom>
          <a:solidFill>
            <a:srgbClr val="EEF2F5"/>
          </a:solidFill>
          <a:ln/>
          <a:effectLst>
            <a:outerShdw sx="100000" sy="100000" kx="0" ky="0" algn="bl" rotWithShape="0" blurRad="152400" dist="38100" dir="5400000">
              <a:srgbClr val="0F1C2E">
                <a:alpha val="10000"/>
              </a:srgbClr>
            </a:outerShdw>
          </a:effectLst>
        </p:spPr>
      </p:sp>
      <p:sp>
        <p:nvSpPr>
          <p:cNvPr id="14" name="Text 12"/>
          <p:cNvSpPr/>
          <p:nvPr/>
        </p:nvSpPr>
        <p:spPr>
          <a:xfrm>
            <a:off x="557784" y="3959352"/>
            <a:ext cx="1554480" cy="384048"/>
          </a:xfrm>
          <a:prstGeom prst="rect">
            <a:avLst/>
          </a:prstGeom>
          <a:noFill/>
          <a:ln/>
        </p:spPr>
        <p:txBody>
          <a:bodyPr wrap="square" lIns="0" tIns="0" rIns="0" bIns="0" rtlCol="0" anchor="t"/>
          <a:lstStyle/>
          <a:p>
            <a:pPr algn="l" indent="0" marL="0">
              <a:buNone/>
            </a:pPr>
            <a:r>
              <a:rPr lang="en-US" sz="1300" b="1" dirty="0">
                <a:solidFill>
                  <a:srgbClr val="0F1C2E"/>
                </a:solidFill>
                <a:latin typeface="Calibri" pitchFamily="34" charset="0"/>
                <a:ea typeface="Calibri" pitchFamily="34" charset="-122"/>
                <a:cs typeface="Calibri" pitchFamily="34" charset="-120"/>
              </a:rPr>
              <a:t>Shares</a:t>
            </a:r>
            <a:endParaRPr lang="en-US" sz="1300" dirty="0"/>
          </a:p>
        </p:txBody>
      </p:sp>
      <p:sp>
        <p:nvSpPr>
          <p:cNvPr id="15" name="Text 13"/>
          <p:cNvSpPr/>
          <p:nvPr/>
        </p:nvSpPr>
        <p:spPr>
          <a:xfrm>
            <a:off x="2148840" y="3904488"/>
            <a:ext cx="3749040" cy="493776"/>
          </a:xfrm>
          <a:prstGeom prst="rect">
            <a:avLst/>
          </a:prstGeom>
          <a:noFill/>
          <a:ln/>
        </p:spPr>
        <p:txBody>
          <a:bodyPr wrap="square" lIns="0" tIns="0" rIns="0" bIns="0" rtlCol="0" anchor="t"/>
          <a:lstStyle/>
          <a:p>
            <a:pPr algn="l" indent="0" marL="0">
              <a:buNone/>
            </a:pPr>
            <a:r>
              <a:rPr lang="en-US" sz="1200" dirty="0">
                <a:solidFill>
                  <a:srgbClr val="14202C"/>
                </a:solidFill>
                <a:latin typeface="Calibri" pitchFamily="34" charset="0"/>
                <a:ea typeface="Calibri" pitchFamily="34" charset="-122"/>
                <a:cs typeface="Calibri" pitchFamily="34" charset="-120"/>
              </a:rPr>
              <a:t>relevance 0.35, cash 0.25, rating 0.15, purchases 0.10, history 0.15</a:t>
            </a:r>
            <a:endParaRPr lang="en-US" sz="1200" dirty="0"/>
          </a:p>
        </p:txBody>
      </p:sp>
      <p:sp>
        <p:nvSpPr>
          <p:cNvPr id="16" name="Shape 14"/>
          <p:cNvSpPr/>
          <p:nvPr/>
        </p:nvSpPr>
        <p:spPr>
          <a:xfrm>
            <a:off x="6263640" y="3794760"/>
            <a:ext cx="5669280" cy="713232"/>
          </a:xfrm>
          <a:prstGeom prst="roundRect">
            <a:avLst>
              <a:gd name="adj" fmla="val 10256"/>
            </a:avLst>
          </a:prstGeom>
          <a:solidFill>
            <a:srgbClr val="EEF2F5"/>
          </a:solidFill>
          <a:ln/>
          <a:effectLst>
            <a:outerShdw sx="100000" sy="100000" kx="0" ky="0" algn="bl" rotWithShape="0" blurRad="152400" dist="38100" dir="5400000">
              <a:srgbClr val="0F1C2E">
                <a:alpha val="10000"/>
              </a:srgbClr>
            </a:outerShdw>
          </a:effectLst>
        </p:spPr>
      </p:sp>
      <p:sp>
        <p:nvSpPr>
          <p:cNvPr id="17" name="Text 15"/>
          <p:cNvSpPr/>
          <p:nvPr/>
        </p:nvSpPr>
        <p:spPr>
          <a:xfrm>
            <a:off x="6409944" y="3959352"/>
            <a:ext cx="1554480" cy="384048"/>
          </a:xfrm>
          <a:prstGeom prst="rect">
            <a:avLst/>
          </a:prstGeom>
          <a:noFill/>
          <a:ln/>
        </p:spPr>
        <p:txBody>
          <a:bodyPr wrap="square" lIns="0" tIns="0" rIns="0" bIns="0" rtlCol="0" anchor="t"/>
          <a:lstStyle/>
          <a:p>
            <a:pPr algn="l" indent="0" marL="0">
              <a:buNone/>
            </a:pPr>
            <a:r>
              <a:rPr lang="en-US" sz="1300" b="1" dirty="0">
                <a:solidFill>
                  <a:srgbClr val="0F1C2E"/>
                </a:solidFill>
                <a:latin typeface="Calibri" pitchFamily="34" charset="0"/>
                <a:ea typeface="Calibri" pitchFamily="34" charset="-122"/>
                <a:cs typeface="Calibri" pitchFamily="34" charset="-120"/>
              </a:rPr>
              <a:t>Each scored row</a:t>
            </a:r>
            <a:endParaRPr lang="en-US" sz="1300" dirty="0"/>
          </a:p>
        </p:txBody>
      </p:sp>
      <p:sp>
        <p:nvSpPr>
          <p:cNvPr id="18" name="Text 16"/>
          <p:cNvSpPr/>
          <p:nvPr/>
        </p:nvSpPr>
        <p:spPr>
          <a:xfrm>
            <a:off x="8001000" y="3904488"/>
            <a:ext cx="3749040" cy="493776"/>
          </a:xfrm>
          <a:prstGeom prst="rect">
            <a:avLst/>
          </a:prstGeom>
          <a:noFill/>
          <a:ln/>
        </p:spPr>
        <p:txBody>
          <a:bodyPr wrap="square" lIns="0" tIns="0" rIns="0" bIns="0" rtlCol="0" anchor="t"/>
          <a:lstStyle/>
          <a:p>
            <a:pPr algn="l" indent="0" marL="0">
              <a:buNone/>
            </a:pPr>
            <a:r>
              <a:rPr lang="en-US" sz="1200" dirty="0">
                <a:solidFill>
                  <a:srgbClr val="14202C"/>
                </a:solidFill>
                <a:latin typeface="Calibri" pitchFamily="34" charset="0"/>
                <a:ea typeface="Calibri" pitchFamily="34" charset="-122"/>
                <a:cs typeface="Calibri" pitchFamily="34" charset="-120"/>
              </a:rPr>
              <a:t>sku, cash, tender, score, and the six parts</a:t>
            </a:r>
            <a:endParaRPr lang="en-US" sz="1200" dirty="0"/>
          </a:p>
        </p:txBody>
      </p:sp>
      <p:sp>
        <p:nvSpPr>
          <p:cNvPr id="19" name="Shape 17"/>
          <p:cNvSpPr/>
          <p:nvPr/>
        </p:nvSpPr>
        <p:spPr>
          <a:xfrm>
            <a:off x="411480" y="4617720"/>
            <a:ext cx="5669280" cy="713232"/>
          </a:xfrm>
          <a:prstGeom prst="roundRect">
            <a:avLst>
              <a:gd name="adj" fmla="val 10256"/>
            </a:avLst>
          </a:prstGeom>
          <a:solidFill>
            <a:srgbClr val="EEF2F5"/>
          </a:solidFill>
          <a:ln/>
          <a:effectLst>
            <a:outerShdw sx="100000" sy="100000" kx="0" ky="0" algn="bl" rotWithShape="0" blurRad="152400" dist="38100" dir="5400000">
              <a:srgbClr val="0F1C2E">
                <a:alpha val="10000"/>
              </a:srgbClr>
            </a:outerShdw>
          </a:effectLst>
        </p:spPr>
      </p:sp>
      <p:sp>
        <p:nvSpPr>
          <p:cNvPr id="20" name="Text 18"/>
          <p:cNvSpPr/>
          <p:nvPr/>
        </p:nvSpPr>
        <p:spPr>
          <a:xfrm>
            <a:off x="557784" y="4782312"/>
            <a:ext cx="1554480" cy="384048"/>
          </a:xfrm>
          <a:prstGeom prst="rect">
            <a:avLst/>
          </a:prstGeom>
          <a:noFill/>
          <a:ln/>
        </p:spPr>
        <p:txBody>
          <a:bodyPr wrap="square" lIns="0" tIns="0" rIns="0" bIns="0" rtlCol="0" anchor="t"/>
          <a:lstStyle/>
          <a:p>
            <a:pPr algn="l" indent="0" marL="0">
              <a:buNone/>
            </a:pPr>
            <a:r>
              <a:rPr lang="en-US" sz="1300" b="1" dirty="0">
                <a:solidFill>
                  <a:srgbClr val="0F1C2E"/>
                </a:solidFill>
                <a:latin typeface="Calibri" pitchFamily="34" charset="0"/>
                <a:ea typeface="Calibri" pitchFamily="34" charset="-122"/>
                <a:cs typeface="Calibri" pitchFamily="34" charset="-120"/>
              </a:rPr>
              <a:t>The outcome</a:t>
            </a:r>
            <a:endParaRPr lang="en-US" sz="1300" dirty="0"/>
          </a:p>
        </p:txBody>
      </p:sp>
      <p:sp>
        <p:nvSpPr>
          <p:cNvPr id="21" name="Text 19"/>
          <p:cNvSpPr/>
          <p:nvPr/>
        </p:nvSpPr>
        <p:spPr>
          <a:xfrm>
            <a:off x="2148840" y="4727448"/>
            <a:ext cx="3749040" cy="493776"/>
          </a:xfrm>
          <a:prstGeom prst="rect">
            <a:avLst/>
          </a:prstGeom>
          <a:noFill/>
          <a:ln/>
        </p:spPr>
        <p:txBody>
          <a:bodyPr wrap="square" lIns="0" tIns="0" rIns="0" bIns="0" rtlCol="0" anchor="t"/>
          <a:lstStyle/>
          <a:p>
            <a:pPr algn="l" indent="0" marL="0">
              <a:buNone/>
            </a:pPr>
            <a:r>
              <a:rPr lang="en-US" sz="1200" dirty="0">
                <a:solidFill>
                  <a:srgbClr val="14202C"/>
                </a:solidFill>
                <a:latin typeface="Calibri" pitchFamily="34" charset="0"/>
                <a:ea typeface="Calibri" pitchFamily="34" charset="-122"/>
                <a:cs typeface="Calibri" pitchFamily="34" charset="-120"/>
              </a:rPr>
              <a:t>the winning sku</a:t>
            </a:r>
            <a:endParaRPr lang="en-US" sz="1200" dirty="0"/>
          </a:p>
        </p:txBody>
      </p:sp>
      <p:sp>
        <p:nvSpPr>
          <p:cNvPr id="22" name="Shape 20"/>
          <p:cNvSpPr/>
          <p:nvPr/>
        </p:nvSpPr>
        <p:spPr>
          <a:xfrm>
            <a:off x="6263640" y="4617720"/>
            <a:ext cx="5669280" cy="713232"/>
          </a:xfrm>
          <a:prstGeom prst="roundRect">
            <a:avLst>
              <a:gd name="adj" fmla="val 10256"/>
            </a:avLst>
          </a:prstGeom>
          <a:solidFill>
            <a:srgbClr val="EEF2F5"/>
          </a:solidFill>
          <a:ln/>
          <a:effectLst>
            <a:outerShdw sx="100000" sy="100000" kx="0" ky="0" algn="bl" rotWithShape="0" blurRad="152400" dist="38100" dir="5400000">
              <a:srgbClr val="0F1C2E">
                <a:alpha val="10000"/>
              </a:srgbClr>
            </a:outerShdw>
          </a:effectLst>
        </p:spPr>
      </p:sp>
      <p:sp>
        <p:nvSpPr>
          <p:cNvPr id="23" name="Text 21"/>
          <p:cNvSpPr/>
          <p:nvPr/>
        </p:nvSpPr>
        <p:spPr>
          <a:xfrm>
            <a:off x="6409944" y="4782312"/>
            <a:ext cx="1554480" cy="384048"/>
          </a:xfrm>
          <a:prstGeom prst="rect">
            <a:avLst/>
          </a:prstGeom>
          <a:noFill/>
          <a:ln/>
        </p:spPr>
        <p:txBody>
          <a:bodyPr wrap="square" lIns="0" tIns="0" rIns="0" bIns="0" rtlCol="0" anchor="t"/>
          <a:lstStyle/>
          <a:p>
            <a:pPr algn="l" indent="0" marL="0">
              <a:buNone/>
            </a:pPr>
            <a:r>
              <a:rPr lang="en-US" sz="1300" b="1" dirty="0">
                <a:solidFill>
                  <a:srgbClr val="0F1C2E"/>
                </a:solidFill>
                <a:latin typeface="Calibri" pitchFamily="34" charset="0"/>
                <a:ea typeface="Calibri" pitchFamily="34" charset="-122"/>
                <a:cs typeface="Calibri" pitchFamily="34" charset="-120"/>
              </a:rPr>
              <a:t>A charge</a:t>
            </a:r>
            <a:endParaRPr lang="en-US" sz="1300" dirty="0"/>
          </a:p>
        </p:txBody>
      </p:sp>
      <p:sp>
        <p:nvSpPr>
          <p:cNvPr id="24" name="Text 22"/>
          <p:cNvSpPr/>
          <p:nvPr/>
        </p:nvSpPr>
        <p:spPr>
          <a:xfrm>
            <a:off x="8001000" y="4727448"/>
            <a:ext cx="3749040" cy="493776"/>
          </a:xfrm>
          <a:prstGeom prst="rect">
            <a:avLst/>
          </a:prstGeom>
          <a:noFill/>
          <a:ln/>
        </p:spPr>
        <p:txBody>
          <a:bodyPr wrap="square" lIns="0" tIns="0" rIns="0" bIns="0" rtlCol="0" anchor="t"/>
          <a:lstStyle/>
          <a:p>
            <a:pPr algn="l" indent="0" marL="0">
              <a:buNone/>
            </a:pPr>
            <a:r>
              <a:rPr lang="en-US" sz="1200" dirty="0">
                <a:solidFill>
                  <a:srgbClr val="14202C"/>
                </a:solidFill>
                <a:latin typeface="Calibri" pitchFamily="34" charset="0"/>
                <a:ea typeface="Calibri" pitchFamily="34" charset="-122"/>
                <a:cs typeface="Calibri" pitchFamily="34" charset="-120"/>
              </a:rPr>
              <a:t>tender, cash, and the idempotency key. The vault id is not written on the line.</a:t>
            </a:r>
            <a:endParaRPr lang="en-US" sz="1200" dirty="0"/>
          </a:p>
        </p:txBody>
      </p:sp>
      <p:sp>
        <p:nvSpPr>
          <p:cNvPr id="25" name="Shape 23"/>
          <p:cNvSpPr/>
          <p:nvPr/>
        </p:nvSpPr>
        <p:spPr>
          <a:xfrm>
            <a:off x="411480" y="5440680"/>
            <a:ext cx="5669280" cy="713232"/>
          </a:xfrm>
          <a:prstGeom prst="roundRect">
            <a:avLst>
              <a:gd name="adj" fmla="val 10256"/>
            </a:avLst>
          </a:prstGeom>
          <a:solidFill>
            <a:srgbClr val="EEF2F5"/>
          </a:solidFill>
          <a:ln/>
          <a:effectLst>
            <a:outerShdw sx="100000" sy="100000" kx="0" ky="0" algn="bl" rotWithShape="0" blurRad="152400" dist="38100" dir="5400000">
              <a:srgbClr val="0F1C2E">
                <a:alpha val="10000"/>
              </a:srgbClr>
            </a:outerShdw>
          </a:effectLst>
        </p:spPr>
      </p:sp>
      <p:sp>
        <p:nvSpPr>
          <p:cNvPr id="26" name="Text 24"/>
          <p:cNvSpPr/>
          <p:nvPr/>
        </p:nvSpPr>
        <p:spPr>
          <a:xfrm>
            <a:off x="557784" y="5605272"/>
            <a:ext cx="1554480" cy="384048"/>
          </a:xfrm>
          <a:prstGeom prst="rect">
            <a:avLst/>
          </a:prstGeom>
          <a:noFill/>
          <a:ln/>
        </p:spPr>
        <p:txBody>
          <a:bodyPr wrap="square" lIns="0" tIns="0" rIns="0" bIns="0" rtlCol="0" anchor="t"/>
          <a:lstStyle/>
          <a:p>
            <a:pPr algn="l" indent="0" marL="0">
              <a:buNone/>
            </a:pPr>
            <a:r>
              <a:rPr lang="en-US" sz="1300" b="1" dirty="0">
                <a:solidFill>
                  <a:srgbClr val="0F1C2E"/>
                </a:solidFill>
                <a:latin typeface="Calibri" pitchFamily="34" charset="0"/>
                <a:ea typeface="Calibri" pitchFamily="34" charset="-122"/>
                <a:cs typeface="Calibri" pitchFamily="34" charset="-120"/>
              </a:rPr>
              <a:t>A reprice</a:t>
            </a:r>
            <a:endParaRPr lang="en-US" sz="1300" dirty="0"/>
          </a:p>
        </p:txBody>
      </p:sp>
      <p:sp>
        <p:nvSpPr>
          <p:cNvPr id="27" name="Text 25"/>
          <p:cNvSpPr/>
          <p:nvPr/>
        </p:nvSpPr>
        <p:spPr>
          <a:xfrm>
            <a:off x="2148840" y="5550408"/>
            <a:ext cx="3749040" cy="493776"/>
          </a:xfrm>
          <a:prstGeom prst="rect">
            <a:avLst/>
          </a:prstGeom>
          <a:noFill/>
          <a:ln/>
        </p:spPr>
        <p:txBody>
          <a:bodyPr wrap="square" lIns="0" tIns="0" rIns="0" bIns="0" rtlCol="0" anchor="t"/>
          <a:lstStyle/>
          <a:p>
            <a:pPr algn="l" indent="0" marL="0">
              <a:buNone/>
            </a:pPr>
            <a:r>
              <a:rPr lang="en-US" sz="1200" dirty="0">
                <a:solidFill>
                  <a:srgbClr val="14202C"/>
                </a:solidFill>
                <a:latin typeface="Calibri" pitchFamily="34" charset="0"/>
                <a:ea typeface="Calibri" pitchFamily="34" charset="-122"/>
                <a:cs typeface="Calibri" pitchFamily="34" charset="-120"/>
              </a:rPr>
              <a:t>card_reprice names the next cash and the next tender</a:t>
            </a:r>
            <a:endParaRPr lang="en-US" sz="1200" dirty="0"/>
          </a:p>
        </p:txBody>
      </p:sp>
      <p:sp>
        <p:nvSpPr>
          <p:cNvPr id="28" name="Shape 26"/>
          <p:cNvSpPr/>
          <p:nvPr/>
        </p:nvSpPr>
        <p:spPr>
          <a:xfrm>
            <a:off x="6263640" y="5440680"/>
            <a:ext cx="5669280" cy="713232"/>
          </a:xfrm>
          <a:prstGeom prst="roundRect">
            <a:avLst>
              <a:gd name="adj" fmla="val 10256"/>
            </a:avLst>
          </a:prstGeom>
          <a:solidFill>
            <a:srgbClr val="EEF2F5"/>
          </a:solidFill>
          <a:ln/>
          <a:effectLst>
            <a:outerShdw sx="100000" sy="100000" kx="0" ky="0" algn="bl" rotWithShape="0" blurRad="152400" dist="38100" dir="5400000">
              <a:srgbClr val="0F1C2E">
                <a:alpha val="10000"/>
              </a:srgbClr>
            </a:outerShdw>
          </a:effectLst>
        </p:spPr>
      </p:sp>
      <p:sp>
        <p:nvSpPr>
          <p:cNvPr id="29" name="Text 27"/>
          <p:cNvSpPr/>
          <p:nvPr/>
        </p:nvSpPr>
        <p:spPr>
          <a:xfrm>
            <a:off x="6409944" y="5605272"/>
            <a:ext cx="1554480" cy="384048"/>
          </a:xfrm>
          <a:prstGeom prst="rect">
            <a:avLst/>
          </a:prstGeom>
          <a:noFill/>
          <a:ln/>
        </p:spPr>
        <p:txBody>
          <a:bodyPr wrap="square" lIns="0" tIns="0" rIns="0" bIns="0" rtlCol="0" anchor="t"/>
          <a:lstStyle/>
          <a:p>
            <a:pPr algn="l" indent="0" marL="0">
              <a:buNone/>
            </a:pPr>
            <a:r>
              <a:rPr lang="en-US" sz="1300" b="1" dirty="0">
                <a:solidFill>
                  <a:srgbClr val="0F1C2E"/>
                </a:solidFill>
                <a:latin typeface="Calibri" pitchFamily="34" charset="0"/>
                <a:ea typeface="Calibri" pitchFamily="34" charset="-122"/>
                <a:cs typeface="Calibri" pitchFamily="34" charset="-120"/>
              </a:rPr>
              <a:t>A booking</a:t>
            </a:r>
            <a:endParaRPr lang="en-US" sz="1300" dirty="0"/>
          </a:p>
        </p:txBody>
      </p:sp>
      <p:sp>
        <p:nvSpPr>
          <p:cNvPr id="30" name="Text 28"/>
          <p:cNvSpPr/>
          <p:nvPr/>
        </p:nvSpPr>
        <p:spPr>
          <a:xfrm>
            <a:off x="8001000" y="5550408"/>
            <a:ext cx="3749040" cy="493776"/>
          </a:xfrm>
          <a:prstGeom prst="rect">
            <a:avLst/>
          </a:prstGeom>
          <a:noFill/>
          <a:ln/>
        </p:spPr>
        <p:txBody>
          <a:bodyPr wrap="square" lIns="0" tIns="0" rIns="0" bIns="0" rtlCol="0" anchor="t"/>
          <a:lstStyle/>
          <a:p>
            <a:pPr algn="l" indent="0" marL="0">
              <a:buNone/>
            </a:pPr>
            <a:r>
              <a:rPr lang="en-US" sz="1200" dirty="0">
                <a:solidFill>
                  <a:srgbClr val="14202C"/>
                </a:solidFill>
                <a:latin typeface="Calibri" pitchFamily="34" charset="0"/>
                <a:ea typeface="Calibri" pitchFamily="34" charset="-122"/>
                <a:cs typeface="Calibri" pitchFamily="34" charset="-120"/>
              </a:rPr>
              <a:t>stores this attempt’s trace id, so the receipt and the log are the same story</a:t>
            </a:r>
            <a:endParaRPr lang="en-US" sz="1200" dirty="0"/>
          </a:p>
        </p:txBody>
      </p:sp>
      <p:sp>
        <p:nvSpPr>
          <p:cNvPr id="32" name="Text 29"/>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33" name="Text 30"/>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37744"/>
          </a:xfrm>
          <a:prstGeom prst="rect">
            <a:avLst/>
          </a:prstGeom>
          <a:noFill/>
          <a:ln/>
        </p:spPr>
        <p:txBody>
          <a:bodyPr wrap="square" lIns="0" tIns="0" rIns="0" bIns="0" rtlCol="0" anchor="ctr"/>
          <a:lstStyle/>
          <a:p>
            <a:pPr indent="0" marL="0">
              <a:buNone/>
            </a:pPr>
            <a:r>
              <a:rPr lang="en-US" sz="1300" b="1" spc="110" kern="0" dirty="0">
                <a:solidFill>
                  <a:srgbClr val="A67C2D"/>
                </a:solidFill>
                <a:latin typeface="Calibri" pitchFamily="34" charset="0"/>
                <a:ea typeface="Calibri" pitchFamily="34" charset="-122"/>
                <a:cs typeface="Calibri" pitchFamily="34" charset="-120"/>
              </a:rPr>
              <a:t>SECURITY</a:t>
            </a:r>
            <a:endParaRPr lang="en-US" sz="1300" dirty="0"/>
          </a:p>
        </p:txBody>
      </p:sp>
      <p:sp>
        <p:nvSpPr>
          <p:cNvPr id="3" name="Text 1"/>
          <p:cNvSpPr/>
          <p:nvPr/>
        </p:nvSpPr>
        <p:spPr>
          <a:xfrm>
            <a:off x="502920" y="493776"/>
            <a:ext cx="11155680" cy="438912"/>
          </a:xfrm>
          <a:prstGeom prst="rect">
            <a:avLst/>
          </a:prstGeom>
          <a:noFill/>
          <a:ln/>
        </p:spPr>
        <p:txBody>
          <a:bodyPr wrap="square" lIns="0" tIns="0" rIns="0" bIns="0" rtlCol="0" anchor="ctr"/>
          <a:lstStyle/>
          <a:p>
            <a:pPr indent="0" marL="0">
              <a:buNone/>
            </a:pPr>
            <a:r>
              <a:rPr lang="en-US" sz="3200" b="1" dirty="0">
                <a:solidFill>
                  <a:srgbClr val="14202C"/>
                </a:solidFill>
                <a:latin typeface="Cambria" pitchFamily="34" charset="0"/>
                <a:ea typeface="Cambria" pitchFamily="34" charset="-122"/>
                <a:cs typeface="Cambria" pitchFamily="34" charset="-120"/>
              </a:rPr>
              <a:t>Instructions are data. Money has a gate.</a:t>
            </a:r>
            <a:endParaRPr lang="en-US" sz="3200" dirty="0"/>
          </a:p>
        </p:txBody>
      </p:sp>
      <p:sp>
        <p:nvSpPr>
          <p:cNvPr id="4" name="Shape 2"/>
          <p:cNvSpPr/>
          <p:nvPr/>
        </p:nvSpPr>
        <p:spPr>
          <a:xfrm>
            <a:off x="365760" y="1143000"/>
            <a:ext cx="3749040" cy="2450592"/>
          </a:xfrm>
          <a:prstGeom prst="roundRect">
            <a:avLst>
              <a:gd name="adj" fmla="val 2985"/>
            </a:avLst>
          </a:prstGeom>
          <a:solidFill>
            <a:srgbClr val="FFFFFF"/>
          </a:solidFill>
          <a:ln/>
          <a:effectLst>
            <a:outerShdw sx="100000" sy="100000" kx="0" ky="0" algn="bl" rotWithShape="0" blurRad="152400" dist="38100" dir="5400000">
              <a:srgbClr val="0F1C2E">
                <a:alpha val="10000"/>
              </a:srgbClr>
            </a:outerShdw>
          </a:effectLst>
        </p:spPr>
      </p:sp>
      <p:sp>
        <p:nvSpPr>
          <p:cNvPr id="5" name="Text 3"/>
          <p:cNvSpPr/>
          <p:nvPr/>
        </p:nvSpPr>
        <p:spPr>
          <a:xfrm>
            <a:off x="548640" y="1307592"/>
            <a:ext cx="3383280" cy="548640"/>
          </a:xfrm>
          <a:prstGeom prst="rect">
            <a:avLst/>
          </a:prstGeom>
          <a:noFill/>
          <a:ln/>
        </p:spPr>
        <p:txBody>
          <a:bodyPr wrap="square" lIns="0" tIns="0" rIns="0" bIns="0" rtlCol="0" anchor="t"/>
          <a:lstStyle/>
          <a:p>
            <a:pPr algn="l" indent="0" marL="0">
              <a:buNone/>
            </a:pPr>
            <a:r>
              <a:rPr lang="en-US" sz="1800" b="1" dirty="0">
                <a:solidFill>
                  <a:srgbClr val="0F1C2E"/>
                </a:solidFill>
                <a:latin typeface="Cambria" pitchFamily="34" charset="0"/>
                <a:ea typeface="Cambria" pitchFamily="34" charset="-122"/>
                <a:cs typeface="Cambria" pitchFamily="34" charset="-120"/>
              </a:rPr>
              <a:t>A poisoned listing</a:t>
            </a:r>
            <a:endParaRPr lang="en-US" sz="1800" dirty="0"/>
          </a:p>
        </p:txBody>
      </p:sp>
      <p:sp>
        <p:nvSpPr>
          <p:cNvPr id="6" name="Text 4"/>
          <p:cNvSpPr/>
          <p:nvPr/>
        </p:nvSpPr>
        <p:spPr>
          <a:xfrm>
            <a:off x="548640" y="1965960"/>
            <a:ext cx="3383280" cy="14173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Description, photograph, or review says to ignore the budget or pay now. That offer drops. A clean sibling can still be paid. The request continues.</a:t>
            </a:r>
            <a:endParaRPr lang="en-US" sz="1300" dirty="0"/>
          </a:p>
        </p:txBody>
      </p:sp>
      <p:sp>
        <p:nvSpPr>
          <p:cNvPr id="7" name="Shape 5"/>
          <p:cNvSpPr/>
          <p:nvPr/>
        </p:nvSpPr>
        <p:spPr>
          <a:xfrm>
            <a:off x="4279392" y="1143000"/>
            <a:ext cx="3749040" cy="2450592"/>
          </a:xfrm>
          <a:prstGeom prst="roundRect">
            <a:avLst>
              <a:gd name="adj" fmla="val 2985"/>
            </a:avLst>
          </a:prstGeom>
          <a:solidFill>
            <a:srgbClr val="FFFFFF"/>
          </a:solidFill>
          <a:ln/>
          <a:effectLst>
            <a:outerShdw sx="100000" sy="100000" kx="0" ky="0" algn="bl" rotWithShape="0" blurRad="152400" dist="38100" dir="5400000">
              <a:srgbClr val="0F1C2E">
                <a:alpha val="10000"/>
              </a:srgbClr>
            </a:outerShdw>
          </a:effectLst>
        </p:spPr>
      </p:sp>
      <p:sp>
        <p:nvSpPr>
          <p:cNvPr id="8" name="Text 6"/>
          <p:cNvSpPr/>
          <p:nvPr/>
        </p:nvSpPr>
        <p:spPr>
          <a:xfrm>
            <a:off x="4462272" y="1307592"/>
            <a:ext cx="3383280" cy="548640"/>
          </a:xfrm>
          <a:prstGeom prst="rect">
            <a:avLst/>
          </a:prstGeom>
          <a:noFill/>
          <a:ln/>
        </p:spPr>
        <p:txBody>
          <a:bodyPr wrap="square" lIns="0" tIns="0" rIns="0" bIns="0" rtlCol="0" anchor="t"/>
          <a:lstStyle/>
          <a:p>
            <a:pPr algn="l" indent="0" marL="0">
              <a:buNone/>
            </a:pPr>
            <a:r>
              <a:rPr lang="en-US" sz="1800" b="1" dirty="0">
                <a:solidFill>
                  <a:srgbClr val="0F1C2E"/>
                </a:solidFill>
                <a:latin typeface="Cambria" pitchFamily="34" charset="0"/>
                <a:ea typeface="Cambria" pitchFamily="34" charset="-122"/>
                <a:cs typeface="Cambria" pitchFamily="34" charset="-120"/>
              </a:rPr>
              <a:t>The person types the attack</a:t>
            </a:r>
            <a:endParaRPr lang="en-US" sz="1800" dirty="0"/>
          </a:p>
        </p:txBody>
      </p:sp>
      <p:sp>
        <p:nvSpPr>
          <p:cNvPr id="9" name="Text 7"/>
          <p:cNvSpPr/>
          <p:nvPr/>
        </p:nvSpPr>
        <p:spPr>
          <a:xfrm>
            <a:off x="4462272" y="1965960"/>
            <a:ext cx="3383280" cy="14173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“Ignore the mandate” in the request is a different case. Search does not start. The whole attempt stops.</a:t>
            </a:r>
            <a:endParaRPr lang="en-US" sz="1300" dirty="0"/>
          </a:p>
        </p:txBody>
      </p:sp>
      <p:sp>
        <p:nvSpPr>
          <p:cNvPr id="10" name="Shape 8"/>
          <p:cNvSpPr/>
          <p:nvPr/>
        </p:nvSpPr>
        <p:spPr>
          <a:xfrm>
            <a:off x="8193024" y="1143000"/>
            <a:ext cx="3749040" cy="2450592"/>
          </a:xfrm>
          <a:prstGeom prst="roundRect">
            <a:avLst>
              <a:gd name="adj" fmla="val 2985"/>
            </a:avLst>
          </a:prstGeom>
          <a:solidFill>
            <a:srgbClr val="FFFFFF"/>
          </a:solidFill>
          <a:ln/>
          <a:effectLst>
            <a:outerShdw sx="100000" sy="100000" kx="0" ky="0" algn="bl" rotWithShape="0" blurRad="152400" dist="38100" dir="5400000">
              <a:srgbClr val="0F1C2E">
                <a:alpha val="10000"/>
              </a:srgbClr>
            </a:outerShdw>
          </a:effectLst>
        </p:spPr>
      </p:sp>
      <p:sp>
        <p:nvSpPr>
          <p:cNvPr id="11" name="Text 9"/>
          <p:cNvSpPr/>
          <p:nvPr/>
        </p:nvSpPr>
        <p:spPr>
          <a:xfrm>
            <a:off x="8375904" y="1307592"/>
            <a:ext cx="3383280" cy="548640"/>
          </a:xfrm>
          <a:prstGeom prst="rect">
            <a:avLst/>
          </a:prstGeom>
          <a:noFill/>
          <a:ln/>
        </p:spPr>
        <p:txBody>
          <a:bodyPr wrap="square" lIns="0" tIns="0" rIns="0" bIns="0" rtlCol="0" anchor="t"/>
          <a:lstStyle/>
          <a:p>
            <a:pPr algn="l" indent="0" marL="0">
              <a:buNone/>
            </a:pPr>
            <a:r>
              <a:rPr lang="en-US" sz="1800" b="1" dirty="0">
                <a:solidFill>
                  <a:srgbClr val="0F1C2E"/>
                </a:solidFill>
                <a:latin typeface="Cambria" pitchFamily="34" charset="0"/>
                <a:ea typeface="Cambria" pitchFamily="34" charset="-122"/>
                <a:cs typeface="Cambria" pitchFamily="34" charset="-120"/>
              </a:rPr>
              <a:t>A secret agent price</a:t>
            </a:r>
            <a:endParaRPr lang="en-US" sz="1800" dirty="0"/>
          </a:p>
        </p:txBody>
      </p:sp>
      <p:sp>
        <p:nvSpPr>
          <p:cNvPr id="12" name="Text 10"/>
          <p:cNvSpPr/>
          <p:nvPr/>
        </p:nvSpPr>
        <p:spPr>
          <a:xfrm>
            <a:off x="8375904" y="1965960"/>
            <a:ext cx="3383280" cy="14173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agent price above human price drops that row and is logged. The shelf that remains is the human price.</a:t>
            </a:r>
            <a:endParaRPr lang="en-US" sz="1300" dirty="0"/>
          </a:p>
        </p:txBody>
      </p:sp>
      <p:sp>
        <p:nvSpPr>
          <p:cNvPr id="13" name="Shape 11"/>
          <p:cNvSpPr/>
          <p:nvPr/>
        </p:nvSpPr>
        <p:spPr>
          <a:xfrm>
            <a:off x="365760" y="3749040"/>
            <a:ext cx="3749040" cy="2450592"/>
          </a:xfrm>
          <a:prstGeom prst="roundRect">
            <a:avLst>
              <a:gd name="adj" fmla="val 2985"/>
            </a:avLst>
          </a:prstGeom>
          <a:solidFill>
            <a:srgbClr val="FFFFFF"/>
          </a:solidFill>
          <a:ln/>
          <a:effectLst>
            <a:outerShdw sx="100000" sy="100000" kx="0" ky="0" algn="bl" rotWithShape="0" blurRad="152400" dist="38100" dir="5400000">
              <a:srgbClr val="0F1C2E">
                <a:alpha val="10000"/>
              </a:srgbClr>
            </a:outerShdw>
          </a:effectLst>
        </p:spPr>
      </p:sp>
      <p:sp>
        <p:nvSpPr>
          <p:cNvPr id="14" name="Text 12"/>
          <p:cNvSpPr/>
          <p:nvPr/>
        </p:nvSpPr>
        <p:spPr>
          <a:xfrm>
            <a:off x="548640" y="3913632"/>
            <a:ext cx="3383280" cy="548640"/>
          </a:xfrm>
          <a:prstGeom prst="rect">
            <a:avLst/>
          </a:prstGeom>
          <a:noFill/>
          <a:ln/>
        </p:spPr>
        <p:txBody>
          <a:bodyPr wrap="square" lIns="0" tIns="0" rIns="0" bIns="0" rtlCol="0" anchor="t"/>
          <a:lstStyle/>
          <a:p>
            <a:pPr algn="l" indent="0" marL="0">
              <a:buNone/>
            </a:pPr>
            <a:r>
              <a:rPr lang="en-US" sz="1800" b="1" dirty="0">
                <a:solidFill>
                  <a:srgbClr val="0F1C2E"/>
                </a:solidFill>
                <a:latin typeface="Cambria" pitchFamily="34" charset="0"/>
                <a:ea typeface="Cambria" pitchFamily="34" charset="-122"/>
                <a:cs typeface="Cambria" pitchFamily="34" charset="-120"/>
              </a:rPr>
              <a:t>A counter with orders in it</a:t>
            </a:r>
            <a:endParaRPr lang="en-US" sz="1800" dirty="0"/>
          </a:p>
        </p:txBody>
      </p:sp>
      <p:sp>
        <p:nvSpPr>
          <p:cNvPr id="15" name="Text 13"/>
          <p:cNvSpPr/>
          <p:nvPr/>
        </p:nvSpPr>
        <p:spPr>
          <a:xfrm>
            <a:off x="548640" y="4572000"/>
            <a:ext cx="3383280" cy="14173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auditor vetoes “ignore the mandate.” The row is skipped. The coupon on that row stays unused.</a:t>
            </a:r>
            <a:endParaRPr lang="en-US" sz="1300" dirty="0"/>
          </a:p>
        </p:txBody>
      </p:sp>
      <p:sp>
        <p:nvSpPr>
          <p:cNvPr id="16" name="Shape 14"/>
          <p:cNvSpPr/>
          <p:nvPr/>
        </p:nvSpPr>
        <p:spPr>
          <a:xfrm>
            <a:off x="4279392" y="3749040"/>
            <a:ext cx="3749040" cy="2450592"/>
          </a:xfrm>
          <a:prstGeom prst="roundRect">
            <a:avLst>
              <a:gd name="adj" fmla="val 2985"/>
            </a:avLst>
          </a:prstGeom>
          <a:solidFill>
            <a:srgbClr val="FFFFFF"/>
          </a:solidFill>
          <a:ln/>
          <a:effectLst>
            <a:outerShdw sx="100000" sy="100000" kx="0" ky="0" algn="bl" rotWithShape="0" blurRad="152400" dist="38100" dir="5400000">
              <a:srgbClr val="0F1C2E">
                <a:alpha val="10000"/>
              </a:srgbClr>
            </a:outerShdw>
          </a:effectLst>
        </p:spPr>
      </p:sp>
      <p:sp>
        <p:nvSpPr>
          <p:cNvPr id="17" name="Text 15"/>
          <p:cNvSpPr/>
          <p:nvPr/>
        </p:nvSpPr>
        <p:spPr>
          <a:xfrm>
            <a:off x="4462272" y="3913632"/>
            <a:ext cx="3383280" cy="548640"/>
          </a:xfrm>
          <a:prstGeom prst="rect">
            <a:avLst/>
          </a:prstGeom>
          <a:noFill/>
          <a:ln/>
        </p:spPr>
        <p:txBody>
          <a:bodyPr wrap="square" lIns="0" tIns="0" rIns="0" bIns="0" rtlCol="0" anchor="t"/>
          <a:lstStyle/>
          <a:p>
            <a:pPr algn="l" indent="0" marL="0">
              <a:buNone/>
            </a:pPr>
            <a:r>
              <a:rPr lang="en-US" sz="1800" b="1" dirty="0">
                <a:solidFill>
                  <a:srgbClr val="0F1C2E"/>
                </a:solidFill>
                <a:latin typeface="Cambria" pitchFamily="34" charset="0"/>
                <a:ea typeface="Cambria" pitchFamily="34" charset="-122"/>
                <a:cs typeface="Cambria" pitchFamily="34" charset="-120"/>
              </a:rPr>
              <a:t>A slip that was touched</a:t>
            </a:r>
            <a:endParaRPr lang="en-US" sz="1800" dirty="0"/>
          </a:p>
        </p:txBody>
      </p:sp>
      <p:sp>
        <p:nvSpPr>
          <p:cNvPr id="18" name="Text 16"/>
          <p:cNvSpPr/>
          <p:nvPr/>
        </p:nvSpPr>
        <p:spPr>
          <a:xfrm>
            <a:off x="4462272" y="4572000"/>
            <a:ext cx="3383280" cy="14173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Flipped character, swapped seller, or a cash total that is not the quote. The payer is not asked. A charge sent early is refused.</a:t>
            </a:r>
            <a:endParaRPr lang="en-US" sz="1300" dirty="0"/>
          </a:p>
        </p:txBody>
      </p:sp>
      <p:sp>
        <p:nvSpPr>
          <p:cNvPr id="19" name="Shape 17"/>
          <p:cNvSpPr/>
          <p:nvPr/>
        </p:nvSpPr>
        <p:spPr>
          <a:xfrm>
            <a:off x="8193024" y="3749040"/>
            <a:ext cx="3749040" cy="2450592"/>
          </a:xfrm>
          <a:prstGeom prst="roundRect">
            <a:avLst>
              <a:gd name="adj" fmla="val 2985"/>
            </a:avLst>
          </a:prstGeom>
          <a:solidFill>
            <a:srgbClr val="FFFFFF"/>
          </a:solidFill>
          <a:ln/>
          <a:effectLst>
            <a:outerShdw sx="100000" sy="100000" kx="0" ky="0" algn="bl" rotWithShape="0" blurRad="152400" dist="38100" dir="5400000">
              <a:srgbClr val="0F1C2E">
                <a:alpha val="10000"/>
              </a:srgbClr>
            </a:outerShdw>
          </a:effectLst>
        </p:spPr>
      </p:sp>
      <p:sp>
        <p:nvSpPr>
          <p:cNvPr id="20" name="Text 18"/>
          <p:cNvSpPr/>
          <p:nvPr/>
        </p:nvSpPr>
        <p:spPr>
          <a:xfrm>
            <a:off x="8375904" y="3913632"/>
            <a:ext cx="3383280" cy="548640"/>
          </a:xfrm>
          <a:prstGeom prst="rect">
            <a:avLst/>
          </a:prstGeom>
          <a:noFill/>
          <a:ln/>
        </p:spPr>
        <p:txBody>
          <a:bodyPr wrap="square" lIns="0" tIns="0" rIns="0" bIns="0" rtlCol="0" anchor="t"/>
          <a:lstStyle/>
          <a:p>
            <a:pPr algn="l" indent="0" marL="0">
              <a:buNone/>
            </a:pPr>
            <a:r>
              <a:rPr lang="en-US" sz="1800" b="1" dirty="0">
                <a:solidFill>
                  <a:srgbClr val="0F1C2E"/>
                </a:solidFill>
                <a:latin typeface="Cambria" pitchFamily="34" charset="0"/>
                <a:ea typeface="Cambria" pitchFamily="34" charset="-122"/>
                <a:cs typeface="Cambria" pitchFamily="34" charset="-120"/>
              </a:rPr>
              <a:t>The card itself</a:t>
            </a:r>
            <a:endParaRPr lang="en-US" sz="1800" dirty="0"/>
          </a:p>
        </p:txBody>
      </p:sp>
      <p:sp>
        <p:nvSpPr>
          <p:cNvPr id="21" name="Text 19"/>
          <p:cNvSpPr/>
          <p:nvPr/>
        </p:nvSpPr>
        <p:spPr>
          <a:xfrm>
            <a:off x="8375904" y="4572000"/>
            <a:ext cx="3383280" cy="1417320"/>
          </a:xfrm>
          <a:prstGeom prst="rect">
            <a:avLst/>
          </a:prstGeom>
          <a:noFill/>
          <a:ln/>
        </p:spPr>
        <p:txBody>
          <a:bodyPr wrap="square" lIns="0" tIns="0" rIns="0" bIns="0" rtlCol="0" anchor="t"/>
          <a:lstStyle/>
          <a:p>
            <a:pPr algn="l" indent="0" marL="0">
              <a:buNone/>
            </a:pPr>
            <a:r>
              <a:rPr lang="en-US" sz="1300" dirty="0">
                <a:solidFill>
                  <a:srgbClr val="14202C"/>
                </a:solidFill>
                <a:latin typeface="Calibri" pitchFamily="34" charset="0"/>
                <a:ea typeface="Calibri" pitchFamily="34" charset="-122"/>
                <a:cs typeface="Calibri" pitchFamily="34" charset="-120"/>
              </a:rPr>
              <a:t>The account mints vault_ and address_ ids. The pay call sends those. There is no card number, no bank lookup, and no shared payment token in this release.</a:t>
            </a:r>
            <a:endParaRPr lang="en-US" sz="1300" dirty="0"/>
          </a:p>
        </p:txBody>
      </p:sp>
      <p:sp>
        <p:nvSpPr>
          <p:cNvPr id="23" name="Text 20"/>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6A7A88"/>
                </a:solidFill>
                <a:latin typeface="Calibri" pitchFamily="34" charset="0"/>
                <a:ea typeface="Calibri" pitchFamily="34" charset="-122"/>
                <a:cs typeface="Calibri" pitchFamily="34" charset="-120"/>
              </a:rPr>
              <a:t>Scout</a:t>
            </a:r>
            <a:endParaRPr lang="en-US" sz="1200" dirty="0"/>
          </a:p>
        </p:txBody>
      </p:sp>
      <p:sp>
        <p:nvSpPr>
          <p:cNvPr id="24" name="Text 21"/>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6A7A88"/>
                </a:solidFill>
                <a:latin typeface="Calibri" pitchFamily="34" charset="0"/>
                <a:ea typeface="Calibri" pitchFamily="34" charset="-122"/>
                <a:cs typeface="Calibri"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C2E"/>
        </a:solidFill>
      </p:bgPr>
    </p:bg>
    <p:spTree>
      <p:nvGrpSpPr>
        <p:cNvPr id="1" name=""/>
        <p:cNvGrpSpPr/>
        <p:nvPr/>
      </p:nvGrpSpPr>
      <p:grpSpPr>
        <a:xfrm>
          <a:off x="0" y="0"/>
          <a:ext cx="0" cy="0"/>
          <a:chOff x="0" y="0"/>
          <a:chExt cx="0" cy="0"/>
        </a:xfrm>
      </p:grpSpPr>
      <p:sp>
        <p:nvSpPr>
          <p:cNvPr id="2" name="Text 0"/>
          <p:cNvSpPr/>
          <p:nvPr/>
        </p:nvSpPr>
        <p:spPr>
          <a:xfrm>
            <a:off x="640080" y="1691640"/>
            <a:ext cx="10972800" cy="73152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One trace. One booking.</a:t>
            </a:r>
            <a:endParaRPr lang="en-US" sz="4000" dirty="0"/>
          </a:p>
        </p:txBody>
      </p:sp>
      <p:sp>
        <p:nvSpPr>
          <p:cNvPr id="3" name="Text 1"/>
          <p:cNvSpPr/>
          <p:nvPr/>
        </p:nvSpPr>
        <p:spPr>
          <a:xfrm>
            <a:off x="640080" y="2560320"/>
            <a:ext cx="10058400" cy="731520"/>
          </a:xfrm>
          <a:prstGeom prst="rect">
            <a:avLst/>
          </a:prstGeom>
          <a:noFill/>
          <a:ln/>
        </p:spPr>
        <p:txBody>
          <a:bodyPr wrap="square" lIns="0" tIns="0" rIns="0" bIns="0" rtlCol="0" anchor="t"/>
          <a:lstStyle/>
          <a:p>
            <a:pPr algn="l" indent="0" marL="0">
              <a:buNone/>
            </a:pPr>
            <a:r>
              <a:rPr lang="en-US" sz="2000" dirty="0">
                <a:solidFill>
                  <a:srgbClr val="D5E0EA"/>
                </a:solidFill>
                <a:latin typeface="Calibri" pitchFamily="34" charset="0"/>
                <a:ea typeface="Calibri" pitchFamily="34" charset="-122"/>
                <a:cs typeface="Calibri" pitchFamily="34" charset="-120"/>
              </a:rPr>
              <a:t>The week rises by the cash that was booked, not by the score that chose the row.</a:t>
            </a:r>
            <a:endParaRPr lang="en-US" sz="2000" dirty="0"/>
          </a:p>
        </p:txBody>
      </p:sp>
      <p:sp>
        <p:nvSpPr>
          <p:cNvPr id="4" name="Shape 2"/>
          <p:cNvSpPr/>
          <p:nvPr/>
        </p:nvSpPr>
        <p:spPr>
          <a:xfrm>
            <a:off x="640080" y="3794760"/>
            <a:ext cx="3566160" cy="1737360"/>
          </a:xfrm>
          <a:prstGeom prst="roundRect">
            <a:avLst>
              <a:gd name="adj" fmla="val 4211"/>
            </a:avLst>
          </a:prstGeom>
          <a:solidFill>
            <a:srgbClr val="1A3048"/>
          </a:solidFill>
          <a:ln/>
          <a:effectLst>
            <a:outerShdw sx="100000" sy="100000" kx="0" ky="0" algn="bl" rotWithShape="0" blurRad="152400" dist="38100" dir="5400000">
              <a:srgbClr val="0F1C2E">
                <a:alpha val="10000"/>
              </a:srgbClr>
            </a:outerShdw>
          </a:effectLst>
        </p:spPr>
      </p:sp>
      <p:sp>
        <p:nvSpPr>
          <p:cNvPr id="5" name="Text 3"/>
          <p:cNvSpPr/>
          <p:nvPr/>
        </p:nvSpPr>
        <p:spPr>
          <a:xfrm>
            <a:off x="841248" y="3977640"/>
            <a:ext cx="3200400" cy="365760"/>
          </a:xfrm>
          <a:prstGeom prst="rect">
            <a:avLst/>
          </a:prstGeom>
          <a:noFill/>
          <a:ln/>
        </p:spPr>
        <p:txBody>
          <a:bodyPr wrap="square" lIns="0" tIns="0" rIns="0" bIns="0" rtlCol="0" anchor="t"/>
          <a:lstStyle/>
          <a:p>
            <a:pPr algn="l" indent="0" marL="0">
              <a:buNone/>
            </a:pPr>
            <a:r>
              <a:rPr lang="en-US" sz="1600" b="1" dirty="0">
                <a:solidFill>
                  <a:srgbClr val="F3D48A"/>
                </a:solidFill>
                <a:latin typeface="Calibri" pitchFamily="34" charset="0"/>
                <a:ea typeface="Calibri" pitchFamily="34" charset="-122"/>
                <a:cs typeface="Calibri" pitchFamily="34" charset="-120"/>
              </a:rPr>
              <a:t>Ask</a:t>
            </a:r>
            <a:endParaRPr lang="en-US" sz="1600" dirty="0"/>
          </a:p>
        </p:txBody>
      </p:sp>
      <p:sp>
        <p:nvSpPr>
          <p:cNvPr id="6" name="Text 4"/>
          <p:cNvSpPr/>
          <p:nvPr/>
        </p:nvSpPr>
        <p:spPr>
          <a:xfrm>
            <a:off x="841248" y="4434840"/>
            <a:ext cx="3200400" cy="822960"/>
          </a:xfrm>
          <a:prstGeom prst="rect">
            <a:avLst/>
          </a:prstGeom>
          <a:noFill/>
          <a:ln/>
        </p:spPr>
        <p:txBody>
          <a:bodyPr wrap="square" lIns="0" tIns="0" rIns="0" bIns="0" rtlCol="0" anchor="t"/>
          <a:lstStyle/>
          <a:p>
            <a:pPr algn="l" indent="0" marL="0">
              <a:buNone/>
            </a:pPr>
            <a:r>
              <a:rPr lang="en-US" sz="1500" dirty="0">
                <a:solidFill>
                  <a:srgbClr val="FFFFFF"/>
                </a:solidFill>
                <a:latin typeface="Calibri" pitchFamily="34" charset="0"/>
                <a:ea typeface="Calibri" pitchFamily="34" charset="-122"/>
                <a:cs typeface="Calibri" pitchFamily="34" charset="-120"/>
              </a:rPr>
              <a:t>Five roles, and the shopper is the only one that ranks.</a:t>
            </a:r>
            <a:endParaRPr lang="en-US" sz="1500" dirty="0"/>
          </a:p>
        </p:txBody>
      </p:sp>
      <p:sp>
        <p:nvSpPr>
          <p:cNvPr id="7" name="Shape 5"/>
          <p:cNvSpPr/>
          <p:nvPr/>
        </p:nvSpPr>
        <p:spPr>
          <a:xfrm>
            <a:off x="4389120" y="3794760"/>
            <a:ext cx="3566160" cy="1737360"/>
          </a:xfrm>
          <a:prstGeom prst="roundRect">
            <a:avLst>
              <a:gd name="adj" fmla="val 4211"/>
            </a:avLst>
          </a:prstGeom>
          <a:solidFill>
            <a:srgbClr val="1A3048"/>
          </a:solidFill>
          <a:ln/>
          <a:effectLst>
            <a:outerShdw sx="100000" sy="100000" kx="0" ky="0" algn="bl" rotWithShape="0" blurRad="152400" dist="38100" dir="5400000">
              <a:srgbClr val="0F1C2E">
                <a:alpha val="10000"/>
              </a:srgbClr>
            </a:outerShdw>
          </a:effectLst>
        </p:spPr>
      </p:sp>
      <p:sp>
        <p:nvSpPr>
          <p:cNvPr id="8" name="Text 6"/>
          <p:cNvSpPr/>
          <p:nvPr/>
        </p:nvSpPr>
        <p:spPr>
          <a:xfrm>
            <a:off x="4590288" y="3977640"/>
            <a:ext cx="3200400" cy="365760"/>
          </a:xfrm>
          <a:prstGeom prst="rect">
            <a:avLst/>
          </a:prstGeom>
          <a:noFill/>
          <a:ln/>
        </p:spPr>
        <p:txBody>
          <a:bodyPr wrap="square" lIns="0" tIns="0" rIns="0" bIns="0" rtlCol="0" anchor="t"/>
          <a:lstStyle/>
          <a:p>
            <a:pPr algn="l" indent="0" marL="0">
              <a:buNone/>
            </a:pPr>
            <a:r>
              <a:rPr lang="en-US" sz="1600" b="1" dirty="0">
                <a:solidFill>
                  <a:srgbClr val="F3D48A"/>
                </a:solidFill>
                <a:latin typeface="Calibri" pitchFamily="34" charset="0"/>
                <a:ea typeface="Calibri" pitchFamily="34" charset="-122"/>
                <a:cs typeface="Calibri" pitchFamily="34" charset="-120"/>
              </a:rPr>
              <a:t>Pass the gate</a:t>
            </a:r>
            <a:endParaRPr lang="en-US" sz="1600" dirty="0"/>
          </a:p>
        </p:txBody>
      </p:sp>
      <p:sp>
        <p:nvSpPr>
          <p:cNvPr id="9" name="Text 7"/>
          <p:cNvSpPr/>
          <p:nvPr/>
        </p:nvSpPr>
        <p:spPr>
          <a:xfrm>
            <a:off x="4590288" y="4434840"/>
            <a:ext cx="3200400" cy="822960"/>
          </a:xfrm>
          <a:prstGeom prst="rect">
            <a:avLst/>
          </a:prstGeom>
          <a:noFill/>
          <a:ln/>
        </p:spPr>
        <p:txBody>
          <a:bodyPr wrap="square" lIns="0" tIns="0" rIns="0" bIns="0" rtlCol="0" anchor="t"/>
          <a:lstStyle/>
          <a:p>
            <a:pPr algn="l" indent="0" marL="0">
              <a:buNone/>
            </a:pPr>
            <a:r>
              <a:rPr lang="en-US" sz="1500" dirty="0">
                <a:solidFill>
                  <a:srgbClr val="FFFFFF"/>
                </a:solidFill>
                <a:latin typeface="Calibri" pitchFamily="34" charset="0"/>
                <a:ea typeface="Calibri" pitchFamily="34" charset="-122"/>
                <a:cs typeface="Calibri" pitchFamily="34" charset="-120"/>
              </a:rPr>
              <a:t>A fail has a reason. The next role is not skipped.</a:t>
            </a:r>
            <a:endParaRPr lang="en-US" sz="1500" dirty="0"/>
          </a:p>
        </p:txBody>
      </p:sp>
      <p:sp>
        <p:nvSpPr>
          <p:cNvPr id="10" name="Shape 8"/>
          <p:cNvSpPr/>
          <p:nvPr/>
        </p:nvSpPr>
        <p:spPr>
          <a:xfrm>
            <a:off x="8138160" y="3794760"/>
            <a:ext cx="3566160" cy="1737360"/>
          </a:xfrm>
          <a:prstGeom prst="roundRect">
            <a:avLst>
              <a:gd name="adj" fmla="val 4211"/>
            </a:avLst>
          </a:prstGeom>
          <a:solidFill>
            <a:srgbClr val="1A3048"/>
          </a:solidFill>
          <a:ln/>
          <a:effectLst>
            <a:outerShdw sx="100000" sy="100000" kx="0" ky="0" algn="bl" rotWithShape="0" blurRad="152400" dist="38100" dir="5400000">
              <a:srgbClr val="0F1C2E">
                <a:alpha val="10000"/>
              </a:srgbClr>
            </a:outerShdw>
          </a:effectLst>
        </p:spPr>
      </p:sp>
      <p:sp>
        <p:nvSpPr>
          <p:cNvPr id="11" name="Text 9"/>
          <p:cNvSpPr/>
          <p:nvPr/>
        </p:nvSpPr>
        <p:spPr>
          <a:xfrm>
            <a:off x="8339328" y="3977640"/>
            <a:ext cx="3200400" cy="365760"/>
          </a:xfrm>
          <a:prstGeom prst="rect">
            <a:avLst/>
          </a:prstGeom>
          <a:noFill/>
          <a:ln/>
        </p:spPr>
        <p:txBody>
          <a:bodyPr wrap="square" lIns="0" tIns="0" rIns="0" bIns="0" rtlCol="0" anchor="t"/>
          <a:lstStyle/>
          <a:p>
            <a:pPr algn="l" indent="0" marL="0">
              <a:buNone/>
            </a:pPr>
            <a:r>
              <a:rPr lang="en-US" sz="1600" b="1" dirty="0">
                <a:solidFill>
                  <a:srgbClr val="F3D48A"/>
                </a:solidFill>
                <a:latin typeface="Calibri" pitchFamily="34" charset="0"/>
                <a:ea typeface="Calibri" pitchFamily="34" charset="-122"/>
                <a:cs typeface="Calibri" pitchFamily="34" charset="-120"/>
              </a:rPr>
              <a:t>Book once</a:t>
            </a:r>
            <a:endParaRPr lang="en-US" sz="1600" dirty="0"/>
          </a:p>
        </p:txBody>
      </p:sp>
      <p:sp>
        <p:nvSpPr>
          <p:cNvPr id="12" name="Text 10"/>
          <p:cNvSpPr/>
          <p:nvPr/>
        </p:nvSpPr>
        <p:spPr>
          <a:xfrm>
            <a:off x="8339328" y="4434840"/>
            <a:ext cx="3200400" cy="822960"/>
          </a:xfrm>
          <a:prstGeom prst="rect">
            <a:avLst/>
          </a:prstGeom>
          <a:noFill/>
          <a:ln/>
        </p:spPr>
        <p:txBody>
          <a:bodyPr wrap="square" lIns="0" tIns="0" rIns="0" bIns="0" rtlCol="0" anchor="t"/>
          <a:lstStyle/>
          <a:p>
            <a:pPr algn="l" indent="0" marL="0">
              <a:buNone/>
            </a:pPr>
            <a:r>
              <a:rPr lang="en-US" sz="1500" dirty="0">
                <a:solidFill>
                  <a:srgbClr val="FFFFFF"/>
                </a:solidFill>
                <a:latin typeface="Calibri" pitchFamily="34" charset="0"/>
                <a:ea typeface="Calibri" pitchFamily="34" charset="-122"/>
                <a:cs typeface="Calibri" pitchFamily="34" charset="-120"/>
              </a:rPr>
              <a:t>The quote’s tender, the quote’s cash, the account’s vault id.</a:t>
            </a:r>
            <a:endParaRPr lang="en-US" sz="1500" dirty="0"/>
          </a:p>
        </p:txBody>
      </p:sp>
      <p:sp>
        <p:nvSpPr>
          <p:cNvPr id="14" name="Text 11"/>
          <p:cNvSpPr/>
          <p:nvPr/>
        </p:nvSpPr>
        <p:spPr>
          <a:xfrm>
            <a:off x="502920" y="6492240"/>
            <a:ext cx="2743200" cy="201168"/>
          </a:xfrm>
          <a:prstGeom prst="rect">
            <a:avLst/>
          </a:prstGeom>
          <a:noFill/>
          <a:ln/>
        </p:spPr>
        <p:txBody>
          <a:bodyPr wrap="square" lIns="0" tIns="0" rIns="0" bIns="0" rtlCol="0" anchor="ctr"/>
          <a:lstStyle/>
          <a:p>
            <a:pPr indent="0" marL="0">
              <a:buNone/>
            </a:pPr>
            <a:r>
              <a:rPr lang="en-US" sz="1200" dirty="0">
                <a:solidFill>
                  <a:srgbClr val="8EA0B3"/>
                </a:solidFill>
                <a:latin typeface="Calibri" pitchFamily="34" charset="0"/>
                <a:ea typeface="Calibri" pitchFamily="34" charset="-122"/>
                <a:cs typeface="Calibri" pitchFamily="34" charset="-120"/>
              </a:rPr>
              <a:t>Scout</a:t>
            </a:r>
            <a:endParaRPr lang="en-US" sz="1200" dirty="0"/>
          </a:p>
        </p:txBody>
      </p:sp>
      <p:sp>
        <p:nvSpPr>
          <p:cNvPr id="15" name="Text 12"/>
          <p:cNvSpPr/>
          <p:nvPr/>
        </p:nvSpPr>
        <p:spPr>
          <a:xfrm>
            <a:off x="10424160" y="6492240"/>
            <a:ext cx="1234440" cy="201168"/>
          </a:xfrm>
          <a:prstGeom prst="rect">
            <a:avLst/>
          </a:prstGeom>
          <a:noFill/>
          <a:ln/>
        </p:spPr>
        <p:txBody>
          <a:bodyPr wrap="square" lIns="0" tIns="0" rIns="0" bIns="0" rtlCol="0" anchor="ctr"/>
          <a:lstStyle/>
          <a:p>
            <a:pPr algn="r" indent="0" marL="0">
              <a:buNone/>
            </a:pPr>
            <a:r>
              <a:rPr lang="en-US" sz="1200" dirty="0">
                <a:solidFill>
                  <a:srgbClr val="8EA0B3"/>
                </a:solidFill>
                <a:latin typeface="Calibri" pitchFamily="34" charset="0"/>
                <a:ea typeface="Calibri" pitchFamily="34" charset="-122"/>
                <a:cs typeface="Calibri" pitchFamily="34" charset="-120"/>
              </a:rPr>
              <a:t>34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Scout — how a purchase is allowed</dc:title>
  <dc:subject>Hackathon walkthrough of roles, gates, flows, and metrics</dc:subject>
  <dc:creator>Scout</dc:creator>
  <cp:lastModifiedBy>Scout</cp:lastModifiedBy>
  <cp:revision>1</cp:revision>
  <dcterms:created xsi:type="dcterms:W3CDTF">2026-10-03T15:49:18Z</dcterms:created>
  <dcterms:modified xsi:type="dcterms:W3CDTF">2026-10-03T15:49:18Z</dcterms:modified>
</cp:coreProperties>
</file>